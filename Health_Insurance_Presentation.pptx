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3" r:id="rId3"/>
    <p:sldId id="262" r:id="rId4"/>
    <p:sldId id="264" r:id="rId5"/>
    <p:sldId id="265" r:id="rId6"/>
    <p:sldId id="274" r:id="rId7"/>
    <p:sldId id="268" r:id="rId8"/>
    <p:sldId id="266" r:id="rId9"/>
    <p:sldId id="267" r:id="rId10"/>
    <p:sldId id="270" r:id="rId11"/>
    <p:sldId id="269" r:id="rId12"/>
    <p:sldId id="272" r:id="rId13"/>
    <p:sldId id="273" r:id="rId14"/>
    <p:sldId id="261" r:id="rId15"/>
    <p:sldId id="27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Rg st="1" end="15"/>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912" autoAdjust="0"/>
    <p:restoredTop sz="94660"/>
  </p:normalViewPr>
  <p:slideViewPr>
    <p:cSldViewPr snapToGrid="0" snapToObjects="1">
      <p:cViewPr varScale="1">
        <p:scale>
          <a:sx n="67" d="100"/>
          <a:sy n="67" d="100"/>
        </p:scale>
        <p:origin x="-1242"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18A482-DA68-4CAB-B322-D1D5A63D2929}" type="datetimeFigureOut">
              <a:rPr lang="en-IN" smtClean="0"/>
              <a:t>25-08-2025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E57391-C61D-4296-933C-D4D002A38E73}" type="slidenum">
              <a:rPr lang="en-IN" smtClean="0"/>
              <a:t>‹#›</a:t>
            </a:fld>
            <a:endParaRPr lang="en-IN"/>
          </a:p>
        </p:txBody>
      </p:sp>
    </p:spTree>
    <p:extLst>
      <p:ext uri="{BB962C8B-B14F-4D97-AF65-F5344CB8AC3E}">
        <p14:creationId xmlns:p14="http://schemas.microsoft.com/office/powerpoint/2010/main" val="727108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E57391-C61D-4296-933C-D4D002A38E73}" type="slidenum">
              <a:rPr lang="en-IN" smtClean="0"/>
              <a:t>13</a:t>
            </a:fld>
            <a:endParaRPr lang="en-IN"/>
          </a:p>
        </p:txBody>
      </p:sp>
    </p:spTree>
    <p:extLst>
      <p:ext uri="{BB962C8B-B14F-4D97-AF65-F5344CB8AC3E}">
        <p14:creationId xmlns:p14="http://schemas.microsoft.com/office/powerpoint/2010/main" val="3247152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25/08/2025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transition spd="slow" advTm="4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transition spd="slow" advTm="4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transition spd="slow" advTm="4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25/08/2025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transition spd="slow" advTm="4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25/08/2025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transition spd="slow" advTm="4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25/08/2025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transition spd="slow" advTm="4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25/08/2025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transition spd="slow" advTm="4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transition spd="slow" advTm="4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transition spd="slow" advTm="4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transition spd="slow" advTm="4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25/08/2025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transition spd="slow" advTm="4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25/08/2025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Tm="4000">
    <p:fade/>
  </p:transition>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00225"/>
            <a:ext cx="7772400" cy="1470025"/>
          </a:xfrm>
        </p:spPr>
        <p:txBody>
          <a:bodyPr/>
          <a:lstStyle/>
          <a:p>
            <a:r>
              <a:rPr b="1" dirty="0"/>
              <a:t>Health Insurance: Your Shield Against Medical Emergencies</a:t>
            </a:r>
          </a:p>
        </p:txBody>
      </p:sp>
      <p:sp>
        <p:nvSpPr>
          <p:cNvPr id="3" name="Subtitle 2"/>
          <p:cNvSpPr>
            <a:spLocks noGrp="1"/>
          </p:cNvSpPr>
          <p:nvPr>
            <p:ph type="subTitle" idx="1"/>
          </p:nvPr>
        </p:nvSpPr>
        <p:spPr>
          <a:xfrm>
            <a:off x="1371600" y="3594100"/>
            <a:ext cx="6400800" cy="1752600"/>
          </a:xfrm>
        </p:spPr>
        <p:txBody>
          <a:bodyPr>
            <a:normAutofit fontScale="92500" lnSpcReduction="20000"/>
          </a:bodyPr>
          <a:lstStyle/>
          <a:p>
            <a:r>
              <a:rPr b="1" dirty="0"/>
              <a:t>An Overview of Health Insurance, Types, Claim Process &amp; Role of TPA</a:t>
            </a:r>
          </a:p>
          <a:p>
            <a:endParaRPr b="1" dirty="0"/>
          </a:p>
          <a:p>
            <a:r>
              <a:rPr b="1" dirty="0"/>
              <a:t>Presented by: </a:t>
            </a:r>
            <a:r>
              <a:rPr lang="en-US" b="1" dirty="0"/>
              <a:t>Kaveri Aladi</a:t>
            </a:r>
            <a:endParaRPr b="1" dirty="0"/>
          </a:p>
        </p:txBody>
      </p:sp>
    </p:spTree>
  </p:cSld>
  <p:clrMapOvr>
    <a:masterClrMapping/>
  </p:clrMapOvr>
  <p:transition spd="slow" advTm="40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591908" y="2690843"/>
            <a:ext cx="1846273" cy="1940911"/>
          </a:xfrm>
          <a:custGeom>
            <a:avLst/>
            <a:gdLst/>
            <a:ahLst/>
            <a:cxnLst/>
            <a:rect l="0" t="0" r="0" b="0"/>
            <a:pathLst>
              <a:path w="1846273" h="1940911">
                <a:moveTo>
                  <a:pt x="1713827" y="1178826"/>
                </a:moveTo>
                <a:cubicBezTo>
                  <a:pt x="1713827" y="1178826"/>
                  <a:pt x="1662214" y="1162031"/>
                  <a:pt x="1601320" y="1142244"/>
                </a:cubicBezTo>
                <a:cubicBezTo>
                  <a:pt x="1553158" y="1126599"/>
                  <a:pt x="1499167" y="1109037"/>
                  <a:pt x="1460208" y="1096383"/>
                </a:cubicBezTo>
                <a:cubicBezTo>
                  <a:pt x="1469641" y="1055890"/>
                  <a:pt x="1474856" y="1013786"/>
                  <a:pt x="1474856" y="970455"/>
                </a:cubicBezTo>
                <a:cubicBezTo>
                  <a:pt x="1474856" y="927124"/>
                  <a:pt x="1469718" y="885021"/>
                  <a:pt x="1460208" y="844528"/>
                </a:cubicBezTo>
                <a:lnTo>
                  <a:pt x="1713827" y="762084"/>
                </a:lnTo>
                <a:lnTo>
                  <a:pt x="1733153" y="821597"/>
                </a:lnTo>
                <a:lnTo>
                  <a:pt x="1846273" y="670514"/>
                </a:lnTo>
                <a:lnTo>
                  <a:pt x="1665895" y="614759"/>
                </a:lnTo>
                <a:lnTo>
                  <a:pt x="1685221" y="674272"/>
                </a:lnTo>
                <a:cubicBezTo>
                  <a:pt x="1685221" y="674272"/>
                  <a:pt x="1633608" y="691068"/>
                  <a:pt x="1572714" y="710854"/>
                </a:cubicBezTo>
                <a:cubicBezTo>
                  <a:pt x="1524629" y="726499"/>
                  <a:pt x="1470715" y="743985"/>
                  <a:pt x="1431755" y="756639"/>
                </a:cubicBezTo>
                <a:cubicBezTo>
                  <a:pt x="1398548" y="677723"/>
                  <a:pt x="1347394" y="608241"/>
                  <a:pt x="1283510" y="553023"/>
                </a:cubicBezTo>
                <a:lnTo>
                  <a:pt x="1440345" y="337213"/>
                </a:lnTo>
                <a:lnTo>
                  <a:pt x="1490961" y="374024"/>
                </a:lnTo>
                <a:lnTo>
                  <a:pt x="1493645" y="185286"/>
                </a:lnTo>
                <a:lnTo>
                  <a:pt x="1314954" y="246180"/>
                </a:lnTo>
                <a:lnTo>
                  <a:pt x="1365570" y="282992"/>
                </a:lnTo>
                <a:cubicBezTo>
                  <a:pt x="1365570" y="282992"/>
                  <a:pt x="1333667" y="326859"/>
                  <a:pt x="1296011" y="378703"/>
                </a:cubicBezTo>
                <a:cubicBezTo>
                  <a:pt x="1266255" y="419656"/>
                  <a:pt x="1232971" y="465518"/>
                  <a:pt x="1208889" y="498648"/>
                </a:cubicBezTo>
                <a:cubicBezTo>
                  <a:pt x="1137950" y="455624"/>
                  <a:pt x="1056503" y="428245"/>
                  <a:pt x="969305" y="421036"/>
                </a:cubicBezTo>
                <a:lnTo>
                  <a:pt x="969305" y="154303"/>
                </a:lnTo>
                <a:lnTo>
                  <a:pt x="1031885" y="154303"/>
                </a:lnTo>
                <a:lnTo>
                  <a:pt x="923136" y="0"/>
                </a:lnTo>
                <a:lnTo>
                  <a:pt x="814388" y="154303"/>
                </a:lnTo>
                <a:lnTo>
                  <a:pt x="876968" y="154303"/>
                </a:lnTo>
                <a:lnTo>
                  <a:pt x="876968" y="421036"/>
                </a:lnTo>
                <a:cubicBezTo>
                  <a:pt x="789770" y="428245"/>
                  <a:pt x="708323" y="455624"/>
                  <a:pt x="637383" y="498648"/>
                </a:cubicBezTo>
                <a:lnTo>
                  <a:pt x="480703" y="282992"/>
                </a:lnTo>
                <a:lnTo>
                  <a:pt x="531319" y="246180"/>
                </a:lnTo>
                <a:lnTo>
                  <a:pt x="352628" y="185286"/>
                </a:lnTo>
                <a:lnTo>
                  <a:pt x="355312" y="374024"/>
                </a:lnTo>
                <a:lnTo>
                  <a:pt x="405928" y="337213"/>
                </a:lnTo>
                <a:cubicBezTo>
                  <a:pt x="405928" y="337213"/>
                  <a:pt x="437832" y="381080"/>
                  <a:pt x="475488" y="432924"/>
                </a:cubicBezTo>
                <a:cubicBezTo>
                  <a:pt x="505321" y="473954"/>
                  <a:pt x="538681" y="519892"/>
                  <a:pt x="562763" y="553023"/>
                </a:cubicBezTo>
                <a:cubicBezTo>
                  <a:pt x="498878" y="608241"/>
                  <a:pt x="447725" y="677647"/>
                  <a:pt x="414518" y="756639"/>
                </a:cubicBezTo>
                <a:lnTo>
                  <a:pt x="161052" y="674272"/>
                </a:lnTo>
                <a:lnTo>
                  <a:pt x="180378" y="614759"/>
                </a:lnTo>
                <a:lnTo>
                  <a:pt x="0" y="670514"/>
                </a:lnTo>
                <a:lnTo>
                  <a:pt x="113120" y="821597"/>
                </a:lnTo>
                <a:lnTo>
                  <a:pt x="132446" y="762084"/>
                </a:lnTo>
                <a:cubicBezTo>
                  <a:pt x="132446" y="762084"/>
                  <a:pt x="184059" y="778880"/>
                  <a:pt x="244953" y="798666"/>
                </a:cubicBezTo>
                <a:cubicBezTo>
                  <a:pt x="293115" y="814311"/>
                  <a:pt x="347106" y="831873"/>
                  <a:pt x="386065" y="844528"/>
                </a:cubicBezTo>
                <a:cubicBezTo>
                  <a:pt x="376632" y="885021"/>
                  <a:pt x="371417" y="927124"/>
                  <a:pt x="371417" y="970455"/>
                </a:cubicBezTo>
                <a:cubicBezTo>
                  <a:pt x="371417" y="1013786"/>
                  <a:pt x="376555" y="1055890"/>
                  <a:pt x="386065" y="1096383"/>
                </a:cubicBezTo>
                <a:lnTo>
                  <a:pt x="132446" y="1178826"/>
                </a:lnTo>
                <a:lnTo>
                  <a:pt x="113120" y="1119314"/>
                </a:lnTo>
                <a:lnTo>
                  <a:pt x="0" y="1270396"/>
                </a:lnTo>
                <a:lnTo>
                  <a:pt x="180378" y="1326151"/>
                </a:lnTo>
                <a:lnTo>
                  <a:pt x="161052" y="1266638"/>
                </a:lnTo>
                <a:cubicBezTo>
                  <a:pt x="161052" y="1266638"/>
                  <a:pt x="212665" y="1249843"/>
                  <a:pt x="273558" y="1230056"/>
                </a:cubicBezTo>
                <a:cubicBezTo>
                  <a:pt x="321644" y="1214411"/>
                  <a:pt x="375558" y="1196926"/>
                  <a:pt x="414518" y="1184271"/>
                </a:cubicBezTo>
                <a:cubicBezTo>
                  <a:pt x="447725" y="1263187"/>
                  <a:pt x="498878" y="1332670"/>
                  <a:pt x="562763" y="1387888"/>
                </a:cubicBezTo>
                <a:lnTo>
                  <a:pt x="405928" y="1603698"/>
                </a:lnTo>
                <a:lnTo>
                  <a:pt x="355312" y="1566886"/>
                </a:lnTo>
                <a:lnTo>
                  <a:pt x="352628" y="1755624"/>
                </a:lnTo>
                <a:lnTo>
                  <a:pt x="531319" y="1694731"/>
                </a:lnTo>
                <a:lnTo>
                  <a:pt x="480703" y="1657919"/>
                </a:lnTo>
                <a:cubicBezTo>
                  <a:pt x="480703" y="1657919"/>
                  <a:pt x="512606" y="1614051"/>
                  <a:pt x="550262" y="1562208"/>
                </a:cubicBezTo>
                <a:cubicBezTo>
                  <a:pt x="580018" y="1521254"/>
                  <a:pt x="613302" y="1475393"/>
                  <a:pt x="637383" y="1442262"/>
                </a:cubicBezTo>
                <a:cubicBezTo>
                  <a:pt x="708323" y="1485286"/>
                  <a:pt x="789770" y="1512665"/>
                  <a:pt x="876968" y="1519874"/>
                </a:cubicBezTo>
                <a:lnTo>
                  <a:pt x="876968" y="1786607"/>
                </a:lnTo>
                <a:lnTo>
                  <a:pt x="814388" y="1786607"/>
                </a:lnTo>
                <a:lnTo>
                  <a:pt x="923136" y="1940911"/>
                </a:lnTo>
                <a:lnTo>
                  <a:pt x="1031885" y="1786607"/>
                </a:lnTo>
                <a:lnTo>
                  <a:pt x="969305" y="1786607"/>
                </a:lnTo>
                <a:lnTo>
                  <a:pt x="969305" y="1519874"/>
                </a:lnTo>
                <a:cubicBezTo>
                  <a:pt x="1056503" y="1512665"/>
                  <a:pt x="1137950" y="1485286"/>
                  <a:pt x="1208889" y="1442262"/>
                </a:cubicBezTo>
                <a:lnTo>
                  <a:pt x="1365570" y="1657919"/>
                </a:lnTo>
                <a:lnTo>
                  <a:pt x="1314954" y="1694731"/>
                </a:lnTo>
                <a:lnTo>
                  <a:pt x="1493645" y="1755624"/>
                </a:lnTo>
                <a:lnTo>
                  <a:pt x="1490961" y="1566886"/>
                </a:lnTo>
                <a:lnTo>
                  <a:pt x="1440345" y="1603698"/>
                </a:lnTo>
                <a:cubicBezTo>
                  <a:pt x="1440345" y="1603698"/>
                  <a:pt x="1408441" y="1559830"/>
                  <a:pt x="1370785" y="1507987"/>
                </a:cubicBezTo>
                <a:cubicBezTo>
                  <a:pt x="1340952" y="1466957"/>
                  <a:pt x="1307592" y="1421018"/>
                  <a:pt x="1283510" y="1387888"/>
                </a:cubicBezTo>
                <a:cubicBezTo>
                  <a:pt x="1347394" y="1332670"/>
                  <a:pt x="1398548" y="1263264"/>
                  <a:pt x="1431755" y="1184271"/>
                </a:cubicBezTo>
                <a:lnTo>
                  <a:pt x="1685221" y="1266638"/>
                </a:lnTo>
                <a:lnTo>
                  <a:pt x="1665895" y="1326151"/>
                </a:lnTo>
                <a:lnTo>
                  <a:pt x="1846273" y="1270396"/>
                </a:lnTo>
                <a:lnTo>
                  <a:pt x="1733153" y="1119314"/>
                </a:lnTo>
                <a:lnTo>
                  <a:pt x="1713827" y="1178826"/>
                </a:lnTo>
              </a:path>
            </a:pathLst>
          </a:custGeom>
          <a:solidFill>
            <a:srgbClr val="666666"/>
          </a:solidFill>
          <a:ln>
            <a:noFill/>
          </a:ln>
        </p:spPr>
        <p:txBody>
          <a:bodyPr rtlCol="0" anchor="ctr"/>
          <a:lstStyle/>
          <a:p>
            <a:pPr algn="ctr"/>
            <a:endParaRPr sz="1000"/>
          </a:p>
        </p:txBody>
      </p:sp>
      <p:sp>
        <p:nvSpPr>
          <p:cNvPr id="3" name="Rounded Rectangle 2"/>
          <p:cNvSpPr/>
          <p:nvPr/>
        </p:nvSpPr>
        <p:spPr>
          <a:xfrm>
            <a:off x="3591908" y="2690843"/>
            <a:ext cx="1846273" cy="1940911"/>
          </a:xfrm>
          <a:custGeom>
            <a:avLst/>
            <a:gdLst/>
            <a:ahLst/>
            <a:cxnLst/>
            <a:rect l="0" t="0" r="0" b="0"/>
            <a:pathLst>
              <a:path w="1846273" h="1940911">
                <a:moveTo>
                  <a:pt x="1713827" y="1178826"/>
                </a:moveTo>
                <a:cubicBezTo>
                  <a:pt x="1713827" y="1178826"/>
                  <a:pt x="1662214" y="1162031"/>
                  <a:pt x="1601320" y="1142244"/>
                </a:cubicBezTo>
                <a:cubicBezTo>
                  <a:pt x="1553158" y="1126599"/>
                  <a:pt x="1499167" y="1109037"/>
                  <a:pt x="1460208" y="1096383"/>
                </a:cubicBezTo>
                <a:cubicBezTo>
                  <a:pt x="1469641" y="1055890"/>
                  <a:pt x="1474856" y="1013786"/>
                  <a:pt x="1474856" y="970455"/>
                </a:cubicBezTo>
                <a:cubicBezTo>
                  <a:pt x="1474856" y="927124"/>
                  <a:pt x="1469718" y="885021"/>
                  <a:pt x="1460208" y="844528"/>
                </a:cubicBezTo>
                <a:lnTo>
                  <a:pt x="1713827" y="762084"/>
                </a:lnTo>
                <a:lnTo>
                  <a:pt x="1733153" y="821597"/>
                </a:lnTo>
                <a:lnTo>
                  <a:pt x="1846273" y="670514"/>
                </a:lnTo>
                <a:lnTo>
                  <a:pt x="1665895" y="614759"/>
                </a:lnTo>
                <a:lnTo>
                  <a:pt x="1685221" y="674272"/>
                </a:lnTo>
                <a:cubicBezTo>
                  <a:pt x="1685221" y="674272"/>
                  <a:pt x="1633608" y="691068"/>
                  <a:pt x="1572714" y="710854"/>
                </a:cubicBezTo>
                <a:cubicBezTo>
                  <a:pt x="1524629" y="726499"/>
                  <a:pt x="1470715" y="743985"/>
                  <a:pt x="1431755" y="756639"/>
                </a:cubicBezTo>
                <a:cubicBezTo>
                  <a:pt x="1398548" y="677723"/>
                  <a:pt x="1347394" y="608241"/>
                  <a:pt x="1283510" y="553023"/>
                </a:cubicBezTo>
                <a:lnTo>
                  <a:pt x="1440345" y="337213"/>
                </a:lnTo>
                <a:lnTo>
                  <a:pt x="1490961" y="374024"/>
                </a:lnTo>
                <a:lnTo>
                  <a:pt x="1493645" y="185286"/>
                </a:lnTo>
                <a:lnTo>
                  <a:pt x="1314954" y="246180"/>
                </a:lnTo>
                <a:lnTo>
                  <a:pt x="1365570" y="282992"/>
                </a:lnTo>
                <a:cubicBezTo>
                  <a:pt x="1365570" y="282992"/>
                  <a:pt x="1333667" y="326859"/>
                  <a:pt x="1296011" y="378703"/>
                </a:cubicBezTo>
                <a:cubicBezTo>
                  <a:pt x="1266255" y="419656"/>
                  <a:pt x="1232971" y="465518"/>
                  <a:pt x="1208889" y="498648"/>
                </a:cubicBezTo>
                <a:cubicBezTo>
                  <a:pt x="1137950" y="455624"/>
                  <a:pt x="1056503" y="428245"/>
                  <a:pt x="969305" y="421036"/>
                </a:cubicBezTo>
                <a:lnTo>
                  <a:pt x="969305" y="154303"/>
                </a:lnTo>
                <a:lnTo>
                  <a:pt x="1031885" y="154303"/>
                </a:lnTo>
                <a:lnTo>
                  <a:pt x="923136" y="0"/>
                </a:lnTo>
                <a:lnTo>
                  <a:pt x="814388" y="154303"/>
                </a:lnTo>
                <a:lnTo>
                  <a:pt x="876968" y="154303"/>
                </a:lnTo>
                <a:lnTo>
                  <a:pt x="876968" y="421036"/>
                </a:lnTo>
                <a:cubicBezTo>
                  <a:pt x="789770" y="428245"/>
                  <a:pt x="708323" y="455624"/>
                  <a:pt x="637383" y="498648"/>
                </a:cubicBezTo>
                <a:lnTo>
                  <a:pt x="480703" y="282992"/>
                </a:lnTo>
                <a:lnTo>
                  <a:pt x="531319" y="246180"/>
                </a:lnTo>
                <a:lnTo>
                  <a:pt x="352628" y="185286"/>
                </a:lnTo>
                <a:lnTo>
                  <a:pt x="355312" y="374024"/>
                </a:lnTo>
                <a:lnTo>
                  <a:pt x="405928" y="337213"/>
                </a:lnTo>
                <a:cubicBezTo>
                  <a:pt x="405928" y="337213"/>
                  <a:pt x="437832" y="381080"/>
                  <a:pt x="475488" y="432924"/>
                </a:cubicBezTo>
                <a:cubicBezTo>
                  <a:pt x="505321" y="473954"/>
                  <a:pt x="538681" y="519892"/>
                  <a:pt x="562763" y="553023"/>
                </a:cubicBezTo>
                <a:cubicBezTo>
                  <a:pt x="498878" y="608241"/>
                  <a:pt x="447725" y="677647"/>
                  <a:pt x="414518" y="756639"/>
                </a:cubicBezTo>
                <a:lnTo>
                  <a:pt x="161052" y="674272"/>
                </a:lnTo>
                <a:lnTo>
                  <a:pt x="180378" y="614759"/>
                </a:lnTo>
                <a:lnTo>
                  <a:pt x="0" y="670514"/>
                </a:lnTo>
                <a:lnTo>
                  <a:pt x="113120" y="821597"/>
                </a:lnTo>
                <a:lnTo>
                  <a:pt x="132446" y="762084"/>
                </a:lnTo>
                <a:cubicBezTo>
                  <a:pt x="132446" y="762084"/>
                  <a:pt x="184059" y="778880"/>
                  <a:pt x="244953" y="798666"/>
                </a:cubicBezTo>
                <a:cubicBezTo>
                  <a:pt x="293115" y="814311"/>
                  <a:pt x="347106" y="831873"/>
                  <a:pt x="386065" y="844528"/>
                </a:cubicBezTo>
                <a:cubicBezTo>
                  <a:pt x="376632" y="885021"/>
                  <a:pt x="371417" y="927124"/>
                  <a:pt x="371417" y="970455"/>
                </a:cubicBezTo>
                <a:cubicBezTo>
                  <a:pt x="371417" y="1013786"/>
                  <a:pt x="376555" y="1055890"/>
                  <a:pt x="386065" y="1096383"/>
                </a:cubicBezTo>
                <a:lnTo>
                  <a:pt x="132446" y="1178826"/>
                </a:lnTo>
                <a:lnTo>
                  <a:pt x="113120" y="1119314"/>
                </a:lnTo>
                <a:lnTo>
                  <a:pt x="0" y="1270396"/>
                </a:lnTo>
                <a:lnTo>
                  <a:pt x="180378" y="1326151"/>
                </a:lnTo>
                <a:lnTo>
                  <a:pt x="161052" y="1266638"/>
                </a:lnTo>
                <a:cubicBezTo>
                  <a:pt x="161052" y="1266638"/>
                  <a:pt x="212665" y="1249843"/>
                  <a:pt x="273558" y="1230056"/>
                </a:cubicBezTo>
                <a:cubicBezTo>
                  <a:pt x="321644" y="1214411"/>
                  <a:pt x="375558" y="1196926"/>
                  <a:pt x="414518" y="1184271"/>
                </a:cubicBezTo>
                <a:cubicBezTo>
                  <a:pt x="447725" y="1263187"/>
                  <a:pt x="498878" y="1332670"/>
                  <a:pt x="562763" y="1387888"/>
                </a:cubicBezTo>
                <a:lnTo>
                  <a:pt x="405928" y="1603698"/>
                </a:lnTo>
                <a:lnTo>
                  <a:pt x="355312" y="1566886"/>
                </a:lnTo>
                <a:lnTo>
                  <a:pt x="352628" y="1755624"/>
                </a:lnTo>
                <a:lnTo>
                  <a:pt x="531319" y="1694731"/>
                </a:lnTo>
                <a:lnTo>
                  <a:pt x="480703" y="1657919"/>
                </a:lnTo>
                <a:cubicBezTo>
                  <a:pt x="480703" y="1657919"/>
                  <a:pt x="512606" y="1614051"/>
                  <a:pt x="550262" y="1562208"/>
                </a:cubicBezTo>
                <a:cubicBezTo>
                  <a:pt x="580018" y="1521254"/>
                  <a:pt x="613302" y="1475393"/>
                  <a:pt x="637383" y="1442262"/>
                </a:cubicBezTo>
                <a:cubicBezTo>
                  <a:pt x="708323" y="1485286"/>
                  <a:pt x="789770" y="1512665"/>
                  <a:pt x="876968" y="1519874"/>
                </a:cubicBezTo>
                <a:lnTo>
                  <a:pt x="876968" y="1786607"/>
                </a:lnTo>
                <a:lnTo>
                  <a:pt x="814388" y="1786607"/>
                </a:lnTo>
                <a:lnTo>
                  <a:pt x="923136" y="1940911"/>
                </a:lnTo>
                <a:lnTo>
                  <a:pt x="1031885" y="1786607"/>
                </a:lnTo>
                <a:lnTo>
                  <a:pt x="969305" y="1786607"/>
                </a:lnTo>
                <a:lnTo>
                  <a:pt x="969305" y="1519874"/>
                </a:lnTo>
                <a:cubicBezTo>
                  <a:pt x="1056503" y="1512665"/>
                  <a:pt x="1137950" y="1485286"/>
                  <a:pt x="1208889" y="1442262"/>
                </a:cubicBezTo>
                <a:lnTo>
                  <a:pt x="1365570" y="1657919"/>
                </a:lnTo>
                <a:lnTo>
                  <a:pt x="1314954" y="1694731"/>
                </a:lnTo>
                <a:lnTo>
                  <a:pt x="1493645" y="1755624"/>
                </a:lnTo>
                <a:lnTo>
                  <a:pt x="1490961" y="1566886"/>
                </a:lnTo>
                <a:lnTo>
                  <a:pt x="1440345" y="1603698"/>
                </a:lnTo>
                <a:cubicBezTo>
                  <a:pt x="1440345" y="1603698"/>
                  <a:pt x="1408441" y="1559830"/>
                  <a:pt x="1370785" y="1507987"/>
                </a:cubicBezTo>
                <a:cubicBezTo>
                  <a:pt x="1340952" y="1466957"/>
                  <a:pt x="1307592" y="1421018"/>
                  <a:pt x="1283510" y="1387888"/>
                </a:cubicBezTo>
                <a:cubicBezTo>
                  <a:pt x="1347394" y="1332670"/>
                  <a:pt x="1398548" y="1263264"/>
                  <a:pt x="1431755" y="1184271"/>
                </a:cubicBezTo>
                <a:lnTo>
                  <a:pt x="1685221" y="1266638"/>
                </a:lnTo>
                <a:lnTo>
                  <a:pt x="1665895" y="1326151"/>
                </a:lnTo>
                <a:lnTo>
                  <a:pt x="1846273" y="1270396"/>
                </a:lnTo>
                <a:lnTo>
                  <a:pt x="1733153" y="1119314"/>
                </a:lnTo>
                <a:lnTo>
                  <a:pt x="1713827" y="1178826"/>
                </a:lnTo>
                <a:close/>
              </a:path>
            </a:pathLst>
          </a:custGeom>
          <a:noFill/>
          <a:ln w="11503">
            <a:solidFill>
              <a:srgbClr val="FFFFFF"/>
            </a:solidFill>
          </a:ln>
        </p:spPr>
        <p:txBody>
          <a:bodyPr rtlCol="0" anchor="ctr"/>
          <a:lstStyle/>
          <a:p>
            <a:pPr algn="ctr"/>
            <a:endParaRPr sz="1000"/>
          </a:p>
        </p:txBody>
      </p:sp>
      <p:sp>
        <p:nvSpPr>
          <p:cNvPr id="4" name="Rounded Rectangle 3"/>
          <p:cNvSpPr/>
          <p:nvPr/>
        </p:nvSpPr>
        <p:spPr>
          <a:xfrm>
            <a:off x="4275460" y="2087817"/>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3CC583"/>
          </a:solidFill>
          <a:ln>
            <a:noFill/>
          </a:ln>
        </p:spPr>
        <p:txBody>
          <a:bodyPr rtlCol="0" anchor="ctr"/>
          <a:lstStyle/>
          <a:p>
            <a:pPr algn="ctr"/>
            <a:endParaRPr sz="1000"/>
          </a:p>
        </p:txBody>
      </p:sp>
      <p:sp>
        <p:nvSpPr>
          <p:cNvPr id="5" name="Rounded Rectangle 4"/>
          <p:cNvSpPr/>
          <p:nvPr/>
        </p:nvSpPr>
        <p:spPr>
          <a:xfrm>
            <a:off x="4275460" y="2087817"/>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6" name="Rounded Rectangle 5"/>
          <p:cNvSpPr/>
          <p:nvPr/>
        </p:nvSpPr>
        <p:spPr>
          <a:xfrm>
            <a:off x="5059479" y="2342509"/>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E0CB15"/>
          </a:solidFill>
          <a:ln>
            <a:noFill/>
          </a:ln>
        </p:spPr>
        <p:txBody>
          <a:bodyPr rtlCol="0" anchor="ctr"/>
          <a:lstStyle/>
          <a:p>
            <a:pPr algn="ctr"/>
            <a:endParaRPr sz="1000"/>
          </a:p>
        </p:txBody>
      </p:sp>
      <p:sp>
        <p:nvSpPr>
          <p:cNvPr id="7" name="Rounded Rectangle 6"/>
          <p:cNvSpPr/>
          <p:nvPr/>
        </p:nvSpPr>
        <p:spPr>
          <a:xfrm>
            <a:off x="5059479" y="2342509"/>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8" name="Rounded Rectangle 7"/>
          <p:cNvSpPr/>
          <p:nvPr/>
        </p:nvSpPr>
        <p:spPr>
          <a:xfrm>
            <a:off x="5544017" y="3009497"/>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DE8431"/>
          </a:solidFill>
          <a:ln>
            <a:noFill/>
          </a:ln>
        </p:spPr>
        <p:txBody>
          <a:bodyPr rtlCol="0" anchor="ctr"/>
          <a:lstStyle/>
          <a:p>
            <a:pPr algn="ctr"/>
            <a:endParaRPr sz="1000"/>
          </a:p>
        </p:txBody>
      </p:sp>
      <p:sp>
        <p:nvSpPr>
          <p:cNvPr id="9" name="Rounded Rectangle 8"/>
          <p:cNvSpPr/>
          <p:nvPr/>
        </p:nvSpPr>
        <p:spPr>
          <a:xfrm>
            <a:off x="5544017" y="3009497"/>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10" name="Rounded Rectangle 9"/>
          <p:cNvSpPr/>
          <p:nvPr/>
        </p:nvSpPr>
        <p:spPr>
          <a:xfrm>
            <a:off x="5544017" y="3833778"/>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1EABDA"/>
          </a:solidFill>
          <a:ln>
            <a:noFill/>
          </a:ln>
        </p:spPr>
        <p:txBody>
          <a:bodyPr rtlCol="0" anchor="ctr"/>
          <a:lstStyle/>
          <a:p>
            <a:pPr algn="ctr"/>
            <a:endParaRPr sz="1000"/>
          </a:p>
        </p:txBody>
      </p:sp>
      <p:sp>
        <p:nvSpPr>
          <p:cNvPr id="11" name="Rounded Rectangle 10"/>
          <p:cNvSpPr/>
          <p:nvPr/>
        </p:nvSpPr>
        <p:spPr>
          <a:xfrm>
            <a:off x="5544017" y="3833778"/>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12" name="Rounded Rectangle 11"/>
          <p:cNvSpPr/>
          <p:nvPr/>
        </p:nvSpPr>
        <p:spPr>
          <a:xfrm>
            <a:off x="5059479" y="4500758"/>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92BD39"/>
          </a:solidFill>
          <a:ln>
            <a:noFill/>
          </a:ln>
        </p:spPr>
        <p:txBody>
          <a:bodyPr rtlCol="0" anchor="ctr"/>
          <a:lstStyle/>
          <a:p>
            <a:pPr algn="ctr"/>
            <a:endParaRPr sz="1000"/>
          </a:p>
        </p:txBody>
      </p:sp>
      <p:sp>
        <p:nvSpPr>
          <p:cNvPr id="13" name="Rounded Rectangle 12"/>
          <p:cNvSpPr/>
          <p:nvPr/>
        </p:nvSpPr>
        <p:spPr>
          <a:xfrm>
            <a:off x="5059479" y="4500758"/>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14" name="Rounded Rectangle 13"/>
          <p:cNvSpPr/>
          <p:nvPr/>
        </p:nvSpPr>
        <p:spPr>
          <a:xfrm>
            <a:off x="4275460" y="4755458"/>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E55753"/>
          </a:solidFill>
          <a:ln>
            <a:noFill/>
          </a:ln>
        </p:spPr>
        <p:txBody>
          <a:bodyPr rtlCol="0" anchor="ctr"/>
          <a:lstStyle/>
          <a:p>
            <a:pPr algn="ctr"/>
            <a:endParaRPr sz="1000"/>
          </a:p>
        </p:txBody>
      </p:sp>
      <p:sp>
        <p:nvSpPr>
          <p:cNvPr id="15" name="Rounded Rectangle 14"/>
          <p:cNvSpPr/>
          <p:nvPr/>
        </p:nvSpPr>
        <p:spPr>
          <a:xfrm>
            <a:off x="4275460" y="4755458"/>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16" name="Rounded Rectangle 15"/>
          <p:cNvSpPr/>
          <p:nvPr/>
        </p:nvSpPr>
        <p:spPr>
          <a:xfrm>
            <a:off x="3491442" y="4500758"/>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DE58A9"/>
          </a:solidFill>
          <a:ln>
            <a:noFill/>
          </a:ln>
        </p:spPr>
        <p:txBody>
          <a:bodyPr rtlCol="0" anchor="ctr"/>
          <a:lstStyle/>
          <a:p>
            <a:pPr algn="ctr"/>
            <a:endParaRPr sz="1000"/>
          </a:p>
        </p:txBody>
      </p:sp>
      <p:sp>
        <p:nvSpPr>
          <p:cNvPr id="17" name="Rounded Rectangle 16"/>
          <p:cNvSpPr/>
          <p:nvPr/>
        </p:nvSpPr>
        <p:spPr>
          <a:xfrm>
            <a:off x="3491442" y="4500758"/>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18" name="Rounded Rectangle 17"/>
          <p:cNvSpPr/>
          <p:nvPr/>
        </p:nvSpPr>
        <p:spPr>
          <a:xfrm>
            <a:off x="3006905" y="3833778"/>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7F64EA"/>
          </a:solidFill>
          <a:ln>
            <a:noFill/>
          </a:ln>
        </p:spPr>
        <p:txBody>
          <a:bodyPr rtlCol="0" anchor="ctr"/>
          <a:lstStyle/>
          <a:p>
            <a:pPr algn="ctr"/>
            <a:endParaRPr sz="1000"/>
          </a:p>
        </p:txBody>
      </p:sp>
      <p:sp>
        <p:nvSpPr>
          <p:cNvPr id="19" name="Rounded Rectangle 18"/>
          <p:cNvSpPr/>
          <p:nvPr/>
        </p:nvSpPr>
        <p:spPr>
          <a:xfrm>
            <a:off x="3006905" y="3833778"/>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20" name="Rounded Rectangle 19"/>
          <p:cNvSpPr/>
          <p:nvPr/>
        </p:nvSpPr>
        <p:spPr>
          <a:xfrm>
            <a:off x="3006905" y="3009497"/>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BA5DE5"/>
          </a:solidFill>
          <a:ln>
            <a:noFill/>
          </a:ln>
        </p:spPr>
        <p:txBody>
          <a:bodyPr rtlCol="0" anchor="ctr"/>
          <a:lstStyle/>
          <a:p>
            <a:pPr algn="ctr"/>
            <a:endParaRPr sz="1000"/>
          </a:p>
        </p:txBody>
      </p:sp>
      <p:sp>
        <p:nvSpPr>
          <p:cNvPr id="21" name="Rounded Rectangle 20"/>
          <p:cNvSpPr/>
          <p:nvPr/>
        </p:nvSpPr>
        <p:spPr>
          <a:xfrm>
            <a:off x="3006905" y="3009497"/>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22" name="Rounded Rectangle 21"/>
          <p:cNvSpPr/>
          <p:nvPr/>
        </p:nvSpPr>
        <p:spPr>
          <a:xfrm>
            <a:off x="3491442" y="2342509"/>
            <a:ext cx="479475" cy="479475"/>
          </a:xfrm>
          <a:custGeom>
            <a:avLst/>
            <a:gdLst/>
            <a:ahLst/>
            <a:cxnLst/>
            <a:rect l="0" t="0" r="0" b="0"/>
            <a:pathLst>
              <a:path w="479475" h="479475">
                <a:moveTo>
                  <a:pt x="479475" y="239737"/>
                </a:moveTo>
                <a:cubicBezTo>
                  <a:pt x="479475" y="372138"/>
                  <a:pt x="372138" y="479475"/>
                  <a:pt x="239737" y="479475"/>
                </a:cubicBezTo>
                <a:cubicBezTo>
                  <a:pt x="107337" y="479475"/>
                  <a:pt x="0" y="372138"/>
                  <a:pt x="0" y="239737"/>
                </a:cubicBezTo>
                <a:cubicBezTo>
                  <a:pt x="0" y="107337"/>
                  <a:pt x="107337" y="0"/>
                  <a:pt x="239737" y="0"/>
                </a:cubicBezTo>
                <a:cubicBezTo>
                  <a:pt x="372138" y="0"/>
                  <a:pt x="479475" y="107337"/>
                  <a:pt x="479475" y="239737"/>
                </a:cubicBezTo>
              </a:path>
            </a:pathLst>
          </a:custGeom>
          <a:solidFill>
            <a:srgbClr val="DE58A9"/>
          </a:solidFill>
          <a:ln>
            <a:noFill/>
          </a:ln>
        </p:spPr>
        <p:txBody>
          <a:bodyPr rtlCol="0" anchor="ctr"/>
          <a:lstStyle/>
          <a:p>
            <a:pPr algn="ctr"/>
            <a:endParaRPr sz="1000"/>
          </a:p>
        </p:txBody>
      </p:sp>
      <p:sp>
        <p:nvSpPr>
          <p:cNvPr id="23" name="Rounded Rectangle 22"/>
          <p:cNvSpPr/>
          <p:nvPr/>
        </p:nvSpPr>
        <p:spPr>
          <a:xfrm>
            <a:off x="3491442" y="2342509"/>
            <a:ext cx="479475" cy="479475"/>
          </a:xfrm>
          <a:custGeom>
            <a:avLst/>
            <a:gdLst/>
            <a:ahLst/>
            <a:cxnLst/>
            <a:rect l="0" t="0" r="0" b="0"/>
            <a:pathLst>
              <a:path w="479475" h="479475">
                <a:moveTo>
                  <a:pt x="479475" y="239737"/>
                </a:moveTo>
                <a:cubicBezTo>
                  <a:pt x="479475" y="372141"/>
                  <a:pt x="372141" y="479475"/>
                  <a:pt x="239737" y="479475"/>
                </a:cubicBezTo>
                <a:cubicBezTo>
                  <a:pt x="107334" y="479475"/>
                  <a:pt x="0" y="372141"/>
                  <a:pt x="0" y="239737"/>
                </a:cubicBezTo>
                <a:cubicBezTo>
                  <a:pt x="0" y="107334"/>
                  <a:pt x="107334" y="0"/>
                  <a:pt x="239737" y="0"/>
                </a:cubicBezTo>
                <a:cubicBezTo>
                  <a:pt x="372141" y="0"/>
                  <a:pt x="479475" y="107334"/>
                  <a:pt x="479475" y="239737"/>
                </a:cubicBezTo>
                <a:close/>
              </a:path>
            </a:pathLst>
          </a:custGeom>
          <a:noFill/>
          <a:ln w="11503">
            <a:solidFill>
              <a:srgbClr val="FFFFFF"/>
            </a:solidFill>
          </a:ln>
        </p:spPr>
        <p:txBody>
          <a:bodyPr rtlCol="0" anchor="ctr"/>
          <a:lstStyle/>
          <a:p>
            <a:pPr algn="ctr"/>
            <a:endParaRPr sz="1000"/>
          </a:p>
        </p:txBody>
      </p:sp>
      <p:sp>
        <p:nvSpPr>
          <p:cNvPr id="24" name="TextBox 23"/>
          <p:cNvSpPr txBox="1"/>
          <p:nvPr/>
        </p:nvSpPr>
        <p:spPr>
          <a:xfrm>
            <a:off x="5634896" y="2150550"/>
            <a:ext cx="1269578" cy="615553"/>
          </a:xfrm>
          <a:prstGeom prst="rect">
            <a:avLst/>
          </a:prstGeom>
          <a:noFill/>
          <a:ln>
            <a:noFill/>
          </a:ln>
        </p:spPr>
        <p:txBody>
          <a:bodyPr wrap="none" lIns="0" tIns="0" rIns="0" bIns="0" anchor="t">
            <a:spAutoFit/>
          </a:bodyPr>
          <a:lstStyle/>
          <a:p>
            <a:pPr algn="l"/>
            <a:r>
              <a:rPr sz="1000" b="0" dirty="0">
                <a:solidFill>
                  <a:srgbClr val="484848"/>
                </a:solidFill>
                <a:latin typeface="Roboto"/>
              </a:rPr>
              <a:t>Understanding what is
covered and excluded
in health insurance
policies.</a:t>
            </a:r>
          </a:p>
        </p:txBody>
      </p:sp>
      <p:sp>
        <p:nvSpPr>
          <p:cNvPr id="25" name="TextBox 24"/>
          <p:cNvSpPr txBox="1"/>
          <p:nvPr/>
        </p:nvSpPr>
        <p:spPr>
          <a:xfrm>
            <a:off x="1854298" y="2880118"/>
            <a:ext cx="989053" cy="153888"/>
          </a:xfrm>
          <a:prstGeom prst="rect">
            <a:avLst/>
          </a:prstGeom>
          <a:noFill/>
          <a:ln>
            <a:noFill/>
          </a:ln>
        </p:spPr>
        <p:txBody>
          <a:bodyPr wrap="none" lIns="0" tIns="0" rIns="0" bIns="0" anchor="t">
            <a:spAutoFit/>
          </a:bodyPr>
          <a:lstStyle/>
          <a:p>
            <a:pPr algn="r"/>
            <a:r>
              <a:rPr sz="1000" b="1">
                <a:solidFill>
                  <a:srgbClr val="BA5DE5"/>
                </a:solidFill>
                <a:latin typeface="Roboto"/>
              </a:rPr>
              <a:t>Fraud Prevention</a:t>
            </a:r>
          </a:p>
        </p:txBody>
      </p:sp>
      <p:sp>
        <p:nvSpPr>
          <p:cNvPr id="26" name="TextBox 25"/>
          <p:cNvSpPr txBox="1"/>
          <p:nvPr/>
        </p:nvSpPr>
        <p:spPr>
          <a:xfrm>
            <a:off x="6187076" y="2880118"/>
            <a:ext cx="897682" cy="153888"/>
          </a:xfrm>
          <a:prstGeom prst="rect">
            <a:avLst/>
          </a:prstGeom>
          <a:noFill/>
          <a:ln>
            <a:noFill/>
          </a:ln>
        </p:spPr>
        <p:txBody>
          <a:bodyPr wrap="none" lIns="0" tIns="0" rIns="0" bIns="0" anchor="t">
            <a:spAutoFit/>
          </a:bodyPr>
          <a:lstStyle/>
          <a:p>
            <a:pPr algn="l"/>
            <a:r>
              <a:rPr sz="1000" b="1" dirty="0">
                <a:solidFill>
                  <a:srgbClr val="DE8431"/>
                </a:solidFill>
                <a:latin typeface="Roboto"/>
              </a:rPr>
              <a:t>Claims Process</a:t>
            </a:r>
          </a:p>
        </p:txBody>
      </p:sp>
      <p:sp>
        <p:nvSpPr>
          <p:cNvPr id="27" name="TextBox 26"/>
          <p:cNvSpPr txBox="1"/>
          <p:nvPr/>
        </p:nvSpPr>
        <p:spPr>
          <a:xfrm>
            <a:off x="1536881" y="3070850"/>
            <a:ext cx="1306448" cy="461665"/>
          </a:xfrm>
          <a:prstGeom prst="rect">
            <a:avLst/>
          </a:prstGeom>
          <a:noFill/>
          <a:ln>
            <a:noFill/>
          </a:ln>
        </p:spPr>
        <p:txBody>
          <a:bodyPr wrap="none" lIns="0" tIns="0" rIns="0" bIns="0" anchor="t">
            <a:spAutoFit/>
          </a:bodyPr>
          <a:lstStyle/>
          <a:p>
            <a:pPr algn="r"/>
            <a:r>
              <a:rPr sz="1000" b="0">
                <a:solidFill>
                  <a:srgbClr val="484848"/>
                </a:solidFill>
                <a:latin typeface="Roboto"/>
              </a:rPr>
              <a:t>Implementing
measures to prevent
health insurance fraud.</a:t>
            </a:r>
          </a:p>
        </p:txBody>
      </p:sp>
      <p:sp>
        <p:nvSpPr>
          <p:cNvPr id="28" name="TextBox 27"/>
          <p:cNvSpPr txBox="1"/>
          <p:nvPr/>
        </p:nvSpPr>
        <p:spPr>
          <a:xfrm>
            <a:off x="2247750" y="2150550"/>
            <a:ext cx="1147751" cy="615553"/>
          </a:xfrm>
          <a:prstGeom prst="rect">
            <a:avLst/>
          </a:prstGeom>
          <a:noFill/>
          <a:ln>
            <a:noFill/>
          </a:ln>
        </p:spPr>
        <p:txBody>
          <a:bodyPr wrap="none" lIns="0" tIns="0" rIns="0" bIns="0" anchor="t">
            <a:spAutoFit/>
          </a:bodyPr>
          <a:lstStyle/>
          <a:p>
            <a:pPr algn="r"/>
            <a:r>
              <a:rPr sz="1000" b="0" dirty="0">
                <a:solidFill>
                  <a:srgbClr val="484848"/>
                </a:solidFill>
                <a:latin typeface="Roboto"/>
              </a:rPr>
              <a:t>Predicting future
developments in the
health insurance
industry.</a:t>
            </a:r>
          </a:p>
        </p:txBody>
      </p:sp>
      <p:sp>
        <p:nvSpPr>
          <p:cNvPr id="29" name="TextBox 28"/>
          <p:cNvSpPr txBox="1"/>
          <p:nvPr/>
        </p:nvSpPr>
        <p:spPr>
          <a:xfrm>
            <a:off x="6187076" y="3070850"/>
            <a:ext cx="1325684" cy="461665"/>
          </a:xfrm>
          <a:prstGeom prst="rect">
            <a:avLst/>
          </a:prstGeom>
          <a:noFill/>
          <a:ln>
            <a:noFill/>
          </a:ln>
        </p:spPr>
        <p:txBody>
          <a:bodyPr wrap="none" lIns="0" tIns="0" rIns="0" bIns="0" anchor="t">
            <a:spAutoFit/>
          </a:bodyPr>
          <a:lstStyle/>
          <a:p>
            <a:pPr algn="l"/>
            <a:r>
              <a:rPr sz="1000" b="0">
                <a:solidFill>
                  <a:srgbClr val="484848"/>
                </a:solidFill>
                <a:latin typeface="Roboto"/>
              </a:rPr>
              <a:t>Differentiating between
cashless and
reimbursement claims.</a:t>
            </a:r>
          </a:p>
        </p:txBody>
      </p:sp>
      <p:sp>
        <p:nvSpPr>
          <p:cNvPr id="30" name="TextBox 29"/>
          <p:cNvSpPr txBox="1"/>
          <p:nvPr/>
        </p:nvSpPr>
        <p:spPr>
          <a:xfrm>
            <a:off x="1991452" y="3846432"/>
            <a:ext cx="759823" cy="153888"/>
          </a:xfrm>
          <a:prstGeom prst="rect">
            <a:avLst/>
          </a:prstGeom>
          <a:noFill/>
          <a:ln>
            <a:noFill/>
          </a:ln>
        </p:spPr>
        <p:txBody>
          <a:bodyPr wrap="none" lIns="0" tIns="0" rIns="0" bIns="0" anchor="t">
            <a:spAutoFit/>
          </a:bodyPr>
          <a:lstStyle/>
          <a:p>
            <a:pPr algn="r"/>
            <a:r>
              <a:rPr sz="1000" b="1">
                <a:solidFill>
                  <a:srgbClr val="7F64EA"/>
                </a:solidFill>
                <a:latin typeface="Roboto"/>
              </a:rPr>
              <a:t>Digitalization</a:t>
            </a:r>
          </a:p>
        </p:txBody>
      </p:sp>
      <p:sp>
        <p:nvSpPr>
          <p:cNvPr id="31" name="TextBox 30"/>
          <p:cNvSpPr txBox="1"/>
          <p:nvPr/>
        </p:nvSpPr>
        <p:spPr>
          <a:xfrm>
            <a:off x="5634896" y="1860119"/>
            <a:ext cx="665247" cy="307777"/>
          </a:xfrm>
          <a:prstGeom prst="rect">
            <a:avLst/>
          </a:prstGeom>
          <a:noFill/>
          <a:ln>
            <a:noFill/>
          </a:ln>
        </p:spPr>
        <p:txBody>
          <a:bodyPr wrap="none" lIns="0" tIns="0" rIns="0" bIns="0" anchor="t">
            <a:spAutoFit/>
          </a:bodyPr>
          <a:lstStyle/>
          <a:p>
            <a:pPr algn="l"/>
            <a:r>
              <a:rPr sz="1000" b="1" dirty="0">
                <a:solidFill>
                  <a:srgbClr val="E0CB15"/>
                </a:solidFill>
                <a:latin typeface="Roboto"/>
              </a:rPr>
              <a:t>Coverage &amp;</a:t>
            </a:r>
            <a:r>
              <a:rPr lang="en-IN" sz="1000" b="1" dirty="0">
                <a:solidFill>
                  <a:srgbClr val="E0CB15"/>
                </a:solidFill>
                <a:latin typeface="Roboto"/>
              </a:rPr>
              <a:t>
</a:t>
            </a:r>
            <a:r>
              <a:rPr sz="1000" b="1" dirty="0">
                <a:solidFill>
                  <a:srgbClr val="E0CB15"/>
                </a:solidFill>
                <a:latin typeface="Roboto"/>
              </a:rPr>
              <a:t>Exclusions</a:t>
            </a:r>
          </a:p>
        </p:txBody>
      </p:sp>
      <p:sp>
        <p:nvSpPr>
          <p:cNvPr id="32" name="TextBox 31"/>
          <p:cNvSpPr txBox="1"/>
          <p:nvPr/>
        </p:nvSpPr>
        <p:spPr>
          <a:xfrm>
            <a:off x="2584374" y="1959818"/>
            <a:ext cx="811119" cy="153888"/>
          </a:xfrm>
          <a:prstGeom prst="rect">
            <a:avLst/>
          </a:prstGeom>
          <a:noFill/>
          <a:ln>
            <a:noFill/>
          </a:ln>
        </p:spPr>
        <p:txBody>
          <a:bodyPr wrap="none" lIns="0" tIns="0" rIns="0" bIns="0" anchor="t">
            <a:spAutoFit/>
          </a:bodyPr>
          <a:lstStyle/>
          <a:p>
            <a:pPr algn="r"/>
            <a:r>
              <a:rPr sz="1000" b="1">
                <a:solidFill>
                  <a:srgbClr val="DE58A9"/>
                </a:solidFill>
                <a:latin typeface="Roboto"/>
              </a:rPr>
              <a:t>Future Trends</a:t>
            </a:r>
          </a:p>
        </p:txBody>
      </p:sp>
      <p:sp>
        <p:nvSpPr>
          <p:cNvPr id="33" name="TextBox 32"/>
          <p:cNvSpPr txBox="1"/>
          <p:nvPr/>
        </p:nvSpPr>
        <p:spPr>
          <a:xfrm>
            <a:off x="6279105" y="3792748"/>
            <a:ext cx="708527" cy="307777"/>
          </a:xfrm>
          <a:prstGeom prst="rect">
            <a:avLst/>
          </a:prstGeom>
          <a:noFill/>
          <a:ln>
            <a:noFill/>
          </a:ln>
        </p:spPr>
        <p:txBody>
          <a:bodyPr wrap="none" lIns="0" tIns="0" rIns="0" bIns="0" anchor="t">
            <a:spAutoFit/>
          </a:bodyPr>
          <a:lstStyle/>
          <a:p>
            <a:pPr algn="l"/>
            <a:r>
              <a:rPr sz="1000" b="1">
                <a:solidFill>
                  <a:srgbClr val="1EABDA"/>
                </a:solidFill>
                <a:latin typeface="Roboto"/>
              </a:rPr>
              <a:t>Government
Schemes</a:t>
            </a:r>
          </a:p>
        </p:txBody>
      </p:sp>
      <p:sp>
        <p:nvSpPr>
          <p:cNvPr id="34" name="TextBox 33"/>
          <p:cNvSpPr txBox="1"/>
          <p:nvPr/>
        </p:nvSpPr>
        <p:spPr>
          <a:xfrm>
            <a:off x="1778237" y="4037164"/>
            <a:ext cx="973023" cy="461665"/>
          </a:xfrm>
          <a:prstGeom prst="rect">
            <a:avLst/>
          </a:prstGeom>
          <a:noFill/>
          <a:ln>
            <a:noFill/>
          </a:ln>
        </p:spPr>
        <p:txBody>
          <a:bodyPr wrap="none" lIns="0" tIns="0" rIns="0" bIns="0" anchor="t">
            <a:spAutoFit/>
          </a:bodyPr>
          <a:lstStyle/>
          <a:p>
            <a:pPr algn="r"/>
            <a:r>
              <a:rPr sz="1000" b="0">
                <a:solidFill>
                  <a:srgbClr val="484848"/>
                </a:solidFill>
                <a:latin typeface="Roboto"/>
              </a:rPr>
              <a:t>Exploring digital
advancements in
health insurance.</a:t>
            </a:r>
          </a:p>
        </p:txBody>
      </p:sp>
      <p:sp>
        <p:nvSpPr>
          <p:cNvPr id="35" name="TextBox 34"/>
          <p:cNvSpPr txBox="1"/>
          <p:nvPr/>
        </p:nvSpPr>
        <p:spPr>
          <a:xfrm>
            <a:off x="6279105" y="4083179"/>
            <a:ext cx="1306448" cy="461665"/>
          </a:xfrm>
          <a:prstGeom prst="rect">
            <a:avLst/>
          </a:prstGeom>
          <a:noFill/>
          <a:ln>
            <a:noFill/>
          </a:ln>
        </p:spPr>
        <p:txBody>
          <a:bodyPr wrap="none" lIns="0" tIns="0" rIns="0" bIns="0" anchor="t">
            <a:spAutoFit/>
          </a:bodyPr>
          <a:lstStyle/>
          <a:p>
            <a:pPr algn="l"/>
            <a:r>
              <a:rPr sz="1000" b="0">
                <a:solidFill>
                  <a:srgbClr val="484848"/>
                </a:solidFill>
                <a:latin typeface="Roboto"/>
              </a:rPr>
              <a:t>Examining government
initiatives like
Ayushman Bharat.</a:t>
            </a:r>
          </a:p>
        </p:txBody>
      </p:sp>
      <p:sp>
        <p:nvSpPr>
          <p:cNvPr id="36" name="TextBox 35"/>
          <p:cNvSpPr txBox="1"/>
          <p:nvPr/>
        </p:nvSpPr>
        <p:spPr>
          <a:xfrm>
            <a:off x="3889214" y="1279371"/>
            <a:ext cx="1251946" cy="769441"/>
          </a:xfrm>
          <a:prstGeom prst="rect">
            <a:avLst/>
          </a:prstGeom>
          <a:noFill/>
          <a:ln>
            <a:noFill/>
          </a:ln>
        </p:spPr>
        <p:txBody>
          <a:bodyPr wrap="square" lIns="0" tIns="0" rIns="0" bIns="0" anchor="t">
            <a:spAutoFit/>
          </a:bodyPr>
          <a:lstStyle/>
          <a:p>
            <a:pPr algn="ctr"/>
            <a:r>
              <a:rPr sz="1000" b="0" dirty="0">
                <a:solidFill>
                  <a:srgbClr val="484848"/>
                </a:solidFill>
                <a:latin typeface="Roboto"/>
              </a:rPr>
              <a:t>Exploring various
health insurance
options like individual,
family, and </a:t>
            </a:r>
            <a:r>
              <a:rPr lang="en-US" sz="1000" b="0" dirty="0" smtClean="0">
                <a:solidFill>
                  <a:srgbClr val="484848"/>
                </a:solidFill>
                <a:latin typeface="Roboto"/>
              </a:rPr>
              <a:t> </a:t>
            </a:r>
            <a:r>
              <a:rPr sz="1000" b="0" dirty="0" smtClean="0">
                <a:solidFill>
                  <a:srgbClr val="484848"/>
                </a:solidFill>
                <a:latin typeface="Roboto"/>
              </a:rPr>
              <a:t>group</a:t>
            </a:r>
            <a:r>
              <a:rPr sz="1000" b="0" dirty="0">
                <a:solidFill>
                  <a:srgbClr val="484848"/>
                </a:solidFill>
                <a:latin typeface="Roboto"/>
              </a:rPr>
              <a:t>
</a:t>
            </a:r>
          </a:p>
        </p:txBody>
      </p:sp>
      <p:sp>
        <p:nvSpPr>
          <p:cNvPr id="37" name="TextBox 36"/>
          <p:cNvSpPr txBox="1"/>
          <p:nvPr/>
        </p:nvSpPr>
        <p:spPr>
          <a:xfrm>
            <a:off x="4086425" y="979103"/>
            <a:ext cx="857607" cy="153888"/>
          </a:xfrm>
          <a:prstGeom prst="rect">
            <a:avLst/>
          </a:prstGeom>
          <a:noFill/>
          <a:ln>
            <a:noFill/>
          </a:ln>
        </p:spPr>
        <p:txBody>
          <a:bodyPr wrap="square" lIns="0" tIns="0" rIns="0" bIns="0" anchor="t">
            <a:spAutoFit/>
          </a:bodyPr>
          <a:lstStyle/>
          <a:p>
            <a:pPr algn="ctr"/>
            <a:r>
              <a:rPr sz="1000" b="1" dirty="0">
                <a:solidFill>
                  <a:srgbClr val="3CC583"/>
                </a:solidFill>
                <a:latin typeface="Roboto"/>
              </a:rPr>
              <a:t>Types of Plans</a:t>
            </a:r>
          </a:p>
        </p:txBody>
      </p:sp>
      <p:sp>
        <p:nvSpPr>
          <p:cNvPr id="38" name="TextBox 37"/>
          <p:cNvSpPr txBox="1"/>
          <p:nvPr/>
        </p:nvSpPr>
        <p:spPr>
          <a:xfrm>
            <a:off x="2567684" y="4713047"/>
            <a:ext cx="735779" cy="307777"/>
          </a:xfrm>
          <a:prstGeom prst="rect">
            <a:avLst/>
          </a:prstGeom>
          <a:noFill/>
          <a:ln>
            <a:noFill/>
          </a:ln>
        </p:spPr>
        <p:txBody>
          <a:bodyPr wrap="square" lIns="0" tIns="0" rIns="0" bIns="0" anchor="t">
            <a:spAutoFit/>
          </a:bodyPr>
          <a:lstStyle/>
          <a:p>
            <a:pPr algn="r"/>
            <a:r>
              <a:rPr lang="en-IN" sz="1000" b="1" dirty="0">
                <a:solidFill>
                  <a:srgbClr val="DE58A9"/>
                </a:solidFill>
                <a:latin typeface="Roboto"/>
              </a:rPr>
              <a:t>Healthcare
Accessibility</a:t>
            </a:r>
          </a:p>
        </p:txBody>
      </p:sp>
      <p:sp>
        <p:nvSpPr>
          <p:cNvPr id="39" name="TextBox 38"/>
          <p:cNvSpPr txBox="1"/>
          <p:nvPr/>
        </p:nvSpPr>
        <p:spPr>
          <a:xfrm>
            <a:off x="3113026" y="292807"/>
            <a:ext cx="2876750" cy="615553"/>
          </a:xfrm>
          <a:prstGeom prst="rect">
            <a:avLst/>
          </a:prstGeom>
          <a:noFill/>
          <a:ln>
            <a:noFill/>
          </a:ln>
        </p:spPr>
        <p:txBody>
          <a:bodyPr wrap="none" lIns="0" tIns="0" rIns="0" bIns="0" anchor="t">
            <a:spAutoFit/>
          </a:bodyPr>
          <a:lstStyle/>
          <a:p>
            <a:pPr algn="ctr"/>
            <a:r>
              <a:rPr lang="en-US" sz="2000" b="1" dirty="0" smtClean="0"/>
              <a:t>Health Insurance Overview</a:t>
            </a:r>
            <a:endParaRPr lang="en-US" sz="2000" b="1" dirty="0">
              <a:solidFill>
                <a:srgbClr val="484848"/>
              </a:solidFill>
            </a:endParaRPr>
          </a:p>
          <a:p>
            <a:pPr algn="ctr"/>
            <a:endParaRPr sz="2000" b="1" dirty="0">
              <a:solidFill>
                <a:srgbClr val="484848"/>
              </a:solidFill>
            </a:endParaRPr>
          </a:p>
        </p:txBody>
      </p:sp>
      <p:sp>
        <p:nvSpPr>
          <p:cNvPr id="40" name="TextBox 39"/>
          <p:cNvSpPr txBox="1"/>
          <p:nvPr/>
        </p:nvSpPr>
        <p:spPr>
          <a:xfrm>
            <a:off x="3922923" y="5647688"/>
            <a:ext cx="1184620" cy="615553"/>
          </a:xfrm>
          <a:prstGeom prst="rect">
            <a:avLst/>
          </a:prstGeom>
          <a:noFill/>
          <a:ln>
            <a:noFill/>
          </a:ln>
        </p:spPr>
        <p:txBody>
          <a:bodyPr wrap="none" lIns="0" tIns="0" rIns="0" bIns="0" anchor="t">
            <a:spAutoFit/>
          </a:bodyPr>
          <a:lstStyle/>
          <a:p>
            <a:pPr algn="ctr"/>
            <a:r>
              <a:rPr sz="1000" b="0">
                <a:solidFill>
                  <a:srgbClr val="484848"/>
                </a:solidFill>
                <a:latin typeface="Roboto"/>
              </a:rPr>
              <a:t>Addressing common
issues like high
premiums and claim
rejections.</a:t>
            </a:r>
          </a:p>
        </p:txBody>
      </p:sp>
      <p:sp>
        <p:nvSpPr>
          <p:cNvPr id="41" name="TextBox 40"/>
          <p:cNvSpPr txBox="1"/>
          <p:nvPr/>
        </p:nvSpPr>
        <p:spPr>
          <a:xfrm>
            <a:off x="2061127" y="5003479"/>
            <a:ext cx="1242328" cy="461665"/>
          </a:xfrm>
          <a:prstGeom prst="rect">
            <a:avLst/>
          </a:prstGeom>
          <a:noFill/>
          <a:ln>
            <a:noFill/>
          </a:ln>
        </p:spPr>
        <p:txBody>
          <a:bodyPr wrap="none" lIns="0" tIns="0" rIns="0" bIns="0" anchor="t">
            <a:spAutoFit/>
          </a:bodyPr>
          <a:lstStyle/>
          <a:p>
            <a:pPr algn="r"/>
            <a:r>
              <a:rPr sz="1000" b="0" dirty="0">
                <a:solidFill>
                  <a:srgbClr val="484848"/>
                </a:solidFill>
                <a:latin typeface="Roboto"/>
              </a:rPr>
              <a:t>Assessing how health
insurance impacts
access to healthcare.</a:t>
            </a:r>
          </a:p>
        </p:txBody>
      </p:sp>
      <p:sp>
        <p:nvSpPr>
          <p:cNvPr id="42" name="TextBox 41"/>
          <p:cNvSpPr txBox="1"/>
          <p:nvPr/>
        </p:nvSpPr>
        <p:spPr>
          <a:xfrm>
            <a:off x="5726926" y="4911449"/>
            <a:ext cx="1322478" cy="461665"/>
          </a:xfrm>
          <a:prstGeom prst="rect">
            <a:avLst/>
          </a:prstGeom>
          <a:noFill/>
          <a:ln>
            <a:noFill/>
          </a:ln>
        </p:spPr>
        <p:txBody>
          <a:bodyPr wrap="none" lIns="0" tIns="0" rIns="0" bIns="0" anchor="t">
            <a:spAutoFit/>
          </a:bodyPr>
          <a:lstStyle/>
          <a:p>
            <a:pPr algn="l"/>
            <a:r>
              <a:rPr sz="1000" b="0">
                <a:solidFill>
                  <a:srgbClr val="484848"/>
                </a:solidFill>
                <a:latin typeface="Roboto"/>
              </a:rPr>
              <a:t>Integrating health
insurance into financial
strategies.</a:t>
            </a:r>
          </a:p>
        </p:txBody>
      </p:sp>
      <p:sp>
        <p:nvSpPr>
          <p:cNvPr id="43" name="TextBox 42"/>
          <p:cNvSpPr txBox="1"/>
          <p:nvPr/>
        </p:nvSpPr>
        <p:spPr>
          <a:xfrm>
            <a:off x="4194609" y="5456956"/>
            <a:ext cx="641202" cy="153888"/>
          </a:xfrm>
          <a:prstGeom prst="rect">
            <a:avLst/>
          </a:prstGeom>
          <a:noFill/>
          <a:ln>
            <a:noFill/>
          </a:ln>
        </p:spPr>
        <p:txBody>
          <a:bodyPr wrap="none" lIns="0" tIns="0" rIns="0" bIns="0" anchor="t">
            <a:spAutoFit/>
          </a:bodyPr>
          <a:lstStyle/>
          <a:p>
            <a:pPr algn="ctr"/>
            <a:r>
              <a:rPr sz="1000" b="1">
                <a:solidFill>
                  <a:srgbClr val="E55753"/>
                </a:solidFill>
                <a:latin typeface="Roboto"/>
              </a:rPr>
              <a:t>Challenges</a:t>
            </a:r>
          </a:p>
        </p:txBody>
      </p:sp>
      <p:sp>
        <p:nvSpPr>
          <p:cNvPr id="44" name="TextBox 43"/>
          <p:cNvSpPr txBox="1"/>
          <p:nvPr/>
        </p:nvSpPr>
        <p:spPr>
          <a:xfrm>
            <a:off x="5726926" y="4720716"/>
            <a:ext cx="1062791" cy="153888"/>
          </a:xfrm>
          <a:prstGeom prst="rect">
            <a:avLst/>
          </a:prstGeom>
          <a:noFill/>
          <a:ln>
            <a:noFill/>
          </a:ln>
        </p:spPr>
        <p:txBody>
          <a:bodyPr wrap="none" lIns="0" tIns="0" rIns="0" bIns="0" anchor="t">
            <a:spAutoFit/>
          </a:bodyPr>
          <a:lstStyle/>
          <a:p>
            <a:pPr algn="l"/>
            <a:r>
              <a:rPr sz="1000" b="1">
                <a:solidFill>
                  <a:srgbClr val="92BD39"/>
                </a:solidFill>
                <a:latin typeface="Roboto"/>
              </a:rPr>
              <a:t>Financial Planning</a:t>
            </a:r>
          </a:p>
        </p:txBody>
      </p:sp>
      <p:sp>
        <p:nvSpPr>
          <p:cNvPr id="45" name="Rounded Rectangle 44"/>
          <p:cNvSpPr/>
          <p:nvPr/>
        </p:nvSpPr>
        <p:spPr>
          <a:xfrm>
            <a:off x="3600628" y="2443922"/>
            <a:ext cx="264632" cy="280876"/>
          </a:xfrm>
          <a:custGeom>
            <a:avLst/>
            <a:gdLst/>
            <a:ahLst/>
            <a:cxnLst/>
            <a:rect l="0" t="0" r="0" b="0"/>
            <a:pathLst>
              <a:path w="264632" h="280876">
                <a:moveTo>
                  <a:pt x="242889" y="4268"/>
                </a:moveTo>
                <a:lnTo>
                  <a:pt x="242889" y="47752"/>
                </a:lnTo>
                <a:moveTo>
                  <a:pt x="221147" y="26010"/>
                </a:moveTo>
                <a:lnTo>
                  <a:pt x="264632" y="26010"/>
                </a:lnTo>
                <a:moveTo>
                  <a:pt x="205502" y="64663"/>
                </a:moveTo>
                <a:lnTo>
                  <a:pt x="205502" y="99174"/>
                </a:lnTo>
                <a:moveTo>
                  <a:pt x="188247" y="81918"/>
                </a:moveTo>
                <a:lnTo>
                  <a:pt x="222758" y="81918"/>
                </a:lnTo>
                <a:moveTo>
                  <a:pt x="250597" y="74568"/>
                </a:moveTo>
                <a:cubicBezTo>
                  <a:pt x="255956" y="109707"/>
                  <a:pt x="237299" y="144125"/>
                  <a:pt x="204930" y="158815"/>
                </a:cubicBezTo>
                <a:cubicBezTo>
                  <a:pt x="172561" y="173504"/>
                  <a:pt x="134373" y="164883"/>
                  <a:pt x="111455" y="137712"/>
                </a:cubicBezTo>
                <a:cubicBezTo>
                  <a:pt x="88536" y="110541"/>
                  <a:pt x="86476" y="71446"/>
                  <a:pt x="106411" y="42017"/>
                </a:cubicBezTo>
                <a:cubicBezTo>
                  <a:pt x="126347" y="12587"/>
                  <a:pt x="163417" y="0"/>
                  <a:pt x="197151" y="11205"/>
                </a:cubicBezTo>
                <a:moveTo>
                  <a:pt x="128209" y="63927"/>
                </a:moveTo>
                <a:cubicBezTo>
                  <a:pt x="136697" y="47580"/>
                  <a:pt x="153585" y="37324"/>
                  <a:pt x="172003" y="37330"/>
                </a:cubicBezTo>
                <a:moveTo>
                  <a:pt x="5751" y="165125"/>
                </a:moveTo>
                <a:lnTo>
                  <a:pt x="40263" y="165125"/>
                </a:lnTo>
                <a:cubicBezTo>
                  <a:pt x="40263" y="165125"/>
                  <a:pt x="46014" y="165125"/>
                  <a:pt x="46014" y="170877"/>
                </a:cubicBezTo>
                <a:lnTo>
                  <a:pt x="46014" y="251403"/>
                </a:lnTo>
                <a:cubicBezTo>
                  <a:pt x="46014" y="251403"/>
                  <a:pt x="46014" y="257155"/>
                  <a:pt x="40263" y="257155"/>
                </a:cubicBezTo>
                <a:lnTo>
                  <a:pt x="5751" y="257155"/>
                </a:lnTo>
                <a:cubicBezTo>
                  <a:pt x="5751" y="257155"/>
                  <a:pt x="0" y="257155"/>
                  <a:pt x="0" y="251403"/>
                </a:cubicBezTo>
                <a:lnTo>
                  <a:pt x="0" y="170877"/>
                </a:lnTo>
                <a:cubicBezTo>
                  <a:pt x="0" y="170877"/>
                  <a:pt x="0" y="165125"/>
                  <a:pt x="5751" y="165125"/>
                </a:cubicBezTo>
                <a:moveTo>
                  <a:pt x="46037" y="240613"/>
                </a:moveTo>
                <a:cubicBezTo>
                  <a:pt x="166827" y="280876"/>
                  <a:pt x="126564" y="280876"/>
                  <a:pt x="264609" y="211853"/>
                </a:cubicBezTo>
                <a:cubicBezTo>
                  <a:pt x="256657" y="201158"/>
                  <a:pt x="242875" y="196564"/>
                  <a:pt x="230097" y="200349"/>
                </a:cubicBezTo>
                <a:lnTo>
                  <a:pt x="180447" y="216075"/>
                </a:lnTo>
                <a:moveTo>
                  <a:pt x="46037" y="176629"/>
                </a:moveTo>
                <a:lnTo>
                  <a:pt x="80549" y="176629"/>
                </a:lnTo>
                <a:cubicBezTo>
                  <a:pt x="107617" y="176629"/>
                  <a:pt x="126564" y="199636"/>
                  <a:pt x="132316" y="199636"/>
                </a:cubicBezTo>
                <a:lnTo>
                  <a:pt x="172579" y="199636"/>
                </a:lnTo>
                <a:cubicBezTo>
                  <a:pt x="184082" y="199636"/>
                  <a:pt x="184082" y="222644"/>
                  <a:pt x="172579" y="222644"/>
                </a:cubicBezTo>
                <a:lnTo>
                  <a:pt x="109308" y="222644"/>
                </a:lnTo>
              </a:path>
            </a:pathLst>
          </a:custGeom>
          <a:noFill/>
          <a:ln w="11503">
            <a:solidFill>
              <a:srgbClr val="FFFFFF"/>
            </a:solidFill>
          </a:ln>
        </p:spPr>
        <p:txBody>
          <a:bodyPr rtlCol="0" anchor="ctr"/>
          <a:lstStyle/>
          <a:p>
            <a:pPr algn="ctr"/>
            <a:endParaRPr sz="1000"/>
          </a:p>
        </p:txBody>
      </p:sp>
      <p:sp>
        <p:nvSpPr>
          <p:cNvPr id="46" name="Rounded Rectangle 45"/>
          <p:cNvSpPr/>
          <p:nvPr/>
        </p:nvSpPr>
        <p:spPr>
          <a:xfrm>
            <a:off x="5176664" y="2447730"/>
            <a:ext cx="241578" cy="264586"/>
          </a:xfrm>
          <a:custGeom>
            <a:avLst/>
            <a:gdLst/>
            <a:ahLst/>
            <a:cxnLst/>
            <a:rect l="0" t="0" r="0" b="0"/>
            <a:pathLst>
              <a:path w="241578" h="264586">
                <a:moveTo>
                  <a:pt x="184059" y="195563"/>
                </a:moveTo>
                <a:cubicBezTo>
                  <a:pt x="177706" y="195563"/>
                  <a:pt x="172556" y="200714"/>
                  <a:pt x="172556" y="207067"/>
                </a:cubicBezTo>
                <a:lnTo>
                  <a:pt x="172556" y="264586"/>
                </a:lnTo>
                <a:lnTo>
                  <a:pt x="11503" y="264586"/>
                </a:lnTo>
                <a:cubicBezTo>
                  <a:pt x="5150" y="264586"/>
                  <a:pt x="0" y="259435"/>
                  <a:pt x="0" y="253082"/>
                </a:cubicBezTo>
                <a:lnTo>
                  <a:pt x="0" y="34511"/>
                </a:lnTo>
                <a:cubicBezTo>
                  <a:pt x="0" y="28157"/>
                  <a:pt x="5150" y="23007"/>
                  <a:pt x="11503" y="23007"/>
                </a:cubicBezTo>
                <a:lnTo>
                  <a:pt x="230074" y="23007"/>
                </a:lnTo>
                <a:cubicBezTo>
                  <a:pt x="236428" y="23007"/>
                  <a:pt x="241578" y="28157"/>
                  <a:pt x="241578" y="34511"/>
                </a:cubicBezTo>
                <a:lnTo>
                  <a:pt x="241578" y="195563"/>
                </a:lnTo>
                <a:close/>
                <a:moveTo>
                  <a:pt x="172556" y="264586"/>
                </a:moveTo>
                <a:lnTo>
                  <a:pt x="241578" y="195563"/>
                </a:lnTo>
                <a:moveTo>
                  <a:pt x="34511" y="0"/>
                </a:moveTo>
                <a:lnTo>
                  <a:pt x="34511" y="51766"/>
                </a:lnTo>
                <a:moveTo>
                  <a:pt x="92029" y="0"/>
                </a:moveTo>
                <a:lnTo>
                  <a:pt x="92029" y="51766"/>
                </a:lnTo>
                <a:moveTo>
                  <a:pt x="149548" y="0"/>
                </a:moveTo>
                <a:lnTo>
                  <a:pt x="149548" y="51766"/>
                </a:lnTo>
                <a:moveTo>
                  <a:pt x="207067" y="0"/>
                </a:moveTo>
                <a:lnTo>
                  <a:pt x="207067" y="51766"/>
                </a:lnTo>
                <a:moveTo>
                  <a:pt x="40263" y="97781"/>
                </a:moveTo>
                <a:lnTo>
                  <a:pt x="57518" y="115037"/>
                </a:lnTo>
                <a:lnTo>
                  <a:pt x="92029" y="80526"/>
                </a:lnTo>
                <a:moveTo>
                  <a:pt x="40263" y="161052"/>
                </a:moveTo>
                <a:lnTo>
                  <a:pt x="57518" y="178308"/>
                </a:lnTo>
                <a:lnTo>
                  <a:pt x="92029" y="143796"/>
                </a:lnTo>
                <a:moveTo>
                  <a:pt x="115037" y="103533"/>
                </a:moveTo>
                <a:lnTo>
                  <a:pt x="189811" y="103533"/>
                </a:lnTo>
                <a:moveTo>
                  <a:pt x="115037" y="161052"/>
                </a:moveTo>
                <a:lnTo>
                  <a:pt x="189811" y="161052"/>
                </a:lnTo>
              </a:path>
            </a:pathLst>
          </a:custGeom>
          <a:noFill/>
          <a:ln w="11503">
            <a:solidFill>
              <a:srgbClr val="FFFFFF"/>
            </a:solidFill>
          </a:ln>
        </p:spPr>
        <p:txBody>
          <a:bodyPr rtlCol="0" anchor="ctr"/>
          <a:lstStyle/>
          <a:p>
            <a:pPr algn="ctr"/>
            <a:endParaRPr sz="1000"/>
          </a:p>
        </p:txBody>
      </p:sp>
      <p:sp>
        <p:nvSpPr>
          <p:cNvPr id="47" name="Rounded Rectangle 46"/>
          <p:cNvSpPr/>
          <p:nvPr/>
        </p:nvSpPr>
        <p:spPr>
          <a:xfrm>
            <a:off x="4377153" y="2188896"/>
            <a:ext cx="266341" cy="265914"/>
          </a:xfrm>
          <a:custGeom>
            <a:avLst/>
            <a:gdLst/>
            <a:ahLst/>
            <a:cxnLst/>
            <a:rect l="0" t="0" r="0" b="0"/>
            <a:pathLst>
              <a:path w="266341" h="265914">
                <a:moveTo>
                  <a:pt x="54976" y="105159"/>
                </a:moveTo>
                <a:lnTo>
                  <a:pt x="165515" y="105159"/>
                </a:lnTo>
                <a:moveTo>
                  <a:pt x="54976" y="156927"/>
                </a:moveTo>
                <a:lnTo>
                  <a:pt x="110246" y="156927"/>
                </a:lnTo>
                <a:moveTo>
                  <a:pt x="54976" y="208693"/>
                </a:moveTo>
                <a:lnTo>
                  <a:pt x="94455" y="208693"/>
                </a:lnTo>
                <a:moveTo>
                  <a:pt x="145322" y="265914"/>
                </a:moveTo>
                <a:lnTo>
                  <a:pt x="31556" y="265914"/>
                </a:lnTo>
                <a:cubicBezTo>
                  <a:pt x="26339" y="265914"/>
                  <a:pt x="21335" y="263842"/>
                  <a:pt x="17646" y="260153"/>
                </a:cubicBezTo>
                <a:cubicBezTo>
                  <a:pt x="13956" y="256464"/>
                  <a:pt x="11884" y="251460"/>
                  <a:pt x="11884" y="246243"/>
                </a:cubicBezTo>
                <a:lnTo>
                  <a:pt x="11884" y="49521"/>
                </a:lnTo>
                <a:cubicBezTo>
                  <a:pt x="11884" y="44303"/>
                  <a:pt x="13956" y="39300"/>
                  <a:pt x="17646" y="35610"/>
                </a:cubicBezTo>
                <a:cubicBezTo>
                  <a:pt x="21335" y="31921"/>
                  <a:pt x="26339" y="29849"/>
                  <a:pt x="31556" y="29849"/>
                </a:cubicBezTo>
                <a:lnTo>
                  <a:pt x="61064" y="29849"/>
                </a:lnTo>
                <a:moveTo>
                  <a:pt x="139753" y="10175"/>
                </a:moveTo>
                <a:lnTo>
                  <a:pt x="80736" y="10175"/>
                </a:lnTo>
                <a:cubicBezTo>
                  <a:pt x="69872" y="10175"/>
                  <a:pt x="61064" y="18982"/>
                  <a:pt x="61064" y="29847"/>
                </a:cubicBezTo>
                <a:lnTo>
                  <a:pt x="61064" y="39683"/>
                </a:lnTo>
                <a:cubicBezTo>
                  <a:pt x="61064" y="50548"/>
                  <a:pt x="69872" y="59355"/>
                  <a:pt x="80736" y="59355"/>
                </a:cubicBezTo>
                <a:lnTo>
                  <a:pt x="139753" y="59355"/>
                </a:lnTo>
                <a:cubicBezTo>
                  <a:pt x="150617" y="59355"/>
                  <a:pt x="159425" y="50548"/>
                  <a:pt x="159425" y="39683"/>
                </a:cubicBezTo>
                <a:lnTo>
                  <a:pt x="159425" y="29847"/>
                </a:lnTo>
                <a:cubicBezTo>
                  <a:pt x="159425" y="18982"/>
                  <a:pt x="150617" y="10175"/>
                  <a:pt x="139753" y="10175"/>
                </a:cubicBezTo>
                <a:close/>
                <a:moveTo>
                  <a:pt x="266308" y="190778"/>
                </a:moveTo>
                <a:cubicBezTo>
                  <a:pt x="266341" y="208253"/>
                  <a:pt x="260410" y="225215"/>
                  <a:pt x="249493" y="238862"/>
                </a:cubicBezTo>
                <a:cubicBezTo>
                  <a:pt x="238576" y="252508"/>
                  <a:pt x="223329" y="262018"/>
                  <a:pt x="206272" y="265821"/>
                </a:cubicBezTo>
                <a:cubicBezTo>
                  <a:pt x="189215" y="262018"/>
                  <a:pt x="173968" y="252508"/>
                  <a:pt x="163052" y="238862"/>
                </a:cubicBezTo>
                <a:cubicBezTo>
                  <a:pt x="152135" y="225215"/>
                  <a:pt x="146203" y="208253"/>
                  <a:pt x="146237" y="190778"/>
                </a:cubicBezTo>
                <a:lnTo>
                  <a:pt x="146237" y="160760"/>
                </a:lnTo>
                <a:cubicBezTo>
                  <a:pt x="146237" y="156779"/>
                  <a:pt x="147818" y="152961"/>
                  <a:pt x="150633" y="150147"/>
                </a:cubicBezTo>
                <a:cubicBezTo>
                  <a:pt x="153448" y="147333"/>
                  <a:pt x="157265" y="145751"/>
                  <a:pt x="161246" y="145751"/>
                </a:cubicBezTo>
                <a:lnTo>
                  <a:pt x="251299" y="145751"/>
                </a:lnTo>
                <a:cubicBezTo>
                  <a:pt x="255279" y="145751"/>
                  <a:pt x="259097" y="147333"/>
                  <a:pt x="261911" y="150147"/>
                </a:cubicBezTo>
                <a:cubicBezTo>
                  <a:pt x="264726" y="152961"/>
                  <a:pt x="266308" y="156779"/>
                  <a:pt x="266308" y="160760"/>
                </a:cubicBezTo>
                <a:close/>
                <a:moveTo>
                  <a:pt x="0" y="0"/>
                </a:moveTo>
                <a:moveTo>
                  <a:pt x="180975" y="206846"/>
                </a:moveTo>
                <a:lnTo>
                  <a:pt x="203062" y="223392"/>
                </a:lnTo>
                <a:lnTo>
                  <a:pt x="236233" y="179217"/>
                </a:lnTo>
                <a:moveTo>
                  <a:pt x="159425" y="29849"/>
                </a:moveTo>
                <a:lnTo>
                  <a:pt x="188934" y="29849"/>
                </a:lnTo>
                <a:cubicBezTo>
                  <a:pt x="194152" y="29849"/>
                  <a:pt x="199155" y="31921"/>
                  <a:pt x="202844" y="35610"/>
                </a:cubicBezTo>
                <a:cubicBezTo>
                  <a:pt x="206533" y="39300"/>
                  <a:pt x="208606" y="44303"/>
                  <a:pt x="208606" y="49521"/>
                </a:cubicBezTo>
                <a:lnTo>
                  <a:pt x="208606" y="110728"/>
                </a:lnTo>
              </a:path>
            </a:pathLst>
          </a:custGeom>
          <a:noFill/>
          <a:ln w="11503">
            <a:solidFill>
              <a:srgbClr val="FFFFFF"/>
            </a:solidFill>
          </a:ln>
        </p:spPr>
        <p:txBody>
          <a:bodyPr rtlCol="0" anchor="ctr"/>
          <a:lstStyle/>
          <a:p>
            <a:pPr algn="ctr"/>
            <a:endParaRPr sz="1000"/>
          </a:p>
        </p:txBody>
      </p:sp>
      <p:sp>
        <p:nvSpPr>
          <p:cNvPr id="48" name="Rounded Rectangle 47"/>
          <p:cNvSpPr/>
          <p:nvPr/>
        </p:nvSpPr>
        <p:spPr>
          <a:xfrm>
            <a:off x="3126030" y="3114948"/>
            <a:ext cx="247514" cy="264586"/>
          </a:xfrm>
          <a:custGeom>
            <a:avLst/>
            <a:gdLst/>
            <a:ahLst/>
            <a:cxnLst/>
            <a:rect l="0" t="0" r="0" b="0"/>
            <a:pathLst>
              <a:path w="247514" h="264586">
                <a:moveTo>
                  <a:pt x="54044" y="244132"/>
                </a:moveTo>
                <a:lnTo>
                  <a:pt x="11975" y="244132"/>
                </a:lnTo>
                <a:cubicBezTo>
                  <a:pt x="5361" y="244132"/>
                  <a:pt x="0" y="238770"/>
                  <a:pt x="0" y="232157"/>
                </a:cubicBezTo>
                <a:lnTo>
                  <a:pt x="0" y="11975"/>
                </a:lnTo>
                <a:cubicBezTo>
                  <a:pt x="0" y="5361"/>
                  <a:pt x="5361" y="0"/>
                  <a:pt x="11975" y="0"/>
                </a:cubicBezTo>
                <a:lnTo>
                  <a:pt x="171946" y="0"/>
                </a:lnTo>
                <a:cubicBezTo>
                  <a:pt x="178560" y="0"/>
                  <a:pt x="183921" y="5361"/>
                  <a:pt x="183921" y="11975"/>
                </a:cubicBezTo>
                <a:lnTo>
                  <a:pt x="183921" y="44254"/>
                </a:lnTo>
                <a:moveTo>
                  <a:pt x="105167" y="109688"/>
                </a:moveTo>
                <a:cubicBezTo>
                  <a:pt x="105164" y="94787"/>
                  <a:pt x="117243" y="82707"/>
                  <a:pt x="132143" y="82707"/>
                </a:cubicBezTo>
                <a:cubicBezTo>
                  <a:pt x="147043" y="82707"/>
                  <a:pt x="159122" y="94787"/>
                  <a:pt x="159119" y="109688"/>
                </a:cubicBezTo>
                <a:cubicBezTo>
                  <a:pt x="159122" y="124588"/>
                  <a:pt x="147043" y="136669"/>
                  <a:pt x="132143" y="136669"/>
                </a:cubicBezTo>
                <a:cubicBezTo>
                  <a:pt x="117243" y="136669"/>
                  <a:pt x="105164" y="124588"/>
                  <a:pt x="105167" y="109688"/>
                </a:cubicBezTo>
                <a:moveTo>
                  <a:pt x="189811" y="193723"/>
                </a:moveTo>
                <a:cubicBezTo>
                  <a:pt x="173027" y="137803"/>
                  <a:pt x="89533" y="140667"/>
                  <a:pt x="72795" y="196460"/>
                </a:cubicBezTo>
                <a:moveTo>
                  <a:pt x="37628" y="148375"/>
                </a:moveTo>
                <a:cubicBezTo>
                  <a:pt x="37628" y="200110"/>
                  <a:pt x="79568" y="242050"/>
                  <a:pt x="131303" y="242050"/>
                </a:cubicBezTo>
                <a:cubicBezTo>
                  <a:pt x="183038" y="242050"/>
                  <a:pt x="224978" y="200110"/>
                  <a:pt x="224978" y="148375"/>
                </a:cubicBezTo>
                <a:cubicBezTo>
                  <a:pt x="224978" y="96640"/>
                  <a:pt x="183038" y="54700"/>
                  <a:pt x="131303" y="54700"/>
                </a:cubicBezTo>
                <a:cubicBezTo>
                  <a:pt x="79568" y="54700"/>
                  <a:pt x="37628" y="96640"/>
                  <a:pt x="37628" y="148375"/>
                </a:cubicBezTo>
                <a:moveTo>
                  <a:pt x="197530" y="214613"/>
                </a:moveTo>
                <a:lnTo>
                  <a:pt x="247514" y="264586"/>
                </a:lnTo>
                <a:moveTo>
                  <a:pt x="131303" y="174822"/>
                </a:moveTo>
                <a:lnTo>
                  <a:pt x="131303" y="189765"/>
                </a:lnTo>
                <a:moveTo>
                  <a:pt x="159119" y="109688"/>
                </a:moveTo>
                <a:cubicBezTo>
                  <a:pt x="140023" y="114876"/>
                  <a:pt x="120053" y="109688"/>
                  <a:pt x="112172" y="91627"/>
                </a:cubicBezTo>
              </a:path>
            </a:pathLst>
          </a:custGeom>
          <a:noFill/>
          <a:ln w="11503">
            <a:solidFill>
              <a:srgbClr val="FFFFFF"/>
            </a:solidFill>
          </a:ln>
        </p:spPr>
        <p:txBody>
          <a:bodyPr rtlCol="0" anchor="ctr"/>
          <a:lstStyle/>
          <a:p>
            <a:pPr algn="ctr"/>
            <a:endParaRPr sz="1000"/>
          </a:p>
        </p:txBody>
      </p:sp>
      <p:sp>
        <p:nvSpPr>
          <p:cNvPr id="49" name="Rounded Rectangle 48"/>
          <p:cNvSpPr/>
          <p:nvPr/>
        </p:nvSpPr>
        <p:spPr>
          <a:xfrm>
            <a:off x="5648317" y="3113571"/>
            <a:ext cx="265986" cy="265962"/>
          </a:xfrm>
          <a:custGeom>
            <a:avLst/>
            <a:gdLst/>
            <a:ahLst/>
            <a:cxnLst/>
            <a:rect l="0" t="0" r="0" b="0"/>
            <a:pathLst>
              <a:path w="265986" h="265962">
                <a:moveTo>
                  <a:pt x="49097" y="104910"/>
                </a:moveTo>
                <a:lnTo>
                  <a:pt x="38744" y="72838"/>
                </a:lnTo>
                <a:cubicBezTo>
                  <a:pt x="36799" y="66793"/>
                  <a:pt x="40120" y="60315"/>
                  <a:pt x="46164" y="58366"/>
                </a:cubicBezTo>
                <a:lnTo>
                  <a:pt x="221377" y="1928"/>
                </a:lnTo>
                <a:cubicBezTo>
                  <a:pt x="227419" y="0"/>
                  <a:pt x="233882" y="3324"/>
                  <a:pt x="235826" y="9360"/>
                </a:cubicBezTo>
                <a:lnTo>
                  <a:pt x="264033" y="96949"/>
                </a:lnTo>
                <a:cubicBezTo>
                  <a:pt x="265986" y="102998"/>
                  <a:pt x="262663" y="109484"/>
                  <a:pt x="256613" y="111433"/>
                </a:cubicBezTo>
                <a:lnTo>
                  <a:pt x="195563" y="131092"/>
                </a:lnTo>
                <a:moveTo>
                  <a:pt x="73566" y="49542"/>
                </a:moveTo>
                <a:lnTo>
                  <a:pt x="47579" y="100216"/>
                </a:lnTo>
                <a:moveTo>
                  <a:pt x="244673" y="36727"/>
                </a:moveTo>
                <a:lnTo>
                  <a:pt x="194010" y="10752"/>
                </a:lnTo>
                <a:moveTo>
                  <a:pt x="255256" y="69582"/>
                </a:moveTo>
                <a:lnTo>
                  <a:pt x="229281" y="120244"/>
                </a:lnTo>
                <a:moveTo>
                  <a:pt x="164319" y="104910"/>
                </a:moveTo>
                <a:lnTo>
                  <a:pt x="171141" y="102713"/>
                </a:lnTo>
                <a:cubicBezTo>
                  <a:pt x="175810" y="101221"/>
                  <a:pt x="178629" y="96475"/>
                  <a:pt x="177705" y="91661"/>
                </a:cubicBezTo>
                <a:cubicBezTo>
                  <a:pt x="176782" y="86847"/>
                  <a:pt x="172407" y="83482"/>
                  <a:pt x="167517" y="83824"/>
                </a:cubicBezTo>
                <a:lnTo>
                  <a:pt x="135307" y="85975"/>
                </a:lnTo>
                <a:cubicBezTo>
                  <a:pt x="130416" y="86317"/>
                  <a:pt x="126042" y="82951"/>
                  <a:pt x="125118" y="78137"/>
                </a:cubicBezTo>
                <a:cubicBezTo>
                  <a:pt x="124195" y="73323"/>
                  <a:pt x="127013" y="68578"/>
                  <a:pt x="131683" y="67086"/>
                </a:cubicBezTo>
                <a:lnTo>
                  <a:pt x="166263" y="55939"/>
                </a:lnTo>
                <a:moveTo>
                  <a:pt x="144360" y="63002"/>
                </a:moveTo>
                <a:lnTo>
                  <a:pt x="140840" y="52050"/>
                </a:lnTo>
                <a:moveTo>
                  <a:pt x="195563" y="208444"/>
                </a:moveTo>
                <a:lnTo>
                  <a:pt x="195563" y="242955"/>
                </a:lnTo>
                <a:cubicBezTo>
                  <a:pt x="195563" y="255662"/>
                  <a:pt x="185262" y="265962"/>
                  <a:pt x="172556" y="265962"/>
                </a:cubicBezTo>
                <a:lnTo>
                  <a:pt x="23007" y="265962"/>
                </a:lnTo>
                <a:cubicBezTo>
                  <a:pt x="10300" y="265962"/>
                  <a:pt x="0" y="255662"/>
                  <a:pt x="0" y="242955"/>
                </a:cubicBezTo>
                <a:lnTo>
                  <a:pt x="0" y="127917"/>
                </a:lnTo>
                <a:cubicBezTo>
                  <a:pt x="0" y="115211"/>
                  <a:pt x="10300" y="104910"/>
                  <a:pt x="23007" y="104910"/>
                </a:cubicBezTo>
                <a:lnTo>
                  <a:pt x="172556" y="104910"/>
                </a:lnTo>
                <a:cubicBezTo>
                  <a:pt x="185262" y="104910"/>
                  <a:pt x="195563" y="115211"/>
                  <a:pt x="195563" y="127917"/>
                </a:cubicBezTo>
                <a:lnTo>
                  <a:pt x="195563" y="162429"/>
                </a:lnTo>
                <a:moveTo>
                  <a:pt x="34557" y="104910"/>
                </a:moveTo>
                <a:lnTo>
                  <a:pt x="34557" y="265962"/>
                </a:lnTo>
                <a:moveTo>
                  <a:pt x="155300" y="162429"/>
                </a:moveTo>
                <a:cubicBezTo>
                  <a:pt x="142593" y="162429"/>
                  <a:pt x="132293" y="172729"/>
                  <a:pt x="132293" y="185436"/>
                </a:cubicBezTo>
                <a:cubicBezTo>
                  <a:pt x="132293" y="198143"/>
                  <a:pt x="142593" y="208444"/>
                  <a:pt x="155300" y="208444"/>
                </a:cubicBezTo>
                <a:lnTo>
                  <a:pt x="195563" y="208444"/>
                </a:lnTo>
                <a:cubicBezTo>
                  <a:pt x="201916" y="208444"/>
                  <a:pt x="207067" y="203293"/>
                  <a:pt x="207067" y="196940"/>
                </a:cubicBezTo>
                <a:lnTo>
                  <a:pt x="207067" y="173932"/>
                </a:lnTo>
                <a:cubicBezTo>
                  <a:pt x="207067" y="167579"/>
                  <a:pt x="201916" y="162429"/>
                  <a:pt x="195563" y="162429"/>
                </a:cubicBezTo>
                <a:close/>
                <a:moveTo>
                  <a:pt x="181229" y="182560"/>
                </a:moveTo>
                <a:cubicBezTo>
                  <a:pt x="182818" y="182560"/>
                  <a:pt x="184105" y="183848"/>
                  <a:pt x="184105" y="185436"/>
                </a:cubicBezTo>
                <a:cubicBezTo>
                  <a:pt x="184105" y="187025"/>
                  <a:pt x="182818" y="188312"/>
                  <a:pt x="181229" y="188312"/>
                </a:cubicBezTo>
                <a:cubicBezTo>
                  <a:pt x="179641" y="188312"/>
                  <a:pt x="178354" y="187025"/>
                  <a:pt x="178354" y="185436"/>
                </a:cubicBezTo>
                <a:cubicBezTo>
                  <a:pt x="178354" y="183848"/>
                  <a:pt x="179641" y="182560"/>
                  <a:pt x="181229" y="182560"/>
                </a:cubicBezTo>
              </a:path>
            </a:pathLst>
          </a:custGeom>
          <a:noFill/>
          <a:ln w="11503">
            <a:solidFill>
              <a:srgbClr val="FFFFFF"/>
            </a:solidFill>
          </a:ln>
        </p:spPr>
        <p:txBody>
          <a:bodyPr rtlCol="0" anchor="ctr"/>
          <a:lstStyle/>
          <a:p>
            <a:pPr algn="ctr"/>
            <a:endParaRPr sz="1000"/>
          </a:p>
        </p:txBody>
      </p:sp>
      <p:sp>
        <p:nvSpPr>
          <p:cNvPr id="50" name="Rounded Rectangle 49"/>
          <p:cNvSpPr/>
          <p:nvPr/>
        </p:nvSpPr>
        <p:spPr>
          <a:xfrm>
            <a:off x="4250612" y="3396759"/>
            <a:ext cx="529172" cy="529172"/>
          </a:xfrm>
          <a:custGeom>
            <a:avLst/>
            <a:gdLst/>
            <a:ahLst/>
            <a:cxnLst/>
            <a:rect l="0" t="0" r="0" b="0"/>
            <a:pathLst>
              <a:path w="529172" h="529172">
                <a:moveTo>
                  <a:pt x="253082" y="414134"/>
                </a:moveTo>
                <a:lnTo>
                  <a:pt x="322104" y="414134"/>
                </a:lnTo>
                <a:cubicBezTo>
                  <a:pt x="372931" y="414134"/>
                  <a:pt x="414134" y="455337"/>
                  <a:pt x="414134" y="506164"/>
                </a:cubicBezTo>
                <a:lnTo>
                  <a:pt x="0" y="506164"/>
                </a:lnTo>
                <a:moveTo>
                  <a:pt x="0" y="322104"/>
                </a:moveTo>
                <a:lnTo>
                  <a:pt x="161052" y="322104"/>
                </a:lnTo>
                <a:cubicBezTo>
                  <a:pt x="211879" y="322104"/>
                  <a:pt x="253082" y="363307"/>
                  <a:pt x="253082" y="414134"/>
                </a:cubicBezTo>
                <a:lnTo>
                  <a:pt x="149548" y="414134"/>
                </a:lnTo>
                <a:moveTo>
                  <a:pt x="0" y="299097"/>
                </a:moveTo>
                <a:lnTo>
                  <a:pt x="0" y="529172"/>
                </a:lnTo>
                <a:moveTo>
                  <a:pt x="529172" y="103533"/>
                </a:moveTo>
                <a:cubicBezTo>
                  <a:pt x="529172" y="97180"/>
                  <a:pt x="524021" y="92029"/>
                  <a:pt x="517668" y="92029"/>
                </a:cubicBezTo>
                <a:lnTo>
                  <a:pt x="437142" y="92029"/>
                </a:lnTo>
                <a:lnTo>
                  <a:pt x="437142" y="11503"/>
                </a:lnTo>
                <a:cubicBezTo>
                  <a:pt x="437142" y="5150"/>
                  <a:pt x="431991" y="0"/>
                  <a:pt x="425638" y="0"/>
                </a:cubicBezTo>
                <a:lnTo>
                  <a:pt x="356616" y="0"/>
                </a:lnTo>
                <a:cubicBezTo>
                  <a:pt x="350262" y="0"/>
                  <a:pt x="345112" y="5150"/>
                  <a:pt x="345112" y="11503"/>
                </a:cubicBezTo>
                <a:lnTo>
                  <a:pt x="345112" y="92029"/>
                </a:lnTo>
                <a:lnTo>
                  <a:pt x="264586" y="92029"/>
                </a:lnTo>
                <a:cubicBezTo>
                  <a:pt x="258232" y="92029"/>
                  <a:pt x="253082" y="97180"/>
                  <a:pt x="253082" y="103533"/>
                </a:cubicBezTo>
                <a:lnTo>
                  <a:pt x="253082" y="172556"/>
                </a:lnTo>
                <a:cubicBezTo>
                  <a:pt x="253082" y="178909"/>
                  <a:pt x="258232" y="184059"/>
                  <a:pt x="264586" y="184059"/>
                </a:cubicBezTo>
                <a:lnTo>
                  <a:pt x="345112" y="184059"/>
                </a:lnTo>
                <a:lnTo>
                  <a:pt x="345112" y="264586"/>
                </a:lnTo>
                <a:cubicBezTo>
                  <a:pt x="345112" y="270939"/>
                  <a:pt x="350262" y="276089"/>
                  <a:pt x="356616" y="276089"/>
                </a:cubicBezTo>
                <a:lnTo>
                  <a:pt x="425638" y="276089"/>
                </a:lnTo>
                <a:cubicBezTo>
                  <a:pt x="431991" y="276089"/>
                  <a:pt x="437142" y="270939"/>
                  <a:pt x="437142" y="264586"/>
                </a:cubicBezTo>
                <a:lnTo>
                  <a:pt x="437142" y="184059"/>
                </a:lnTo>
                <a:lnTo>
                  <a:pt x="517668" y="184059"/>
                </a:lnTo>
                <a:cubicBezTo>
                  <a:pt x="524021" y="184059"/>
                  <a:pt x="529172" y="178909"/>
                  <a:pt x="529172" y="172556"/>
                </a:cubicBezTo>
                <a:close/>
              </a:path>
            </a:pathLst>
          </a:custGeom>
          <a:noFill/>
          <a:ln w="11503">
            <a:solidFill>
              <a:srgbClr val="FFFFFF"/>
            </a:solidFill>
          </a:ln>
        </p:spPr>
        <p:txBody>
          <a:bodyPr rtlCol="0" anchor="ctr"/>
          <a:lstStyle/>
          <a:p>
            <a:pPr algn="ctr"/>
            <a:endParaRPr sz="1000"/>
          </a:p>
        </p:txBody>
      </p:sp>
      <p:sp>
        <p:nvSpPr>
          <p:cNvPr id="51" name="Rounded Rectangle 50"/>
          <p:cNvSpPr/>
          <p:nvPr/>
        </p:nvSpPr>
        <p:spPr>
          <a:xfrm>
            <a:off x="3146253" y="3943217"/>
            <a:ext cx="207067" cy="264586"/>
          </a:xfrm>
          <a:custGeom>
            <a:avLst/>
            <a:gdLst/>
            <a:ahLst/>
            <a:cxnLst/>
            <a:rect l="0" t="0" r="0" b="0"/>
            <a:pathLst>
              <a:path w="207067" h="264586">
                <a:moveTo>
                  <a:pt x="161052" y="207067"/>
                </a:moveTo>
                <a:cubicBezTo>
                  <a:pt x="161052" y="219774"/>
                  <a:pt x="171353" y="230074"/>
                  <a:pt x="184059" y="230074"/>
                </a:cubicBezTo>
                <a:cubicBezTo>
                  <a:pt x="196766" y="230074"/>
                  <a:pt x="207067" y="219774"/>
                  <a:pt x="207067" y="207067"/>
                </a:cubicBezTo>
                <a:cubicBezTo>
                  <a:pt x="207067" y="194360"/>
                  <a:pt x="196766" y="184059"/>
                  <a:pt x="184059" y="184059"/>
                </a:cubicBezTo>
                <a:cubicBezTo>
                  <a:pt x="171353" y="184059"/>
                  <a:pt x="161052" y="194360"/>
                  <a:pt x="161052" y="207067"/>
                </a:cubicBezTo>
                <a:moveTo>
                  <a:pt x="86278" y="195563"/>
                </a:moveTo>
                <a:lnTo>
                  <a:pt x="86278" y="241578"/>
                </a:lnTo>
                <a:cubicBezTo>
                  <a:pt x="86278" y="254285"/>
                  <a:pt x="96578" y="264586"/>
                  <a:pt x="109285" y="264586"/>
                </a:cubicBezTo>
                <a:cubicBezTo>
                  <a:pt x="121992" y="264586"/>
                  <a:pt x="132293" y="254285"/>
                  <a:pt x="132293" y="241578"/>
                </a:cubicBezTo>
                <a:lnTo>
                  <a:pt x="132293" y="235826"/>
                </a:lnTo>
                <a:cubicBezTo>
                  <a:pt x="132293" y="219943"/>
                  <a:pt x="145169" y="207067"/>
                  <a:pt x="161052" y="207067"/>
                </a:cubicBezTo>
                <a:moveTo>
                  <a:pt x="86278" y="112161"/>
                </a:moveTo>
                <a:cubicBezTo>
                  <a:pt x="87866" y="112161"/>
                  <a:pt x="89154" y="113449"/>
                  <a:pt x="89154" y="115037"/>
                </a:cubicBezTo>
                <a:moveTo>
                  <a:pt x="83402" y="115037"/>
                </a:moveTo>
                <a:cubicBezTo>
                  <a:pt x="83402" y="113449"/>
                  <a:pt x="84689" y="112161"/>
                  <a:pt x="86278" y="112161"/>
                </a:cubicBezTo>
                <a:moveTo>
                  <a:pt x="83402" y="115037"/>
                </a:moveTo>
                <a:cubicBezTo>
                  <a:pt x="83402" y="116625"/>
                  <a:pt x="84689" y="117913"/>
                  <a:pt x="86278" y="117913"/>
                </a:cubicBezTo>
                <a:moveTo>
                  <a:pt x="86278" y="117913"/>
                </a:moveTo>
                <a:cubicBezTo>
                  <a:pt x="87866" y="117913"/>
                  <a:pt x="89154" y="116625"/>
                  <a:pt x="89154" y="115037"/>
                </a:cubicBezTo>
                <a:moveTo>
                  <a:pt x="46014" y="0"/>
                </a:moveTo>
                <a:lnTo>
                  <a:pt x="126541" y="0"/>
                </a:lnTo>
                <a:cubicBezTo>
                  <a:pt x="126541" y="0"/>
                  <a:pt x="138044" y="0"/>
                  <a:pt x="138044" y="11503"/>
                </a:cubicBezTo>
                <a:lnTo>
                  <a:pt x="138044" y="138044"/>
                </a:lnTo>
                <a:cubicBezTo>
                  <a:pt x="138044" y="138044"/>
                  <a:pt x="138044" y="149548"/>
                  <a:pt x="126541" y="149548"/>
                </a:cubicBezTo>
                <a:lnTo>
                  <a:pt x="46014" y="149548"/>
                </a:lnTo>
                <a:cubicBezTo>
                  <a:pt x="46014" y="149548"/>
                  <a:pt x="34511" y="149548"/>
                  <a:pt x="34511" y="138044"/>
                </a:cubicBezTo>
                <a:lnTo>
                  <a:pt x="34511" y="11503"/>
                </a:lnTo>
                <a:cubicBezTo>
                  <a:pt x="34511" y="11503"/>
                  <a:pt x="34511" y="0"/>
                  <a:pt x="46014" y="0"/>
                </a:cubicBezTo>
                <a:moveTo>
                  <a:pt x="161052" y="57518"/>
                </a:moveTo>
                <a:cubicBezTo>
                  <a:pt x="167405" y="57518"/>
                  <a:pt x="172556" y="62669"/>
                  <a:pt x="172556" y="69022"/>
                </a:cubicBezTo>
                <a:lnTo>
                  <a:pt x="172556" y="109285"/>
                </a:lnTo>
                <a:cubicBezTo>
                  <a:pt x="172556" y="156935"/>
                  <a:pt x="133928" y="195563"/>
                  <a:pt x="86278" y="195563"/>
                </a:cubicBezTo>
                <a:cubicBezTo>
                  <a:pt x="38628" y="195563"/>
                  <a:pt x="0" y="156935"/>
                  <a:pt x="0" y="109285"/>
                </a:cubicBezTo>
                <a:lnTo>
                  <a:pt x="0" y="69022"/>
                </a:lnTo>
                <a:cubicBezTo>
                  <a:pt x="0" y="62669"/>
                  <a:pt x="5150" y="57518"/>
                  <a:pt x="11503" y="57518"/>
                </a:cubicBezTo>
              </a:path>
            </a:pathLst>
          </a:custGeom>
          <a:noFill/>
          <a:ln w="11503">
            <a:solidFill>
              <a:srgbClr val="FFFFFF"/>
            </a:solidFill>
          </a:ln>
        </p:spPr>
        <p:txBody>
          <a:bodyPr rtlCol="0" anchor="ctr"/>
          <a:lstStyle/>
          <a:p>
            <a:pPr algn="ctr"/>
            <a:endParaRPr sz="1000"/>
          </a:p>
        </p:txBody>
      </p:sp>
      <p:sp>
        <p:nvSpPr>
          <p:cNvPr id="52" name="Rounded Rectangle 51"/>
          <p:cNvSpPr/>
          <p:nvPr/>
        </p:nvSpPr>
        <p:spPr>
          <a:xfrm>
            <a:off x="5652964" y="3943217"/>
            <a:ext cx="255292" cy="264586"/>
          </a:xfrm>
          <a:custGeom>
            <a:avLst/>
            <a:gdLst/>
            <a:ahLst/>
            <a:cxnLst/>
            <a:rect l="0" t="0" r="0" b="0"/>
            <a:pathLst>
              <a:path w="255292" h="264586">
                <a:moveTo>
                  <a:pt x="251599" y="93916"/>
                </a:moveTo>
                <a:cubicBezTo>
                  <a:pt x="254350" y="92328"/>
                  <a:pt x="255292" y="88810"/>
                  <a:pt x="253704" y="86059"/>
                </a:cubicBezTo>
                <a:lnTo>
                  <a:pt x="230696" y="46210"/>
                </a:lnTo>
                <a:cubicBezTo>
                  <a:pt x="229943" y="44897"/>
                  <a:pt x="228703" y="43934"/>
                  <a:pt x="227245" y="43530"/>
                </a:cubicBezTo>
                <a:cubicBezTo>
                  <a:pt x="225773" y="43136"/>
                  <a:pt x="224205" y="43343"/>
                  <a:pt x="222885" y="44105"/>
                </a:cubicBezTo>
                <a:lnTo>
                  <a:pt x="156405" y="82470"/>
                </a:lnTo>
                <a:lnTo>
                  <a:pt x="156405" y="5751"/>
                </a:lnTo>
                <a:cubicBezTo>
                  <a:pt x="156405" y="2575"/>
                  <a:pt x="153830" y="0"/>
                  <a:pt x="150653" y="0"/>
                </a:cubicBezTo>
                <a:lnTo>
                  <a:pt x="104638" y="0"/>
                </a:lnTo>
                <a:cubicBezTo>
                  <a:pt x="101462" y="0"/>
                  <a:pt x="98886" y="2575"/>
                  <a:pt x="98886" y="5751"/>
                </a:cubicBezTo>
                <a:lnTo>
                  <a:pt x="98886" y="82458"/>
                </a:lnTo>
                <a:lnTo>
                  <a:pt x="32452" y="44105"/>
                </a:lnTo>
                <a:cubicBezTo>
                  <a:pt x="29701" y="42517"/>
                  <a:pt x="26184" y="43459"/>
                  <a:pt x="24595" y="46210"/>
                </a:cubicBezTo>
                <a:lnTo>
                  <a:pt x="1588" y="86059"/>
                </a:lnTo>
                <a:cubicBezTo>
                  <a:pt x="0" y="88810"/>
                  <a:pt x="942" y="92328"/>
                  <a:pt x="3693" y="93916"/>
                </a:cubicBezTo>
                <a:lnTo>
                  <a:pt x="70127" y="132293"/>
                </a:lnTo>
                <a:lnTo>
                  <a:pt x="3693" y="170646"/>
                </a:lnTo>
                <a:cubicBezTo>
                  <a:pt x="942" y="172234"/>
                  <a:pt x="0" y="175752"/>
                  <a:pt x="1588" y="178503"/>
                </a:cubicBezTo>
                <a:lnTo>
                  <a:pt x="24595" y="218352"/>
                </a:lnTo>
                <a:cubicBezTo>
                  <a:pt x="26184" y="221103"/>
                  <a:pt x="29701" y="222045"/>
                  <a:pt x="32452" y="220457"/>
                </a:cubicBezTo>
                <a:lnTo>
                  <a:pt x="98886" y="182092"/>
                </a:lnTo>
                <a:lnTo>
                  <a:pt x="98886" y="258834"/>
                </a:lnTo>
                <a:cubicBezTo>
                  <a:pt x="98886" y="262010"/>
                  <a:pt x="101462" y="264586"/>
                  <a:pt x="104638" y="264586"/>
                </a:cubicBezTo>
                <a:lnTo>
                  <a:pt x="150653" y="264586"/>
                </a:lnTo>
                <a:cubicBezTo>
                  <a:pt x="153830" y="264586"/>
                  <a:pt x="156405" y="262010"/>
                  <a:pt x="156405" y="258834"/>
                </a:cubicBezTo>
                <a:lnTo>
                  <a:pt x="156405" y="182092"/>
                </a:lnTo>
                <a:lnTo>
                  <a:pt x="222851" y="220457"/>
                </a:lnTo>
                <a:cubicBezTo>
                  <a:pt x="224170" y="221219"/>
                  <a:pt x="225739" y="221426"/>
                  <a:pt x="227211" y="221032"/>
                </a:cubicBezTo>
                <a:cubicBezTo>
                  <a:pt x="228669" y="220628"/>
                  <a:pt x="229909" y="219665"/>
                  <a:pt x="230662" y="218352"/>
                </a:cubicBezTo>
                <a:lnTo>
                  <a:pt x="253669" y="178503"/>
                </a:lnTo>
                <a:cubicBezTo>
                  <a:pt x="255258" y="175752"/>
                  <a:pt x="254315" y="172234"/>
                  <a:pt x="251564" y="170646"/>
                </a:cubicBezTo>
                <a:lnTo>
                  <a:pt x="185164" y="132293"/>
                </a:lnTo>
                <a:close/>
              </a:path>
            </a:pathLst>
          </a:custGeom>
          <a:noFill/>
          <a:ln w="11503">
            <a:solidFill>
              <a:srgbClr val="FFFFFF"/>
            </a:solidFill>
          </a:ln>
        </p:spPr>
        <p:txBody>
          <a:bodyPr rtlCol="0" anchor="ctr"/>
          <a:lstStyle/>
          <a:p>
            <a:pPr algn="ctr"/>
            <a:endParaRPr sz="1000"/>
          </a:p>
        </p:txBody>
      </p:sp>
      <p:sp>
        <p:nvSpPr>
          <p:cNvPr id="53" name="Rounded Rectangle 52"/>
          <p:cNvSpPr/>
          <p:nvPr/>
        </p:nvSpPr>
        <p:spPr>
          <a:xfrm>
            <a:off x="3600651" y="4610434"/>
            <a:ext cx="264586" cy="264586"/>
          </a:xfrm>
          <a:custGeom>
            <a:avLst/>
            <a:gdLst/>
            <a:ahLst/>
            <a:cxnLst/>
            <a:rect l="0" t="0" r="0" b="0"/>
            <a:pathLst>
              <a:path w="264586" h="264586">
                <a:moveTo>
                  <a:pt x="57518" y="74774"/>
                </a:moveTo>
                <a:cubicBezTo>
                  <a:pt x="57518" y="116071"/>
                  <a:pt x="90996" y="149548"/>
                  <a:pt x="132293" y="149548"/>
                </a:cubicBezTo>
                <a:cubicBezTo>
                  <a:pt x="173589" y="149548"/>
                  <a:pt x="207067" y="116071"/>
                  <a:pt x="207067" y="74774"/>
                </a:cubicBezTo>
                <a:cubicBezTo>
                  <a:pt x="207067" y="33477"/>
                  <a:pt x="173589" y="0"/>
                  <a:pt x="132293" y="0"/>
                </a:cubicBezTo>
                <a:cubicBezTo>
                  <a:pt x="90996" y="0"/>
                  <a:pt x="57518" y="33477"/>
                  <a:pt x="57518" y="74774"/>
                </a:cubicBezTo>
                <a:close/>
                <a:moveTo>
                  <a:pt x="172556" y="34545"/>
                </a:moveTo>
                <a:lnTo>
                  <a:pt x="172556" y="34545"/>
                </a:lnTo>
                <a:cubicBezTo>
                  <a:pt x="165191" y="41911"/>
                  <a:pt x="161054" y="51900"/>
                  <a:pt x="161052" y="62315"/>
                </a:cubicBezTo>
                <a:lnTo>
                  <a:pt x="161052" y="66917"/>
                </a:lnTo>
                <a:cubicBezTo>
                  <a:pt x="161052" y="77609"/>
                  <a:pt x="152384" y="86278"/>
                  <a:pt x="141691" y="86278"/>
                </a:cubicBezTo>
                <a:lnTo>
                  <a:pt x="122894" y="86278"/>
                </a:lnTo>
                <a:cubicBezTo>
                  <a:pt x="117753" y="86278"/>
                  <a:pt x="112823" y="84233"/>
                  <a:pt x="109192" y="80595"/>
                </a:cubicBezTo>
                <a:cubicBezTo>
                  <a:pt x="105560" y="76956"/>
                  <a:pt x="103524" y="72023"/>
                  <a:pt x="103533" y="66882"/>
                </a:cubicBezTo>
                <a:lnTo>
                  <a:pt x="103533" y="62281"/>
                </a:lnTo>
                <a:cubicBezTo>
                  <a:pt x="103532" y="51865"/>
                  <a:pt x="99394" y="41876"/>
                  <a:pt x="92029" y="34511"/>
                </a:cubicBezTo>
                <a:lnTo>
                  <a:pt x="92029" y="34511"/>
                </a:lnTo>
                <a:moveTo>
                  <a:pt x="132293" y="120789"/>
                </a:moveTo>
                <a:lnTo>
                  <a:pt x="132293" y="34511"/>
                </a:lnTo>
                <a:moveTo>
                  <a:pt x="149548" y="120789"/>
                </a:moveTo>
                <a:lnTo>
                  <a:pt x="115037" y="120789"/>
                </a:lnTo>
                <a:moveTo>
                  <a:pt x="143796" y="34511"/>
                </a:moveTo>
                <a:lnTo>
                  <a:pt x="120789" y="34511"/>
                </a:lnTo>
                <a:moveTo>
                  <a:pt x="0" y="264586"/>
                </a:moveTo>
                <a:lnTo>
                  <a:pt x="57518" y="264586"/>
                </a:lnTo>
                <a:cubicBezTo>
                  <a:pt x="70225" y="264586"/>
                  <a:pt x="80526" y="254285"/>
                  <a:pt x="80526" y="241578"/>
                </a:cubicBezTo>
                <a:lnTo>
                  <a:pt x="80526" y="218571"/>
                </a:lnTo>
                <a:cubicBezTo>
                  <a:pt x="80526" y="205864"/>
                  <a:pt x="70225" y="195563"/>
                  <a:pt x="57518" y="195563"/>
                </a:cubicBezTo>
                <a:lnTo>
                  <a:pt x="0" y="195563"/>
                </a:lnTo>
                <a:moveTo>
                  <a:pt x="57518" y="264586"/>
                </a:moveTo>
                <a:lnTo>
                  <a:pt x="247330" y="264586"/>
                </a:lnTo>
                <a:cubicBezTo>
                  <a:pt x="259984" y="264586"/>
                  <a:pt x="264586" y="254290"/>
                  <a:pt x="264586" y="241578"/>
                </a:cubicBezTo>
                <a:lnTo>
                  <a:pt x="264586" y="218571"/>
                </a:lnTo>
                <a:cubicBezTo>
                  <a:pt x="264586" y="205916"/>
                  <a:pt x="259984" y="195563"/>
                  <a:pt x="247330" y="195563"/>
                </a:cubicBezTo>
                <a:lnTo>
                  <a:pt x="57518" y="195563"/>
                </a:lnTo>
                <a:moveTo>
                  <a:pt x="218571" y="264586"/>
                </a:moveTo>
                <a:lnTo>
                  <a:pt x="218571" y="195563"/>
                </a:lnTo>
                <a:moveTo>
                  <a:pt x="195563" y="264586"/>
                </a:moveTo>
                <a:lnTo>
                  <a:pt x="195563" y="195563"/>
                </a:lnTo>
                <a:moveTo>
                  <a:pt x="149548" y="264586"/>
                </a:moveTo>
                <a:lnTo>
                  <a:pt x="149548" y="195563"/>
                </a:lnTo>
                <a:moveTo>
                  <a:pt x="126541" y="264586"/>
                </a:moveTo>
                <a:lnTo>
                  <a:pt x="126541" y="195563"/>
                </a:lnTo>
                <a:moveTo>
                  <a:pt x="57518" y="241578"/>
                </a:moveTo>
                <a:lnTo>
                  <a:pt x="11503" y="241578"/>
                </a:lnTo>
                <a:moveTo>
                  <a:pt x="57518" y="218571"/>
                </a:moveTo>
                <a:lnTo>
                  <a:pt x="11503" y="218571"/>
                </a:lnTo>
              </a:path>
            </a:pathLst>
          </a:custGeom>
          <a:noFill/>
          <a:ln w="11503">
            <a:solidFill>
              <a:srgbClr val="FFFFFF"/>
            </a:solidFill>
          </a:ln>
        </p:spPr>
        <p:txBody>
          <a:bodyPr rtlCol="0" anchor="ctr"/>
          <a:lstStyle/>
          <a:p>
            <a:pPr algn="ctr"/>
            <a:endParaRPr sz="1000"/>
          </a:p>
        </p:txBody>
      </p:sp>
      <p:sp>
        <p:nvSpPr>
          <p:cNvPr id="54" name="Rounded Rectangle 53"/>
          <p:cNvSpPr/>
          <p:nvPr/>
        </p:nvSpPr>
        <p:spPr>
          <a:xfrm>
            <a:off x="5165160" y="4627690"/>
            <a:ext cx="264586" cy="230077"/>
          </a:xfrm>
          <a:custGeom>
            <a:avLst/>
            <a:gdLst/>
            <a:ahLst/>
            <a:cxnLst/>
            <a:rect l="0" t="0" r="0" b="0"/>
            <a:pathLst>
              <a:path w="264586" h="230077">
                <a:moveTo>
                  <a:pt x="127818" y="175052"/>
                </a:moveTo>
                <a:cubicBezTo>
                  <a:pt x="128910" y="173700"/>
                  <a:pt x="130554" y="172914"/>
                  <a:pt x="132293" y="172914"/>
                </a:cubicBezTo>
                <a:cubicBezTo>
                  <a:pt x="134031" y="172914"/>
                  <a:pt x="135676" y="173700"/>
                  <a:pt x="136767" y="175052"/>
                </a:cubicBezTo>
                <a:lnTo>
                  <a:pt x="173579" y="220699"/>
                </a:lnTo>
                <a:cubicBezTo>
                  <a:pt x="174978" y="222422"/>
                  <a:pt x="175260" y="224797"/>
                  <a:pt x="174303" y="226800"/>
                </a:cubicBezTo>
                <a:cubicBezTo>
                  <a:pt x="173347" y="228803"/>
                  <a:pt x="171324" y="230077"/>
                  <a:pt x="169104" y="230074"/>
                </a:cubicBezTo>
                <a:lnTo>
                  <a:pt x="95481" y="230074"/>
                </a:lnTo>
                <a:cubicBezTo>
                  <a:pt x="93261" y="230077"/>
                  <a:pt x="91238" y="228803"/>
                  <a:pt x="90282" y="226800"/>
                </a:cubicBezTo>
                <a:cubicBezTo>
                  <a:pt x="89325" y="224797"/>
                  <a:pt x="89607" y="222422"/>
                  <a:pt x="91006" y="220699"/>
                </a:cubicBezTo>
                <a:close/>
                <a:moveTo>
                  <a:pt x="264586" y="126541"/>
                </a:moveTo>
                <a:lnTo>
                  <a:pt x="0" y="218571"/>
                </a:lnTo>
                <a:moveTo>
                  <a:pt x="264586" y="40263"/>
                </a:moveTo>
                <a:cubicBezTo>
                  <a:pt x="264586" y="37086"/>
                  <a:pt x="262010" y="34511"/>
                  <a:pt x="258834" y="34511"/>
                </a:cubicBezTo>
                <a:lnTo>
                  <a:pt x="235826" y="34511"/>
                </a:lnTo>
                <a:cubicBezTo>
                  <a:pt x="232650" y="34511"/>
                  <a:pt x="230074" y="31936"/>
                  <a:pt x="230074" y="28759"/>
                </a:cubicBezTo>
                <a:lnTo>
                  <a:pt x="230074" y="5751"/>
                </a:lnTo>
                <a:cubicBezTo>
                  <a:pt x="230074" y="2575"/>
                  <a:pt x="227499" y="0"/>
                  <a:pt x="224322" y="0"/>
                </a:cubicBezTo>
                <a:lnTo>
                  <a:pt x="189811" y="0"/>
                </a:lnTo>
                <a:cubicBezTo>
                  <a:pt x="186635" y="0"/>
                  <a:pt x="184059" y="2575"/>
                  <a:pt x="184059" y="5751"/>
                </a:cubicBezTo>
                <a:lnTo>
                  <a:pt x="184059" y="28759"/>
                </a:lnTo>
                <a:cubicBezTo>
                  <a:pt x="184059" y="31936"/>
                  <a:pt x="181484" y="34511"/>
                  <a:pt x="178308" y="34511"/>
                </a:cubicBezTo>
                <a:lnTo>
                  <a:pt x="155300" y="34511"/>
                </a:lnTo>
                <a:cubicBezTo>
                  <a:pt x="152123" y="34511"/>
                  <a:pt x="149548" y="37086"/>
                  <a:pt x="149548" y="40263"/>
                </a:cubicBezTo>
                <a:lnTo>
                  <a:pt x="149548" y="74774"/>
                </a:lnTo>
                <a:cubicBezTo>
                  <a:pt x="149548" y="77950"/>
                  <a:pt x="152123" y="80526"/>
                  <a:pt x="155300" y="80526"/>
                </a:cubicBezTo>
                <a:lnTo>
                  <a:pt x="184059" y="80526"/>
                </a:lnTo>
                <a:lnTo>
                  <a:pt x="184059" y="109285"/>
                </a:lnTo>
                <a:cubicBezTo>
                  <a:pt x="184059" y="112462"/>
                  <a:pt x="186635" y="115037"/>
                  <a:pt x="189811" y="115037"/>
                </a:cubicBezTo>
                <a:lnTo>
                  <a:pt x="224322" y="115037"/>
                </a:lnTo>
                <a:cubicBezTo>
                  <a:pt x="227499" y="115037"/>
                  <a:pt x="230074" y="112462"/>
                  <a:pt x="230074" y="109285"/>
                </a:cubicBezTo>
                <a:lnTo>
                  <a:pt x="230074" y="80526"/>
                </a:lnTo>
                <a:lnTo>
                  <a:pt x="258834" y="80526"/>
                </a:lnTo>
                <a:cubicBezTo>
                  <a:pt x="262010" y="80526"/>
                  <a:pt x="264586" y="77950"/>
                  <a:pt x="264586" y="74774"/>
                </a:cubicBezTo>
                <a:close/>
                <a:moveTo>
                  <a:pt x="0" y="109285"/>
                </a:moveTo>
                <a:cubicBezTo>
                  <a:pt x="0" y="141052"/>
                  <a:pt x="25752" y="166804"/>
                  <a:pt x="57518" y="166804"/>
                </a:cubicBezTo>
                <a:cubicBezTo>
                  <a:pt x="89285" y="166804"/>
                  <a:pt x="115037" y="141052"/>
                  <a:pt x="115037" y="109285"/>
                </a:cubicBezTo>
                <a:cubicBezTo>
                  <a:pt x="115037" y="77518"/>
                  <a:pt x="89285" y="51766"/>
                  <a:pt x="57518" y="51766"/>
                </a:cubicBezTo>
                <a:cubicBezTo>
                  <a:pt x="25752" y="51766"/>
                  <a:pt x="0" y="77518"/>
                  <a:pt x="0" y="109285"/>
                </a:cubicBezTo>
                <a:close/>
                <a:moveTo>
                  <a:pt x="57518" y="143796"/>
                </a:moveTo>
                <a:lnTo>
                  <a:pt x="57518" y="132293"/>
                </a:lnTo>
                <a:moveTo>
                  <a:pt x="57518" y="86278"/>
                </a:moveTo>
                <a:lnTo>
                  <a:pt x="57518" y="74774"/>
                </a:lnTo>
                <a:moveTo>
                  <a:pt x="80526" y="86278"/>
                </a:moveTo>
                <a:lnTo>
                  <a:pt x="46014" y="86278"/>
                </a:lnTo>
                <a:cubicBezTo>
                  <a:pt x="39661" y="86278"/>
                  <a:pt x="34511" y="91428"/>
                  <a:pt x="34511" y="97781"/>
                </a:cubicBezTo>
                <a:cubicBezTo>
                  <a:pt x="34511" y="104135"/>
                  <a:pt x="39661" y="109285"/>
                  <a:pt x="46014" y="109285"/>
                </a:cubicBezTo>
                <a:lnTo>
                  <a:pt x="69022" y="109285"/>
                </a:lnTo>
                <a:cubicBezTo>
                  <a:pt x="75375" y="109285"/>
                  <a:pt x="80526" y="114435"/>
                  <a:pt x="80526" y="120789"/>
                </a:cubicBezTo>
                <a:cubicBezTo>
                  <a:pt x="80526" y="127142"/>
                  <a:pt x="75375" y="132293"/>
                  <a:pt x="69022" y="132293"/>
                </a:cubicBezTo>
                <a:lnTo>
                  <a:pt x="34511" y="132293"/>
                </a:lnTo>
              </a:path>
            </a:pathLst>
          </a:custGeom>
          <a:noFill/>
          <a:ln w="11503">
            <a:solidFill>
              <a:srgbClr val="FFFFFF"/>
            </a:solidFill>
          </a:ln>
        </p:spPr>
        <p:txBody>
          <a:bodyPr rtlCol="0" anchor="ctr"/>
          <a:lstStyle/>
          <a:p>
            <a:pPr algn="ctr"/>
            <a:endParaRPr sz="1000"/>
          </a:p>
        </p:txBody>
      </p:sp>
      <p:sp>
        <p:nvSpPr>
          <p:cNvPr id="55" name="Rounded Rectangle 54"/>
          <p:cNvSpPr/>
          <p:nvPr/>
        </p:nvSpPr>
        <p:spPr>
          <a:xfrm>
            <a:off x="4440424" y="4863516"/>
            <a:ext cx="149548" cy="264586"/>
          </a:xfrm>
          <a:custGeom>
            <a:avLst/>
            <a:gdLst/>
            <a:ahLst/>
            <a:cxnLst/>
            <a:rect l="0" t="0" r="0" b="0"/>
            <a:pathLst>
              <a:path w="149548" h="264586">
                <a:moveTo>
                  <a:pt x="74774" y="238702"/>
                </a:moveTo>
                <a:cubicBezTo>
                  <a:pt x="73185" y="238702"/>
                  <a:pt x="71898" y="239990"/>
                  <a:pt x="71898" y="241578"/>
                </a:cubicBezTo>
                <a:lnTo>
                  <a:pt x="71898" y="241578"/>
                </a:lnTo>
                <a:cubicBezTo>
                  <a:pt x="71898" y="243166"/>
                  <a:pt x="73185" y="244454"/>
                  <a:pt x="74774" y="244454"/>
                </a:cubicBezTo>
                <a:lnTo>
                  <a:pt x="74774" y="244454"/>
                </a:lnTo>
                <a:cubicBezTo>
                  <a:pt x="76362" y="244454"/>
                  <a:pt x="77650" y="243166"/>
                  <a:pt x="77650" y="241578"/>
                </a:cubicBezTo>
                <a:lnTo>
                  <a:pt x="77650" y="241578"/>
                </a:lnTo>
                <a:cubicBezTo>
                  <a:pt x="77650" y="239990"/>
                  <a:pt x="76362" y="238702"/>
                  <a:pt x="74774" y="238702"/>
                </a:cubicBezTo>
                <a:moveTo>
                  <a:pt x="74774" y="238702"/>
                </a:moveTo>
                <a:lnTo>
                  <a:pt x="74774" y="238702"/>
                </a:lnTo>
                <a:moveTo>
                  <a:pt x="23007" y="0"/>
                </a:moveTo>
                <a:lnTo>
                  <a:pt x="126541" y="0"/>
                </a:lnTo>
                <a:cubicBezTo>
                  <a:pt x="126541" y="0"/>
                  <a:pt x="149548" y="0"/>
                  <a:pt x="149548" y="23007"/>
                </a:cubicBezTo>
                <a:lnTo>
                  <a:pt x="149548" y="241578"/>
                </a:lnTo>
                <a:cubicBezTo>
                  <a:pt x="149548" y="241578"/>
                  <a:pt x="149548" y="264586"/>
                  <a:pt x="126541" y="264586"/>
                </a:cubicBezTo>
                <a:lnTo>
                  <a:pt x="23007" y="264586"/>
                </a:lnTo>
                <a:cubicBezTo>
                  <a:pt x="23007" y="264586"/>
                  <a:pt x="0" y="264586"/>
                  <a:pt x="0" y="241578"/>
                </a:cubicBezTo>
                <a:lnTo>
                  <a:pt x="0" y="23007"/>
                </a:lnTo>
                <a:cubicBezTo>
                  <a:pt x="0" y="23007"/>
                  <a:pt x="0" y="0"/>
                  <a:pt x="23007" y="0"/>
                </a:cubicBezTo>
                <a:moveTo>
                  <a:pt x="0" y="218571"/>
                </a:moveTo>
                <a:lnTo>
                  <a:pt x="149548" y="218571"/>
                </a:lnTo>
                <a:moveTo>
                  <a:pt x="0" y="46014"/>
                </a:moveTo>
                <a:lnTo>
                  <a:pt x="149548" y="46014"/>
                </a:lnTo>
                <a:moveTo>
                  <a:pt x="57518" y="23007"/>
                </a:moveTo>
                <a:lnTo>
                  <a:pt x="92029" y="23007"/>
                </a:lnTo>
                <a:moveTo>
                  <a:pt x="46014" y="109285"/>
                </a:moveTo>
                <a:cubicBezTo>
                  <a:pt x="46019" y="94625"/>
                  <a:pt x="57051" y="82314"/>
                  <a:pt x="71624" y="80709"/>
                </a:cubicBezTo>
                <a:cubicBezTo>
                  <a:pt x="86196" y="79103"/>
                  <a:pt x="99644" y="88715"/>
                  <a:pt x="102841" y="103023"/>
                </a:cubicBezTo>
                <a:cubicBezTo>
                  <a:pt x="106038" y="117330"/>
                  <a:pt x="97961" y="131753"/>
                  <a:pt x="84092" y="136503"/>
                </a:cubicBezTo>
                <a:cubicBezTo>
                  <a:pt x="78520" y="138418"/>
                  <a:pt x="74778" y="143657"/>
                  <a:pt x="74774" y="149548"/>
                </a:cubicBezTo>
                <a:lnTo>
                  <a:pt x="74774" y="155300"/>
                </a:lnTo>
                <a:moveTo>
                  <a:pt x="74774" y="178308"/>
                </a:moveTo>
                <a:cubicBezTo>
                  <a:pt x="73185" y="178308"/>
                  <a:pt x="71898" y="179595"/>
                  <a:pt x="71898" y="181183"/>
                </a:cubicBezTo>
                <a:cubicBezTo>
                  <a:pt x="71898" y="182772"/>
                  <a:pt x="73185" y="184059"/>
                  <a:pt x="74774" y="184059"/>
                </a:cubicBezTo>
                <a:cubicBezTo>
                  <a:pt x="76362" y="184059"/>
                  <a:pt x="77650" y="182772"/>
                  <a:pt x="77650" y="181183"/>
                </a:cubicBezTo>
                <a:cubicBezTo>
                  <a:pt x="77650" y="179595"/>
                  <a:pt x="76362" y="178308"/>
                  <a:pt x="74774" y="178308"/>
                </a:cubicBezTo>
              </a:path>
            </a:pathLst>
          </a:custGeom>
          <a:noFill/>
          <a:ln w="11503">
            <a:solidFill>
              <a:srgbClr val="FFFFFF"/>
            </a:solidFill>
          </a:ln>
        </p:spPr>
        <p:txBody>
          <a:bodyPr rtlCol="0" anchor="ctr"/>
          <a:lstStyle/>
          <a:p>
            <a:pPr algn="ctr"/>
            <a:endParaRPr sz="1000"/>
          </a:p>
        </p:txBody>
      </p:sp>
    </p:spTree>
    <p:extLst>
      <p:ext uri="{BB962C8B-B14F-4D97-AF65-F5344CB8AC3E}">
        <p14:creationId xmlns:p14="http://schemas.microsoft.com/office/powerpoint/2010/main" val="1505093266"/>
      </p:ext>
    </p:extLst>
  </p:cSld>
  <p:clrMapOvr>
    <a:masterClrMapping/>
  </p:clrMapOvr>
  <p:transition spd="slow" advTm="40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 xmlns:a16="http://schemas.microsoft.com/office/drawing/2014/main" id="{3D4116A5-7913-4730-B9AC-F6242565144C}"/>
              </a:ext>
            </a:extLst>
          </p:cNvPr>
          <p:cNvSpPr/>
          <p:nvPr/>
        </p:nvSpPr>
        <p:spPr>
          <a:xfrm>
            <a:off x="3116214" y="2774271"/>
            <a:ext cx="1534779" cy="1388074"/>
          </a:xfrm>
          <a:custGeom>
            <a:avLst/>
            <a:gdLst/>
            <a:ahLst/>
            <a:cxnLst/>
            <a:rect l="0" t="0" r="0" b="0"/>
            <a:pathLst>
              <a:path w="1534779" h="1388074">
                <a:moveTo>
                  <a:pt x="722029" y="1359620"/>
                </a:moveTo>
                <a:cubicBezTo>
                  <a:pt x="726686" y="1339535"/>
                  <a:pt x="732245" y="1319486"/>
                  <a:pt x="738743" y="1299511"/>
                </a:cubicBezTo>
                <a:cubicBezTo>
                  <a:pt x="811796" y="1074934"/>
                  <a:pt x="986208" y="911655"/>
                  <a:pt x="1194841" y="843858"/>
                </a:cubicBezTo>
                <a:lnTo>
                  <a:pt x="1249553" y="1012688"/>
                </a:lnTo>
                <a:lnTo>
                  <a:pt x="1534779" y="454005"/>
                </a:lnTo>
                <a:lnTo>
                  <a:pt x="921405" y="0"/>
                </a:lnTo>
                <a:lnTo>
                  <a:pt x="976066" y="168690"/>
                </a:lnTo>
                <a:cubicBezTo>
                  <a:pt x="558787" y="304276"/>
                  <a:pt x="209962" y="630834"/>
                  <a:pt x="63864" y="1079990"/>
                </a:cubicBezTo>
                <a:cubicBezTo>
                  <a:pt x="30627" y="1182170"/>
                  <a:pt x="9610" y="1285392"/>
                  <a:pt x="0" y="1388074"/>
                </a:cubicBezTo>
                <a:lnTo>
                  <a:pt x="437852" y="1075385"/>
                </a:lnTo>
                <a:lnTo>
                  <a:pt x="722029" y="1359620"/>
                </a:lnTo>
              </a:path>
            </a:pathLst>
          </a:custGeom>
          <a:solidFill>
            <a:srgbClr val="E55753"/>
          </a:solidFill>
          <a:ln>
            <a:noFill/>
          </a:ln>
        </p:spPr>
        <p:txBody>
          <a:bodyPr rtlCol="0" anchor="ctr"/>
          <a:lstStyle/>
          <a:p>
            <a:pPr algn="ctr"/>
            <a:endParaRPr sz="1000"/>
          </a:p>
        </p:txBody>
      </p:sp>
      <p:sp>
        <p:nvSpPr>
          <p:cNvPr id="3" name="Rounded Rectangle 2">
            <a:extLst>
              <a:ext uri="{FF2B5EF4-FFF2-40B4-BE49-F238E27FC236}">
                <a16:creationId xmlns="" xmlns:a16="http://schemas.microsoft.com/office/drawing/2014/main" id="{425213C4-97B3-42D7-B151-8B91B19860D4}"/>
              </a:ext>
            </a:extLst>
          </p:cNvPr>
          <p:cNvSpPr/>
          <p:nvPr/>
        </p:nvSpPr>
        <p:spPr>
          <a:xfrm>
            <a:off x="3116214" y="2774271"/>
            <a:ext cx="1534777" cy="1388073"/>
          </a:xfrm>
          <a:custGeom>
            <a:avLst/>
            <a:gdLst/>
            <a:ahLst/>
            <a:cxnLst/>
            <a:rect l="0" t="0" r="0" b="0"/>
            <a:pathLst>
              <a:path w="1534777" h="1388073">
                <a:moveTo>
                  <a:pt x="722029" y="1359620"/>
                </a:moveTo>
                <a:cubicBezTo>
                  <a:pt x="726683" y="1339535"/>
                  <a:pt x="732247" y="1319483"/>
                  <a:pt x="738743" y="1299511"/>
                </a:cubicBezTo>
                <a:cubicBezTo>
                  <a:pt x="811793" y="1074931"/>
                  <a:pt x="986205" y="911654"/>
                  <a:pt x="1194844" y="843859"/>
                </a:cubicBezTo>
                <a:lnTo>
                  <a:pt x="1249550" y="1012687"/>
                </a:lnTo>
                <a:lnTo>
                  <a:pt x="1534777" y="454007"/>
                </a:lnTo>
                <a:lnTo>
                  <a:pt x="921406" y="0"/>
                </a:lnTo>
                <a:lnTo>
                  <a:pt x="976066" y="168686"/>
                </a:lnTo>
                <a:cubicBezTo>
                  <a:pt x="558790" y="304276"/>
                  <a:pt x="209965" y="630831"/>
                  <a:pt x="63864" y="1079989"/>
                </a:cubicBezTo>
                <a:cubicBezTo>
                  <a:pt x="30628" y="1182169"/>
                  <a:pt x="9608" y="1285390"/>
                  <a:pt x="0" y="1388073"/>
                </a:cubicBezTo>
                <a:lnTo>
                  <a:pt x="437851" y="1075386"/>
                </a:lnTo>
                <a:lnTo>
                  <a:pt x="722029" y="1359620"/>
                </a:lnTo>
                <a:close/>
              </a:path>
            </a:pathLst>
          </a:custGeom>
          <a:noFill/>
          <a:ln w="11088">
            <a:solidFill>
              <a:srgbClr val="FFFFFF"/>
            </a:solidFill>
          </a:ln>
        </p:spPr>
        <p:txBody>
          <a:bodyPr rtlCol="0" anchor="ctr"/>
          <a:lstStyle/>
          <a:p>
            <a:pPr algn="ctr"/>
            <a:endParaRPr sz="1000"/>
          </a:p>
        </p:txBody>
      </p:sp>
      <p:sp>
        <p:nvSpPr>
          <p:cNvPr id="4" name="Rounded Rectangle 3">
            <a:extLst>
              <a:ext uri="{FF2B5EF4-FFF2-40B4-BE49-F238E27FC236}">
                <a16:creationId xmlns="" xmlns:a16="http://schemas.microsoft.com/office/drawing/2014/main" id="{59697F2A-A977-4C2F-B6B4-BAB3DC193A0E}"/>
              </a:ext>
            </a:extLst>
          </p:cNvPr>
          <p:cNvSpPr/>
          <p:nvPr/>
        </p:nvSpPr>
        <p:spPr>
          <a:xfrm>
            <a:off x="2933079" y="3849646"/>
            <a:ext cx="1231204" cy="1747211"/>
          </a:xfrm>
          <a:custGeom>
            <a:avLst/>
            <a:gdLst/>
            <a:ahLst/>
            <a:cxnLst/>
            <a:rect l="0" t="0" r="0" b="0"/>
            <a:pathLst>
              <a:path w="1231204" h="1747211">
                <a:moveTo>
                  <a:pt x="1035021" y="1747211"/>
                </a:moveTo>
                <a:lnTo>
                  <a:pt x="873147" y="1234405"/>
                </a:lnTo>
                <a:lnTo>
                  <a:pt x="1231204" y="1052105"/>
                </a:lnTo>
                <a:cubicBezTo>
                  <a:pt x="1016895" y="923601"/>
                  <a:pt x="886838" y="690721"/>
                  <a:pt x="886912" y="443581"/>
                </a:cubicBezTo>
                <a:lnTo>
                  <a:pt x="1064525" y="443581"/>
                </a:lnTo>
                <a:lnTo>
                  <a:pt x="621017" y="0"/>
                </a:lnTo>
                <a:lnTo>
                  <a:pt x="0" y="443493"/>
                </a:lnTo>
                <a:lnTo>
                  <a:pt x="177036" y="443493"/>
                </a:lnTo>
                <a:cubicBezTo>
                  <a:pt x="176866" y="999914"/>
                  <a:pt x="506492" y="1520179"/>
                  <a:pt x="1035021" y="1747211"/>
                </a:cubicBezTo>
              </a:path>
            </a:pathLst>
          </a:custGeom>
          <a:solidFill>
            <a:srgbClr val="DE8431"/>
          </a:solidFill>
          <a:ln>
            <a:noFill/>
          </a:ln>
        </p:spPr>
        <p:txBody>
          <a:bodyPr rtlCol="0" anchor="ctr"/>
          <a:lstStyle/>
          <a:p>
            <a:pPr algn="ctr"/>
            <a:endParaRPr sz="1000"/>
          </a:p>
        </p:txBody>
      </p:sp>
      <p:sp>
        <p:nvSpPr>
          <p:cNvPr id="5" name="Rounded Rectangle 4">
            <a:extLst>
              <a:ext uri="{FF2B5EF4-FFF2-40B4-BE49-F238E27FC236}">
                <a16:creationId xmlns="" xmlns:a16="http://schemas.microsoft.com/office/drawing/2014/main" id="{C185DAF7-3CE8-470B-8AE6-ACA2B6FB1ECC}"/>
              </a:ext>
            </a:extLst>
          </p:cNvPr>
          <p:cNvSpPr/>
          <p:nvPr/>
        </p:nvSpPr>
        <p:spPr>
          <a:xfrm>
            <a:off x="2933079" y="3849646"/>
            <a:ext cx="1231207" cy="1747214"/>
          </a:xfrm>
          <a:custGeom>
            <a:avLst/>
            <a:gdLst/>
            <a:ahLst/>
            <a:cxnLst/>
            <a:rect l="0" t="0" r="0" b="0"/>
            <a:pathLst>
              <a:path w="1231207" h="1747214">
                <a:moveTo>
                  <a:pt x="1035023" y="1747214"/>
                </a:moveTo>
                <a:lnTo>
                  <a:pt x="873145" y="1234402"/>
                </a:lnTo>
                <a:lnTo>
                  <a:pt x="1231207" y="1052107"/>
                </a:lnTo>
                <a:cubicBezTo>
                  <a:pt x="1016896" y="923604"/>
                  <a:pt x="886838" y="690721"/>
                  <a:pt x="886911" y="443578"/>
                </a:cubicBezTo>
                <a:lnTo>
                  <a:pt x="1064525" y="443595"/>
                </a:lnTo>
                <a:lnTo>
                  <a:pt x="621016" y="0"/>
                </a:lnTo>
                <a:lnTo>
                  <a:pt x="0" y="443491"/>
                </a:lnTo>
                <a:lnTo>
                  <a:pt x="177036" y="443508"/>
                </a:lnTo>
                <a:cubicBezTo>
                  <a:pt x="176870" y="999913"/>
                  <a:pt x="506495" y="1520178"/>
                  <a:pt x="1035023" y="1747214"/>
                </a:cubicBezTo>
                <a:close/>
              </a:path>
            </a:pathLst>
          </a:custGeom>
          <a:noFill/>
          <a:ln w="11088">
            <a:solidFill>
              <a:srgbClr val="FFFFFF"/>
            </a:solidFill>
          </a:ln>
        </p:spPr>
        <p:txBody>
          <a:bodyPr rtlCol="0" anchor="ctr"/>
          <a:lstStyle/>
          <a:p>
            <a:pPr algn="ctr"/>
            <a:endParaRPr sz="1000"/>
          </a:p>
        </p:txBody>
      </p:sp>
      <p:sp>
        <p:nvSpPr>
          <p:cNvPr id="6" name="Rounded Rectangle 5">
            <a:extLst>
              <a:ext uri="{FF2B5EF4-FFF2-40B4-BE49-F238E27FC236}">
                <a16:creationId xmlns="" xmlns:a16="http://schemas.microsoft.com/office/drawing/2014/main" id="{7095C1BF-0258-40F0-B1D5-E9B5A9219783}"/>
              </a:ext>
            </a:extLst>
          </p:cNvPr>
          <p:cNvSpPr/>
          <p:nvPr/>
        </p:nvSpPr>
        <p:spPr>
          <a:xfrm>
            <a:off x="3806204" y="4799461"/>
            <a:ext cx="1790842" cy="1024524"/>
          </a:xfrm>
          <a:custGeom>
            <a:avLst/>
            <a:gdLst/>
            <a:ahLst/>
            <a:cxnLst/>
            <a:rect l="0" t="0" r="0" b="0"/>
            <a:pathLst>
              <a:path w="1790842" h="1024524">
                <a:moveTo>
                  <a:pt x="1252746" y="426039"/>
                </a:moveTo>
                <a:lnTo>
                  <a:pt x="1189725" y="29163"/>
                </a:lnTo>
                <a:cubicBezTo>
                  <a:pt x="1007839" y="187223"/>
                  <a:pt x="749950" y="248684"/>
                  <a:pt x="504119" y="168719"/>
                </a:cubicBezTo>
                <a:lnTo>
                  <a:pt x="559001" y="0"/>
                </a:lnTo>
                <a:lnTo>
                  <a:pt x="0" y="284597"/>
                </a:lnTo>
                <a:lnTo>
                  <a:pt x="229715" y="1012319"/>
                </a:lnTo>
                <a:lnTo>
                  <a:pt x="284597" y="843599"/>
                </a:lnTo>
                <a:cubicBezTo>
                  <a:pt x="840819" y="1024524"/>
                  <a:pt x="1427898" y="843444"/>
                  <a:pt x="1790842" y="430171"/>
                </a:cubicBezTo>
                <a:lnTo>
                  <a:pt x="1252746" y="426039"/>
                </a:lnTo>
              </a:path>
            </a:pathLst>
          </a:custGeom>
          <a:solidFill>
            <a:srgbClr val="E0CB15"/>
          </a:solidFill>
          <a:ln>
            <a:noFill/>
          </a:ln>
        </p:spPr>
        <p:txBody>
          <a:bodyPr rtlCol="0" anchor="ctr"/>
          <a:lstStyle/>
          <a:p>
            <a:pPr algn="ctr"/>
            <a:endParaRPr sz="1000"/>
          </a:p>
        </p:txBody>
      </p:sp>
      <p:sp>
        <p:nvSpPr>
          <p:cNvPr id="7" name="Rounded Rectangle 6">
            <a:extLst>
              <a:ext uri="{FF2B5EF4-FFF2-40B4-BE49-F238E27FC236}">
                <a16:creationId xmlns="" xmlns:a16="http://schemas.microsoft.com/office/drawing/2014/main" id="{4CDA3B19-5A75-4736-815D-A9B5CF5956EF}"/>
              </a:ext>
            </a:extLst>
          </p:cNvPr>
          <p:cNvSpPr/>
          <p:nvPr/>
        </p:nvSpPr>
        <p:spPr>
          <a:xfrm>
            <a:off x="3806204" y="4799461"/>
            <a:ext cx="1790842" cy="1024524"/>
          </a:xfrm>
          <a:custGeom>
            <a:avLst/>
            <a:gdLst/>
            <a:ahLst/>
            <a:cxnLst/>
            <a:rect l="0" t="0" r="0" b="0"/>
            <a:pathLst>
              <a:path w="1790842" h="1024524">
                <a:moveTo>
                  <a:pt x="1252746" y="426040"/>
                </a:moveTo>
                <a:lnTo>
                  <a:pt x="1189726" y="29160"/>
                </a:lnTo>
                <a:cubicBezTo>
                  <a:pt x="1007840" y="187219"/>
                  <a:pt x="749952" y="248683"/>
                  <a:pt x="504119" y="168719"/>
                </a:cubicBezTo>
                <a:lnTo>
                  <a:pt x="559000" y="0"/>
                </a:lnTo>
                <a:lnTo>
                  <a:pt x="0" y="284597"/>
                </a:lnTo>
                <a:lnTo>
                  <a:pt x="229717" y="1012317"/>
                </a:lnTo>
                <a:lnTo>
                  <a:pt x="284597" y="843598"/>
                </a:lnTo>
                <a:cubicBezTo>
                  <a:pt x="840821" y="1024524"/>
                  <a:pt x="1427901" y="843440"/>
                  <a:pt x="1790842" y="430171"/>
                </a:cubicBezTo>
                <a:lnTo>
                  <a:pt x="1252746" y="426040"/>
                </a:lnTo>
                <a:close/>
              </a:path>
            </a:pathLst>
          </a:custGeom>
          <a:noFill/>
          <a:ln w="11088">
            <a:solidFill>
              <a:srgbClr val="FFFFFF"/>
            </a:solidFill>
          </a:ln>
        </p:spPr>
        <p:txBody>
          <a:bodyPr rtlCol="0" anchor="ctr"/>
          <a:lstStyle/>
          <a:p>
            <a:pPr algn="ctr"/>
            <a:endParaRPr sz="1000"/>
          </a:p>
        </p:txBody>
      </p:sp>
      <p:sp>
        <p:nvSpPr>
          <p:cNvPr id="8" name="Rounded Rectangle 7">
            <a:extLst>
              <a:ext uri="{FF2B5EF4-FFF2-40B4-BE49-F238E27FC236}">
                <a16:creationId xmlns="" xmlns:a16="http://schemas.microsoft.com/office/drawing/2014/main" id="{851B75FD-3C5C-4AA1-A9DC-6B65BEB03FE5}"/>
              </a:ext>
            </a:extLst>
          </p:cNvPr>
          <p:cNvSpPr/>
          <p:nvPr/>
        </p:nvSpPr>
        <p:spPr>
          <a:xfrm>
            <a:off x="4960600" y="3568376"/>
            <a:ext cx="1050546" cy="1662988"/>
          </a:xfrm>
          <a:custGeom>
            <a:avLst/>
            <a:gdLst/>
            <a:ahLst/>
            <a:cxnLst/>
            <a:rect l="0" t="0" r="0" b="0"/>
            <a:pathLst>
              <a:path w="1050546" h="1662988">
                <a:moveTo>
                  <a:pt x="98372" y="1657133"/>
                </a:moveTo>
                <a:lnTo>
                  <a:pt x="0" y="1037616"/>
                </a:lnTo>
                <a:lnTo>
                  <a:pt x="143733" y="1141954"/>
                </a:lnTo>
                <a:cubicBezTo>
                  <a:pt x="186291" y="1083302"/>
                  <a:pt x="220519" y="1017087"/>
                  <a:pt x="244145" y="944455"/>
                </a:cubicBezTo>
                <a:cubicBezTo>
                  <a:pt x="299331" y="774797"/>
                  <a:pt x="287155" y="599401"/>
                  <a:pt x="222360" y="447204"/>
                </a:cubicBezTo>
                <a:lnTo>
                  <a:pt x="619391" y="510011"/>
                </a:lnTo>
                <a:lnTo>
                  <a:pt x="789567" y="0"/>
                </a:lnTo>
                <a:cubicBezTo>
                  <a:pt x="990770" y="338992"/>
                  <a:pt x="1050546" y="759634"/>
                  <a:pt x="919025" y="1163977"/>
                </a:cubicBezTo>
                <a:cubicBezTo>
                  <a:pt x="871772" y="1309240"/>
                  <a:pt x="803317" y="1441677"/>
                  <a:pt x="718199" y="1558982"/>
                </a:cubicBezTo>
                <a:lnTo>
                  <a:pt x="861467" y="1662988"/>
                </a:lnTo>
                <a:lnTo>
                  <a:pt x="98372" y="1657133"/>
                </a:lnTo>
              </a:path>
            </a:pathLst>
          </a:custGeom>
          <a:solidFill>
            <a:srgbClr val="92BD39"/>
          </a:solidFill>
          <a:ln>
            <a:noFill/>
          </a:ln>
        </p:spPr>
        <p:txBody>
          <a:bodyPr rtlCol="0" anchor="ctr"/>
          <a:lstStyle/>
          <a:p>
            <a:pPr algn="ctr"/>
            <a:endParaRPr sz="1000"/>
          </a:p>
        </p:txBody>
      </p:sp>
      <p:sp>
        <p:nvSpPr>
          <p:cNvPr id="9" name="Rounded Rectangle 8">
            <a:extLst>
              <a:ext uri="{FF2B5EF4-FFF2-40B4-BE49-F238E27FC236}">
                <a16:creationId xmlns="" xmlns:a16="http://schemas.microsoft.com/office/drawing/2014/main" id="{FF0957F6-F6A7-4E0A-87E3-8AB561B50DF6}"/>
              </a:ext>
            </a:extLst>
          </p:cNvPr>
          <p:cNvSpPr/>
          <p:nvPr/>
        </p:nvSpPr>
        <p:spPr>
          <a:xfrm>
            <a:off x="4960600" y="3568376"/>
            <a:ext cx="1050543" cy="1662988"/>
          </a:xfrm>
          <a:custGeom>
            <a:avLst/>
            <a:gdLst/>
            <a:ahLst/>
            <a:cxnLst/>
            <a:rect l="0" t="0" r="0" b="0"/>
            <a:pathLst>
              <a:path w="1050543" h="1662988">
                <a:moveTo>
                  <a:pt x="98371" y="1657131"/>
                </a:moveTo>
                <a:lnTo>
                  <a:pt x="0" y="1037615"/>
                </a:lnTo>
                <a:lnTo>
                  <a:pt x="143733" y="1141956"/>
                </a:lnTo>
                <a:cubicBezTo>
                  <a:pt x="186291" y="1083304"/>
                  <a:pt x="220519" y="1017084"/>
                  <a:pt x="244144" y="944452"/>
                </a:cubicBezTo>
                <a:cubicBezTo>
                  <a:pt x="299329" y="774796"/>
                  <a:pt x="287156" y="599398"/>
                  <a:pt x="222360" y="447203"/>
                </a:cubicBezTo>
                <a:lnTo>
                  <a:pt x="619391" y="510014"/>
                </a:lnTo>
                <a:lnTo>
                  <a:pt x="789565" y="0"/>
                </a:lnTo>
                <a:cubicBezTo>
                  <a:pt x="990768" y="338995"/>
                  <a:pt x="1050543" y="759637"/>
                  <a:pt x="919023" y="1163974"/>
                </a:cubicBezTo>
                <a:cubicBezTo>
                  <a:pt x="871771" y="1309239"/>
                  <a:pt x="803315" y="1441680"/>
                  <a:pt x="718198" y="1558984"/>
                </a:cubicBezTo>
                <a:lnTo>
                  <a:pt x="861464" y="1662988"/>
                </a:lnTo>
                <a:lnTo>
                  <a:pt x="98371" y="1657131"/>
                </a:lnTo>
                <a:close/>
              </a:path>
            </a:pathLst>
          </a:custGeom>
          <a:noFill/>
          <a:ln w="11088">
            <a:solidFill>
              <a:srgbClr val="FFFFFF"/>
            </a:solidFill>
          </a:ln>
        </p:spPr>
        <p:txBody>
          <a:bodyPr rtlCol="0" anchor="ctr"/>
          <a:lstStyle/>
          <a:p>
            <a:pPr algn="ctr"/>
            <a:endParaRPr sz="1000"/>
          </a:p>
        </p:txBody>
      </p:sp>
      <p:sp>
        <p:nvSpPr>
          <p:cNvPr id="10" name="Rounded Rectangle 9">
            <a:extLst>
              <a:ext uri="{FF2B5EF4-FFF2-40B4-BE49-F238E27FC236}">
                <a16:creationId xmlns="" xmlns:a16="http://schemas.microsoft.com/office/drawing/2014/main" id="{0056F7D5-DAE0-40E2-B257-7BC190954AF8}"/>
              </a:ext>
            </a:extLst>
          </p:cNvPr>
          <p:cNvSpPr/>
          <p:nvPr/>
        </p:nvSpPr>
        <p:spPr>
          <a:xfrm>
            <a:off x="4218626" y="2853923"/>
            <a:ext cx="1602872" cy="1224455"/>
          </a:xfrm>
          <a:custGeom>
            <a:avLst/>
            <a:gdLst/>
            <a:ahLst/>
            <a:cxnLst/>
            <a:rect l="0" t="0" r="0" b="0"/>
            <a:pathLst>
              <a:path w="1602872" h="1224455">
                <a:moveTo>
                  <a:pt x="0" y="54312"/>
                </a:moveTo>
                <a:cubicBezTo>
                  <a:pt x="240656" y="0"/>
                  <a:pt x="498611" y="7762"/>
                  <a:pt x="750253" y="89612"/>
                </a:cubicBezTo>
                <a:cubicBezTo>
                  <a:pt x="1046531" y="185988"/>
                  <a:pt x="1289465" y="370565"/>
                  <a:pt x="1459434" y="604820"/>
                </a:cubicBezTo>
                <a:lnTo>
                  <a:pt x="1602872" y="500570"/>
                </a:lnTo>
                <a:lnTo>
                  <a:pt x="1361335" y="1224455"/>
                </a:lnTo>
                <a:lnTo>
                  <a:pt x="741759" y="1126437"/>
                </a:lnTo>
                <a:lnTo>
                  <a:pt x="885322" y="1022092"/>
                </a:lnTo>
                <a:cubicBezTo>
                  <a:pt x="800338" y="904972"/>
                  <a:pt x="678871" y="812676"/>
                  <a:pt x="530732" y="764491"/>
                </a:cubicBezTo>
                <a:cubicBezTo>
                  <a:pt x="437172" y="734064"/>
                  <a:pt x="341875" y="724113"/>
                  <a:pt x="249682" y="732171"/>
                </a:cubicBezTo>
                <a:lnTo>
                  <a:pt x="432367" y="374343"/>
                </a:lnTo>
                <a:lnTo>
                  <a:pt x="0" y="54312"/>
                </a:lnTo>
              </a:path>
            </a:pathLst>
          </a:custGeom>
          <a:solidFill>
            <a:srgbClr val="3CC583"/>
          </a:solidFill>
          <a:ln>
            <a:noFill/>
          </a:ln>
        </p:spPr>
        <p:txBody>
          <a:bodyPr rtlCol="0" anchor="ctr"/>
          <a:lstStyle/>
          <a:p>
            <a:pPr algn="ctr"/>
            <a:endParaRPr sz="1000"/>
          </a:p>
        </p:txBody>
      </p:sp>
      <p:sp>
        <p:nvSpPr>
          <p:cNvPr id="11" name="Rounded Rectangle 10">
            <a:extLst>
              <a:ext uri="{FF2B5EF4-FFF2-40B4-BE49-F238E27FC236}">
                <a16:creationId xmlns="" xmlns:a16="http://schemas.microsoft.com/office/drawing/2014/main" id="{6E22CE80-8988-4121-8014-877D9D80ECAA}"/>
              </a:ext>
            </a:extLst>
          </p:cNvPr>
          <p:cNvSpPr/>
          <p:nvPr/>
        </p:nvSpPr>
        <p:spPr>
          <a:xfrm>
            <a:off x="4218626" y="2853925"/>
            <a:ext cx="1602869" cy="1224451"/>
          </a:xfrm>
          <a:custGeom>
            <a:avLst/>
            <a:gdLst/>
            <a:ahLst/>
            <a:cxnLst/>
            <a:rect l="0" t="0" r="0" b="0"/>
            <a:pathLst>
              <a:path w="1602869" h="1224451">
                <a:moveTo>
                  <a:pt x="0" y="54312"/>
                </a:moveTo>
                <a:cubicBezTo>
                  <a:pt x="240658" y="0"/>
                  <a:pt x="498613" y="7759"/>
                  <a:pt x="750253" y="89610"/>
                </a:cubicBezTo>
                <a:cubicBezTo>
                  <a:pt x="1046534" y="185984"/>
                  <a:pt x="1289468" y="370566"/>
                  <a:pt x="1459433" y="604819"/>
                </a:cubicBezTo>
                <a:lnTo>
                  <a:pt x="1602869" y="500567"/>
                </a:lnTo>
                <a:lnTo>
                  <a:pt x="1361335" y="1224451"/>
                </a:lnTo>
                <a:lnTo>
                  <a:pt x="741762" y="1126434"/>
                </a:lnTo>
                <a:lnTo>
                  <a:pt x="885322" y="1022093"/>
                </a:lnTo>
                <a:cubicBezTo>
                  <a:pt x="800339" y="904967"/>
                  <a:pt x="678872" y="812676"/>
                  <a:pt x="530731" y="764489"/>
                </a:cubicBezTo>
                <a:cubicBezTo>
                  <a:pt x="437176" y="734058"/>
                  <a:pt x="341873" y="724110"/>
                  <a:pt x="249679" y="732173"/>
                </a:cubicBezTo>
                <a:lnTo>
                  <a:pt x="432365" y="374343"/>
                </a:lnTo>
                <a:lnTo>
                  <a:pt x="0" y="54312"/>
                </a:lnTo>
                <a:close/>
              </a:path>
            </a:pathLst>
          </a:custGeom>
          <a:noFill/>
          <a:ln w="11088">
            <a:solidFill>
              <a:srgbClr val="FFFFFF"/>
            </a:solidFill>
          </a:ln>
        </p:spPr>
        <p:txBody>
          <a:bodyPr rtlCol="0" anchor="ctr"/>
          <a:lstStyle/>
          <a:p>
            <a:pPr algn="ctr"/>
            <a:endParaRPr sz="1000"/>
          </a:p>
        </p:txBody>
      </p:sp>
      <p:sp>
        <p:nvSpPr>
          <p:cNvPr id="12" name="TextBox 11">
            <a:extLst>
              <a:ext uri="{FF2B5EF4-FFF2-40B4-BE49-F238E27FC236}">
                <a16:creationId xmlns="" xmlns:a16="http://schemas.microsoft.com/office/drawing/2014/main" id="{1182F4F1-7BAE-4BBB-83AA-1D1CD9746E65}"/>
              </a:ext>
            </a:extLst>
          </p:cNvPr>
          <p:cNvSpPr txBox="1"/>
          <p:nvPr/>
        </p:nvSpPr>
        <p:spPr>
          <a:xfrm>
            <a:off x="3239843" y="265455"/>
            <a:ext cx="2411622" cy="615553"/>
          </a:xfrm>
          <a:prstGeom prst="rect">
            <a:avLst/>
          </a:prstGeom>
          <a:noFill/>
          <a:ln>
            <a:noFill/>
          </a:ln>
        </p:spPr>
        <p:txBody>
          <a:bodyPr wrap="none" lIns="0" tIns="0" rIns="0" bIns="0" anchor="t">
            <a:spAutoFit/>
          </a:bodyPr>
          <a:lstStyle/>
          <a:p>
            <a:pPr algn="ctr"/>
            <a:r>
              <a:rPr lang="en-US" sz="2000" b="1" dirty="0" smtClean="0"/>
              <a:t>Health Insurance Cycle</a:t>
            </a:r>
            <a:endParaRPr lang="en-US" sz="2000" b="1" dirty="0">
              <a:solidFill>
                <a:srgbClr val="484848"/>
              </a:solidFill>
            </a:endParaRPr>
          </a:p>
          <a:p>
            <a:pPr algn="ctr"/>
            <a:endParaRPr sz="2000" b="1" dirty="0">
              <a:solidFill>
                <a:srgbClr val="484848"/>
              </a:solidFill>
            </a:endParaRPr>
          </a:p>
        </p:txBody>
      </p:sp>
      <p:sp>
        <p:nvSpPr>
          <p:cNvPr id="13" name="TextBox 12">
            <a:extLst>
              <a:ext uri="{FF2B5EF4-FFF2-40B4-BE49-F238E27FC236}">
                <a16:creationId xmlns="" xmlns:a16="http://schemas.microsoft.com/office/drawing/2014/main" id="{CBE71DB8-8623-4E18-90CE-162C162FA0EA}"/>
              </a:ext>
            </a:extLst>
          </p:cNvPr>
          <p:cNvSpPr txBox="1"/>
          <p:nvPr/>
        </p:nvSpPr>
        <p:spPr>
          <a:xfrm>
            <a:off x="6493564" y="2533591"/>
            <a:ext cx="774251" cy="153888"/>
          </a:xfrm>
          <a:prstGeom prst="rect">
            <a:avLst/>
          </a:prstGeom>
          <a:noFill/>
          <a:ln>
            <a:noFill/>
          </a:ln>
        </p:spPr>
        <p:txBody>
          <a:bodyPr wrap="none" lIns="0" tIns="0" rIns="0" bIns="0" anchor="t">
            <a:spAutoFit/>
          </a:bodyPr>
          <a:lstStyle/>
          <a:p>
            <a:pPr algn="ctr"/>
            <a:r>
              <a:rPr sz="1000" b="1">
                <a:solidFill>
                  <a:srgbClr val="3CC583"/>
                </a:solidFill>
                <a:latin typeface="Roboto"/>
              </a:rPr>
              <a:t>Pay Premium</a:t>
            </a:r>
          </a:p>
        </p:txBody>
      </p:sp>
      <p:sp>
        <p:nvSpPr>
          <p:cNvPr id="14" name="TextBox 13">
            <a:extLst>
              <a:ext uri="{FF2B5EF4-FFF2-40B4-BE49-F238E27FC236}">
                <a16:creationId xmlns="" xmlns:a16="http://schemas.microsoft.com/office/drawing/2014/main" id="{CA18AD4A-7069-4C26-A33B-E512F4D4314F}"/>
              </a:ext>
            </a:extLst>
          </p:cNvPr>
          <p:cNvSpPr txBox="1"/>
          <p:nvPr/>
        </p:nvSpPr>
        <p:spPr>
          <a:xfrm>
            <a:off x="6286005" y="2818203"/>
            <a:ext cx="1189429" cy="461665"/>
          </a:xfrm>
          <a:prstGeom prst="rect">
            <a:avLst/>
          </a:prstGeom>
          <a:noFill/>
          <a:ln>
            <a:noFill/>
          </a:ln>
        </p:spPr>
        <p:txBody>
          <a:bodyPr wrap="none" lIns="0" tIns="0" rIns="0" bIns="0" anchor="t">
            <a:spAutoFit/>
          </a:bodyPr>
          <a:lstStyle/>
          <a:p>
            <a:pPr algn="ctr"/>
            <a:r>
              <a:rPr sz="1000" b="0">
                <a:solidFill>
                  <a:srgbClr val="484848"/>
                </a:solidFill>
                <a:latin typeface="Roboto"/>
              </a:rPr>
              <a:t>Individuals or groups
pay premiums to the
insurance company.</a:t>
            </a:r>
          </a:p>
        </p:txBody>
      </p:sp>
      <p:sp>
        <p:nvSpPr>
          <p:cNvPr id="15" name="TextBox 14">
            <a:extLst>
              <a:ext uri="{FF2B5EF4-FFF2-40B4-BE49-F238E27FC236}">
                <a16:creationId xmlns="" xmlns:a16="http://schemas.microsoft.com/office/drawing/2014/main" id="{6F22DA52-198E-49AB-9FEA-5C96618B35E2}"/>
              </a:ext>
            </a:extLst>
          </p:cNvPr>
          <p:cNvSpPr txBox="1"/>
          <p:nvPr/>
        </p:nvSpPr>
        <p:spPr>
          <a:xfrm>
            <a:off x="1922052" y="3287630"/>
            <a:ext cx="602729" cy="307777"/>
          </a:xfrm>
          <a:prstGeom prst="rect">
            <a:avLst/>
          </a:prstGeom>
          <a:noFill/>
          <a:ln>
            <a:noFill/>
          </a:ln>
        </p:spPr>
        <p:txBody>
          <a:bodyPr wrap="none" lIns="0" tIns="0" rIns="0" bIns="0" anchor="t">
            <a:spAutoFit/>
          </a:bodyPr>
          <a:lstStyle/>
          <a:p>
            <a:pPr algn="ctr"/>
            <a:r>
              <a:rPr sz="1000" b="1">
                <a:solidFill>
                  <a:srgbClr val="E55753"/>
                </a:solidFill>
                <a:latin typeface="Roboto"/>
              </a:rPr>
              <a:t>Financial
Protection</a:t>
            </a:r>
          </a:p>
        </p:txBody>
      </p:sp>
      <p:sp>
        <p:nvSpPr>
          <p:cNvPr id="16" name="TextBox 15">
            <a:extLst>
              <a:ext uri="{FF2B5EF4-FFF2-40B4-BE49-F238E27FC236}">
                <a16:creationId xmlns="" xmlns:a16="http://schemas.microsoft.com/office/drawing/2014/main" id="{B8556C76-9508-4E12-BFF1-9F6CC5465958}"/>
              </a:ext>
            </a:extLst>
          </p:cNvPr>
          <p:cNvSpPr txBox="1"/>
          <p:nvPr/>
        </p:nvSpPr>
        <p:spPr>
          <a:xfrm>
            <a:off x="1700022" y="3749663"/>
            <a:ext cx="1046761" cy="461665"/>
          </a:xfrm>
          <a:prstGeom prst="rect">
            <a:avLst/>
          </a:prstGeom>
          <a:noFill/>
          <a:ln>
            <a:noFill/>
          </a:ln>
        </p:spPr>
        <p:txBody>
          <a:bodyPr wrap="none" lIns="0" tIns="0" rIns="0" bIns="0" anchor="t">
            <a:spAutoFit/>
          </a:bodyPr>
          <a:lstStyle/>
          <a:p>
            <a:pPr algn="ctr"/>
            <a:r>
              <a:rPr sz="1000" b="0" dirty="0">
                <a:solidFill>
                  <a:srgbClr val="484848"/>
                </a:solidFill>
                <a:latin typeface="Roboto"/>
              </a:rPr>
              <a:t>Health insurance
protects against
financial hardship.</a:t>
            </a:r>
          </a:p>
        </p:txBody>
      </p:sp>
      <p:sp>
        <p:nvSpPr>
          <p:cNvPr id="17" name="TextBox 16">
            <a:extLst>
              <a:ext uri="{FF2B5EF4-FFF2-40B4-BE49-F238E27FC236}">
                <a16:creationId xmlns="" xmlns:a16="http://schemas.microsoft.com/office/drawing/2014/main" id="{ACBBB788-765B-46A9-9228-C7A4ACB9AE22}"/>
              </a:ext>
            </a:extLst>
          </p:cNvPr>
          <p:cNvSpPr txBox="1"/>
          <p:nvPr/>
        </p:nvSpPr>
        <p:spPr>
          <a:xfrm>
            <a:off x="6606613" y="3952958"/>
            <a:ext cx="548227" cy="307777"/>
          </a:xfrm>
          <a:prstGeom prst="rect">
            <a:avLst/>
          </a:prstGeom>
          <a:noFill/>
          <a:ln>
            <a:noFill/>
          </a:ln>
        </p:spPr>
        <p:txBody>
          <a:bodyPr wrap="none" lIns="0" tIns="0" rIns="0" bIns="0" anchor="t">
            <a:spAutoFit/>
          </a:bodyPr>
          <a:lstStyle/>
          <a:p>
            <a:pPr algn="ctr"/>
            <a:r>
              <a:rPr sz="1000" b="1">
                <a:solidFill>
                  <a:srgbClr val="92BD39"/>
                </a:solidFill>
                <a:latin typeface="Roboto"/>
              </a:rPr>
              <a:t>Receive
Coverage</a:t>
            </a:r>
          </a:p>
        </p:txBody>
      </p:sp>
      <p:sp>
        <p:nvSpPr>
          <p:cNvPr id="18" name="TextBox 17">
            <a:extLst>
              <a:ext uri="{FF2B5EF4-FFF2-40B4-BE49-F238E27FC236}">
                <a16:creationId xmlns="" xmlns:a16="http://schemas.microsoft.com/office/drawing/2014/main" id="{331D382D-64C5-4043-9483-5198F1BDF355}"/>
              </a:ext>
            </a:extLst>
          </p:cNvPr>
          <p:cNvSpPr txBox="1"/>
          <p:nvPr/>
        </p:nvSpPr>
        <p:spPr>
          <a:xfrm>
            <a:off x="6280402" y="4392814"/>
            <a:ext cx="1200650" cy="615553"/>
          </a:xfrm>
          <a:prstGeom prst="rect">
            <a:avLst/>
          </a:prstGeom>
          <a:noFill/>
          <a:ln>
            <a:noFill/>
          </a:ln>
        </p:spPr>
        <p:txBody>
          <a:bodyPr wrap="none" lIns="0" tIns="0" rIns="0" bIns="0" anchor="t">
            <a:spAutoFit/>
          </a:bodyPr>
          <a:lstStyle/>
          <a:p>
            <a:pPr algn="ctr"/>
            <a:r>
              <a:rPr sz="1000" b="0">
                <a:solidFill>
                  <a:srgbClr val="484848"/>
                </a:solidFill>
                <a:latin typeface="Roboto"/>
              </a:rPr>
              <a:t>The insurance
company provides
coverage for medical
expenses.</a:t>
            </a:r>
          </a:p>
        </p:txBody>
      </p:sp>
      <p:sp>
        <p:nvSpPr>
          <p:cNvPr id="19" name="TextBox 18">
            <a:extLst>
              <a:ext uri="{FF2B5EF4-FFF2-40B4-BE49-F238E27FC236}">
                <a16:creationId xmlns="" xmlns:a16="http://schemas.microsoft.com/office/drawing/2014/main" id="{BF23E9BF-7B33-43AA-B7B8-94E88D816A43}"/>
              </a:ext>
            </a:extLst>
          </p:cNvPr>
          <p:cNvSpPr txBox="1"/>
          <p:nvPr/>
        </p:nvSpPr>
        <p:spPr>
          <a:xfrm>
            <a:off x="1810122" y="4884418"/>
            <a:ext cx="915314" cy="307777"/>
          </a:xfrm>
          <a:prstGeom prst="rect">
            <a:avLst/>
          </a:prstGeom>
          <a:noFill/>
          <a:ln>
            <a:noFill/>
          </a:ln>
        </p:spPr>
        <p:txBody>
          <a:bodyPr wrap="none" lIns="0" tIns="0" rIns="0" bIns="0" anchor="t">
            <a:spAutoFit/>
          </a:bodyPr>
          <a:lstStyle/>
          <a:p>
            <a:pPr algn="ctr"/>
            <a:r>
              <a:rPr sz="1000" b="1">
                <a:solidFill>
                  <a:srgbClr val="DE8431"/>
                </a:solidFill>
                <a:latin typeface="Roboto"/>
              </a:rPr>
              <a:t>Claim
Reimbursement</a:t>
            </a:r>
          </a:p>
        </p:txBody>
      </p:sp>
      <p:sp>
        <p:nvSpPr>
          <p:cNvPr id="20" name="TextBox 19">
            <a:extLst>
              <a:ext uri="{FF2B5EF4-FFF2-40B4-BE49-F238E27FC236}">
                <a16:creationId xmlns="" xmlns:a16="http://schemas.microsoft.com/office/drawing/2014/main" id="{BF928A93-3B30-417E-A34F-07BC6F7B7505}"/>
              </a:ext>
            </a:extLst>
          </p:cNvPr>
          <p:cNvSpPr txBox="1"/>
          <p:nvPr/>
        </p:nvSpPr>
        <p:spPr>
          <a:xfrm>
            <a:off x="1738763" y="5346451"/>
            <a:ext cx="1057982" cy="461665"/>
          </a:xfrm>
          <a:prstGeom prst="rect">
            <a:avLst/>
          </a:prstGeom>
          <a:noFill/>
          <a:ln>
            <a:noFill/>
          </a:ln>
        </p:spPr>
        <p:txBody>
          <a:bodyPr wrap="none" lIns="0" tIns="0" rIns="0" bIns="0" anchor="t">
            <a:spAutoFit/>
          </a:bodyPr>
          <a:lstStyle/>
          <a:p>
            <a:pPr algn="ctr"/>
            <a:r>
              <a:rPr sz="1000" b="0">
                <a:solidFill>
                  <a:srgbClr val="484848"/>
                </a:solidFill>
                <a:latin typeface="Roboto"/>
              </a:rPr>
              <a:t>Individuals claim
reimbursement for
medical costs.</a:t>
            </a:r>
          </a:p>
        </p:txBody>
      </p:sp>
      <p:sp>
        <p:nvSpPr>
          <p:cNvPr id="21" name="TextBox 20">
            <a:extLst>
              <a:ext uri="{FF2B5EF4-FFF2-40B4-BE49-F238E27FC236}">
                <a16:creationId xmlns="" xmlns:a16="http://schemas.microsoft.com/office/drawing/2014/main" id="{6A4AEE44-4E03-4779-914C-08077F8D129E}"/>
              </a:ext>
            </a:extLst>
          </p:cNvPr>
          <p:cNvSpPr txBox="1"/>
          <p:nvPr/>
        </p:nvSpPr>
        <p:spPr>
          <a:xfrm>
            <a:off x="6444441" y="5638456"/>
            <a:ext cx="783868" cy="307777"/>
          </a:xfrm>
          <a:prstGeom prst="rect">
            <a:avLst/>
          </a:prstGeom>
          <a:noFill/>
          <a:ln>
            <a:noFill/>
          </a:ln>
        </p:spPr>
        <p:txBody>
          <a:bodyPr wrap="none" lIns="0" tIns="0" rIns="0" bIns="0" anchor="t">
            <a:spAutoFit/>
          </a:bodyPr>
          <a:lstStyle/>
          <a:p>
            <a:pPr algn="ctr"/>
            <a:r>
              <a:rPr sz="1000" b="1">
                <a:solidFill>
                  <a:srgbClr val="E0CB15"/>
                </a:solidFill>
                <a:latin typeface="Roboto"/>
              </a:rPr>
              <a:t>Incur Medical
Expenses</a:t>
            </a:r>
          </a:p>
        </p:txBody>
      </p:sp>
      <p:sp>
        <p:nvSpPr>
          <p:cNvPr id="22" name="TextBox 21">
            <a:extLst>
              <a:ext uri="{FF2B5EF4-FFF2-40B4-BE49-F238E27FC236}">
                <a16:creationId xmlns="" xmlns:a16="http://schemas.microsoft.com/office/drawing/2014/main" id="{B0ECC4AE-4288-4B72-9B2C-E2B4BA1ED07E}"/>
              </a:ext>
            </a:extLst>
          </p:cNvPr>
          <p:cNvSpPr txBox="1"/>
          <p:nvPr/>
        </p:nvSpPr>
        <p:spPr>
          <a:xfrm>
            <a:off x="6306531" y="6100490"/>
            <a:ext cx="1059585" cy="461665"/>
          </a:xfrm>
          <a:prstGeom prst="rect">
            <a:avLst/>
          </a:prstGeom>
          <a:noFill/>
          <a:ln>
            <a:noFill/>
          </a:ln>
        </p:spPr>
        <p:txBody>
          <a:bodyPr wrap="none" lIns="0" tIns="0" rIns="0" bIns="0" anchor="t">
            <a:spAutoFit/>
          </a:bodyPr>
          <a:lstStyle/>
          <a:p>
            <a:pPr algn="ctr"/>
            <a:r>
              <a:rPr sz="1000" b="0">
                <a:solidFill>
                  <a:srgbClr val="484848"/>
                </a:solidFill>
                <a:latin typeface="Roboto"/>
              </a:rPr>
              <a:t>Medical expenses
arise due to illness
or injury.</a:t>
            </a:r>
          </a:p>
        </p:txBody>
      </p:sp>
      <p:sp>
        <p:nvSpPr>
          <p:cNvPr id="23" name="Rounded Rectangle 22">
            <a:extLst>
              <a:ext uri="{FF2B5EF4-FFF2-40B4-BE49-F238E27FC236}">
                <a16:creationId xmlns="" xmlns:a16="http://schemas.microsoft.com/office/drawing/2014/main" id="{ED7EB927-B732-4BC1-A339-A5554FBEBABA}"/>
              </a:ext>
            </a:extLst>
          </p:cNvPr>
          <p:cNvSpPr/>
          <p:nvPr/>
        </p:nvSpPr>
        <p:spPr>
          <a:xfrm>
            <a:off x="6710665" y="2082646"/>
            <a:ext cx="340056" cy="340056"/>
          </a:xfrm>
          <a:custGeom>
            <a:avLst/>
            <a:gdLst/>
            <a:ahLst/>
            <a:cxnLst/>
            <a:rect l="0" t="0" r="0" b="0"/>
            <a:pathLst>
              <a:path w="340056" h="340056">
                <a:moveTo>
                  <a:pt x="11088" y="158939"/>
                </a:moveTo>
                <a:cubicBezTo>
                  <a:pt x="11088" y="177312"/>
                  <a:pt x="25982" y="192205"/>
                  <a:pt x="44355" y="192205"/>
                </a:cubicBezTo>
                <a:cubicBezTo>
                  <a:pt x="62727" y="192205"/>
                  <a:pt x="77621" y="177312"/>
                  <a:pt x="77621" y="158939"/>
                </a:cubicBezTo>
                <a:cubicBezTo>
                  <a:pt x="77621" y="140567"/>
                  <a:pt x="62727" y="125673"/>
                  <a:pt x="44355" y="125673"/>
                </a:cubicBezTo>
                <a:cubicBezTo>
                  <a:pt x="25982" y="125673"/>
                  <a:pt x="11088" y="140567"/>
                  <a:pt x="11088" y="158939"/>
                </a:cubicBezTo>
                <a:moveTo>
                  <a:pt x="59140" y="340056"/>
                </a:moveTo>
                <a:lnTo>
                  <a:pt x="66532" y="280916"/>
                </a:lnTo>
                <a:lnTo>
                  <a:pt x="88710" y="280916"/>
                </a:lnTo>
                <a:lnTo>
                  <a:pt x="88710" y="251346"/>
                </a:lnTo>
                <a:cubicBezTo>
                  <a:pt x="88710" y="226849"/>
                  <a:pt x="68851" y="206991"/>
                  <a:pt x="44355" y="206991"/>
                </a:cubicBezTo>
                <a:cubicBezTo>
                  <a:pt x="19858" y="206991"/>
                  <a:pt x="0" y="226849"/>
                  <a:pt x="0" y="251346"/>
                </a:cubicBezTo>
                <a:lnTo>
                  <a:pt x="0" y="280916"/>
                </a:lnTo>
                <a:lnTo>
                  <a:pt x="22177" y="280916"/>
                </a:lnTo>
                <a:lnTo>
                  <a:pt x="29570" y="340056"/>
                </a:lnTo>
                <a:moveTo>
                  <a:pt x="262435" y="158939"/>
                </a:moveTo>
                <a:cubicBezTo>
                  <a:pt x="262435" y="177312"/>
                  <a:pt x="277328" y="192205"/>
                  <a:pt x="295701" y="192205"/>
                </a:cubicBezTo>
                <a:cubicBezTo>
                  <a:pt x="314074" y="192205"/>
                  <a:pt x="328967" y="177312"/>
                  <a:pt x="328967" y="158939"/>
                </a:cubicBezTo>
                <a:cubicBezTo>
                  <a:pt x="328967" y="140567"/>
                  <a:pt x="314074" y="125673"/>
                  <a:pt x="295701" y="125673"/>
                </a:cubicBezTo>
                <a:cubicBezTo>
                  <a:pt x="277328" y="125673"/>
                  <a:pt x="262435" y="140567"/>
                  <a:pt x="262435" y="158939"/>
                </a:cubicBezTo>
                <a:moveTo>
                  <a:pt x="310486" y="340056"/>
                </a:moveTo>
                <a:lnTo>
                  <a:pt x="317879" y="280916"/>
                </a:lnTo>
                <a:lnTo>
                  <a:pt x="340056" y="280916"/>
                </a:lnTo>
                <a:lnTo>
                  <a:pt x="340056" y="251346"/>
                </a:lnTo>
                <a:cubicBezTo>
                  <a:pt x="340056" y="226849"/>
                  <a:pt x="320198" y="206991"/>
                  <a:pt x="295701" y="206991"/>
                </a:cubicBezTo>
                <a:cubicBezTo>
                  <a:pt x="271204" y="206991"/>
                  <a:pt x="251346" y="226849"/>
                  <a:pt x="251346" y="251346"/>
                </a:cubicBezTo>
                <a:lnTo>
                  <a:pt x="251346" y="280916"/>
                </a:lnTo>
                <a:lnTo>
                  <a:pt x="273523" y="280916"/>
                </a:lnTo>
                <a:lnTo>
                  <a:pt x="280916" y="340056"/>
                </a:lnTo>
                <a:moveTo>
                  <a:pt x="88710" y="81317"/>
                </a:moveTo>
                <a:cubicBezTo>
                  <a:pt x="88710" y="126228"/>
                  <a:pt x="125117" y="162635"/>
                  <a:pt x="170028" y="162635"/>
                </a:cubicBezTo>
                <a:cubicBezTo>
                  <a:pt x="214939" y="162635"/>
                  <a:pt x="251346" y="126228"/>
                  <a:pt x="251346" y="81317"/>
                </a:cubicBezTo>
                <a:cubicBezTo>
                  <a:pt x="251346" y="36407"/>
                  <a:pt x="214939" y="0"/>
                  <a:pt x="170028" y="0"/>
                </a:cubicBezTo>
                <a:cubicBezTo>
                  <a:pt x="125117" y="0"/>
                  <a:pt x="88710" y="36407"/>
                  <a:pt x="88710" y="81317"/>
                </a:cubicBezTo>
                <a:moveTo>
                  <a:pt x="189101" y="62984"/>
                </a:moveTo>
                <a:cubicBezTo>
                  <a:pt x="189177" y="52836"/>
                  <a:pt x="181056" y="44525"/>
                  <a:pt x="170909" y="44366"/>
                </a:cubicBezTo>
                <a:cubicBezTo>
                  <a:pt x="160763" y="44207"/>
                  <a:pt x="152386" y="52260"/>
                  <a:pt x="152144" y="62405"/>
                </a:cubicBezTo>
                <a:cubicBezTo>
                  <a:pt x="151902" y="72550"/>
                  <a:pt x="159885" y="80992"/>
                  <a:pt x="170028" y="81317"/>
                </a:cubicBezTo>
                <a:cubicBezTo>
                  <a:pt x="177795" y="81321"/>
                  <a:pt x="184784" y="86035"/>
                  <a:pt x="187698" y="93235"/>
                </a:cubicBezTo>
                <a:cubicBezTo>
                  <a:pt x="190612" y="100434"/>
                  <a:pt x="188869" y="108682"/>
                  <a:pt x="183291" y="114087"/>
                </a:cubicBezTo>
                <a:cubicBezTo>
                  <a:pt x="177713" y="119492"/>
                  <a:pt x="169414" y="120975"/>
                  <a:pt x="162310" y="117836"/>
                </a:cubicBezTo>
                <a:cubicBezTo>
                  <a:pt x="155205" y="114696"/>
                  <a:pt x="150714" y="107562"/>
                  <a:pt x="150955" y="99799"/>
                </a:cubicBezTo>
                <a:moveTo>
                  <a:pt x="170028" y="44503"/>
                </a:moveTo>
                <a:lnTo>
                  <a:pt x="170028" y="29570"/>
                </a:lnTo>
                <a:moveTo>
                  <a:pt x="170028" y="133065"/>
                </a:moveTo>
                <a:lnTo>
                  <a:pt x="170028" y="118132"/>
                </a:lnTo>
              </a:path>
            </a:pathLst>
          </a:custGeom>
          <a:noFill/>
          <a:ln w="11088">
            <a:solidFill>
              <a:srgbClr val="484848"/>
            </a:solidFill>
          </a:ln>
        </p:spPr>
        <p:txBody>
          <a:bodyPr rtlCol="0" anchor="ctr"/>
          <a:lstStyle/>
          <a:p>
            <a:pPr algn="ctr"/>
            <a:endParaRPr sz="1000"/>
          </a:p>
        </p:txBody>
      </p:sp>
      <p:sp>
        <p:nvSpPr>
          <p:cNvPr id="24" name="Rounded Rectangle 23">
            <a:extLst>
              <a:ext uri="{FF2B5EF4-FFF2-40B4-BE49-F238E27FC236}">
                <a16:creationId xmlns="" xmlns:a16="http://schemas.microsoft.com/office/drawing/2014/main" id="{58ED0EDE-071C-48A1-80CC-4D43204FFEC1}"/>
              </a:ext>
            </a:extLst>
          </p:cNvPr>
          <p:cNvSpPr/>
          <p:nvPr/>
        </p:nvSpPr>
        <p:spPr>
          <a:xfrm>
            <a:off x="2045974" y="2829292"/>
            <a:ext cx="343752" cy="343752"/>
          </a:xfrm>
          <a:custGeom>
            <a:avLst/>
            <a:gdLst/>
            <a:ahLst/>
            <a:cxnLst/>
            <a:rect l="0" t="0" r="0" b="0"/>
            <a:pathLst>
              <a:path w="343752" h="343752">
                <a:moveTo>
                  <a:pt x="343752" y="232864"/>
                </a:moveTo>
                <a:cubicBezTo>
                  <a:pt x="343752" y="286091"/>
                  <a:pt x="305311" y="333403"/>
                  <a:pt x="255042" y="343752"/>
                </a:cubicBezTo>
                <a:cubicBezTo>
                  <a:pt x="204773" y="333403"/>
                  <a:pt x="166332" y="286091"/>
                  <a:pt x="166332" y="232864"/>
                </a:cubicBezTo>
                <a:lnTo>
                  <a:pt x="166332" y="188509"/>
                </a:lnTo>
                <a:cubicBezTo>
                  <a:pt x="166332" y="176681"/>
                  <a:pt x="176681" y="166332"/>
                  <a:pt x="188509" y="166332"/>
                </a:cubicBezTo>
                <a:lnTo>
                  <a:pt x="321575" y="166332"/>
                </a:lnTo>
                <a:cubicBezTo>
                  <a:pt x="333403" y="166332"/>
                  <a:pt x="343752" y="176681"/>
                  <a:pt x="343752" y="188509"/>
                </a:cubicBezTo>
                <a:close/>
                <a:moveTo>
                  <a:pt x="74664" y="263913"/>
                </a:moveTo>
                <a:lnTo>
                  <a:pt x="74664" y="160418"/>
                </a:lnTo>
                <a:lnTo>
                  <a:pt x="53965" y="160418"/>
                </a:lnTo>
                <a:cubicBezTo>
                  <a:pt x="30309" y="160418"/>
                  <a:pt x="11088" y="141197"/>
                  <a:pt x="11088" y="117541"/>
                </a:cubicBezTo>
                <a:lnTo>
                  <a:pt x="11088" y="110148"/>
                </a:lnTo>
                <a:cubicBezTo>
                  <a:pt x="11088" y="101277"/>
                  <a:pt x="15524" y="93885"/>
                  <a:pt x="22916" y="90928"/>
                </a:cubicBezTo>
                <a:lnTo>
                  <a:pt x="95363" y="53965"/>
                </a:lnTo>
                <a:lnTo>
                  <a:pt x="95363" y="11088"/>
                </a:lnTo>
                <a:cubicBezTo>
                  <a:pt x="122163" y="11088"/>
                  <a:pt x="132815" y="17817"/>
                  <a:pt x="169685" y="121142"/>
                </a:cubicBezTo>
                <a:moveTo>
                  <a:pt x="0" y="0"/>
                </a:moveTo>
                <a:moveTo>
                  <a:pt x="121884" y="185552"/>
                </a:moveTo>
                <a:lnTo>
                  <a:pt x="74572" y="212165"/>
                </a:lnTo>
              </a:path>
            </a:pathLst>
          </a:custGeom>
          <a:noFill/>
          <a:ln w="11088">
            <a:solidFill>
              <a:srgbClr val="484848"/>
            </a:solidFill>
          </a:ln>
        </p:spPr>
        <p:txBody>
          <a:bodyPr rtlCol="0" anchor="ctr"/>
          <a:lstStyle/>
          <a:p>
            <a:pPr algn="ctr"/>
            <a:endParaRPr sz="1000"/>
          </a:p>
        </p:txBody>
      </p:sp>
      <p:sp>
        <p:nvSpPr>
          <p:cNvPr id="25" name="Rounded Rectangle 24">
            <a:extLst>
              <a:ext uri="{FF2B5EF4-FFF2-40B4-BE49-F238E27FC236}">
                <a16:creationId xmlns="" xmlns:a16="http://schemas.microsoft.com/office/drawing/2014/main" id="{94F6368F-71A7-454C-AC32-1BF68B0F14DC}"/>
              </a:ext>
            </a:extLst>
          </p:cNvPr>
          <p:cNvSpPr/>
          <p:nvPr/>
        </p:nvSpPr>
        <p:spPr>
          <a:xfrm>
            <a:off x="6718058" y="3502013"/>
            <a:ext cx="325271" cy="340056"/>
          </a:xfrm>
          <a:custGeom>
            <a:avLst/>
            <a:gdLst/>
            <a:ahLst/>
            <a:cxnLst/>
            <a:rect l="0" t="0" r="0" b="0"/>
            <a:pathLst>
              <a:path w="325271" h="340056">
                <a:moveTo>
                  <a:pt x="162635" y="206991"/>
                </a:moveTo>
                <a:cubicBezTo>
                  <a:pt x="162635" y="190653"/>
                  <a:pt x="182492" y="177420"/>
                  <a:pt x="206991" y="177420"/>
                </a:cubicBezTo>
                <a:cubicBezTo>
                  <a:pt x="231489" y="177420"/>
                  <a:pt x="251346" y="190653"/>
                  <a:pt x="251346" y="206991"/>
                </a:cubicBezTo>
                <a:cubicBezTo>
                  <a:pt x="253600" y="188736"/>
                  <a:pt x="270004" y="175613"/>
                  <a:pt x="288308" y="177420"/>
                </a:cubicBezTo>
                <a:cubicBezTo>
                  <a:pt x="306613" y="175613"/>
                  <a:pt x="323017" y="188736"/>
                  <a:pt x="325271" y="206991"/>
                </a:cubicBezTo>
                <a:lnTo>
                  <a:pt x="325271" y="199598"/>
                </a:lnTo>
                <a:cubicBezTo>
                  <a:pt x="325271" y="105698"/>
                  <a:pt x="256535" y="29570"/>
                  <a:pt x="162635" y="29570"/>
                </a:cubicBezTo>
                <a:cubicBezTo>
                  <a:pt x="68735" y="29570"/>
                  <a:pt x="0" y="105698"/>
                  <a:pt x="0" y="199598"/>
                </a:cubicBezTo>
                <a:lnTo>
                  <a:pt x="0" y="206991"/>
                </a:lnTo>
                <a:cubicBezTo>
                  <a:pt x="2254" y="188736"/>
                  <a:pt x="18658" y="175613"/>
                  <a:pt x="36962" y="177420"/>
                </a:cubicBezTo>
                <a:cubicBezTo>
                  <a:pt x="55266" y="175613"/>
                  <a:pt x="71671" y="188736"/>
                  <a:pt x="73925" y="206991"/>
                </a:cubicBezTo>
                <a:cubicBezTo>
                  <a:pt x="73925" y="190653"/>
                  <a:pt x="93781" y="177420"/>
                  <a:pt x="118280" y="177420"/>
                </a:cubicBezTo>
                <a:cubicBezTo>
                  <a:pt x="142779" y="177420"/>
                  <a:pt x="162635" y="190727"/>
                  <a:pt x="162635" y="206991"/>
                </a:cubicBezTo>
                <a:close/>
                <a:moveTo>
                  <a:pt x="162635" y="29570"/>
                </a:moveTo>
                <a:lnTo>
                  <a:pt x="162635" y="0"/>
                </a:lnTo>
                <a:moveTo>
                  <a:pt x="162635" y="206991"/>
                </a:moveTo>
                <a:lnTo>
                  <a:pt x="162635" y="317879"/>
                </a:lnTo>
                <a:moveTo>
                  <a:pt x="162635" y="317879"/>
                </a:moveTo>
                <a:cubicBezTo>
                  <a:pt x="162635" y="330127"/>
                  <a:pt x="172565" y="340056"/>
                  <a:pt x="184813" y="340056"/>
                </a:cubicBezTo>
                <a:cubicBezTo>
                  <a:pt x="197061" y="340056"/>
                  <a:pt x="206991" y="330127"/>
                  <a:pt x="206991" y="317879"/>
                </a:cubicBezTo>
                <a:lnTo>
                  <a:pt x="206991" y="310486"/>
                </a:lnTo>
              </a:path>
            </a:pathLst>
          </a:custGeom>
          <a:noFill/>
          <a:ln w="11088">
            <a:solidFill>
              <a:srgbClr val="484848"/>
            </a:solidFill>
          </a:ln>
        </p:spPr>
        <p:txBody>
          <a:bodyPr rtlCol="0" anchor="ctr"/>
          <a:lstStyle/>
          <a:p>
            <a:pPr algn="ctr"/>
            <a:endParaRPr sz="1000"/>
          </a:p>
        </p:txBody>
      </p:sp>
      <p:sp>
        <p:nvSpPr>
          <p:cNvPr id="26" name="Rounded Rectangle 25">
            <a:extLst>
              <a:ext uri="{FF2B5EF4-FFF2-40B4-BE49-F238E27FC236}">
                <a16:creationId xmlns="" xmlns:a16="http://schemas.microsoft.com/office/drawing/2014/main" id="{0B68813D-32D0-422D-A3B7-0E71069FB143}"/>
              </a:ext>
            </a:extLst>
          </p:cNvPr>
          <p:cNvSpPr/>
          <p:nvPr/>
        </p:nvSpPr>
        <p:spPr>
          <a:xfrm>
            <a:off x="2097722" y="4457425"/>
            <a:ext cx="340056" cy="292153"/>
          </a:xfrm>
          <a:custGeom>
            <a:avLst/>
            <a:gdLst/>
            <a:ahLst/>
            <a:cxnLst/>
            <a:rect l="0" t="0" r="0" b="0"/>
            <a:pathLst>
              <a:path w="340056" h="292153">
                <a:moveTo>
                  <a:pt x="199598" y="147850"/>
                </a:moveTo>
                <a:cubicBezTo>
                  <a:pt x="209208" y="138240"/>
                  <a:pt x="214383" y="130108"/>
                  <a:pt x="225176" y="133065"/>
                </a:cubicBezTo>
                <a:cubicBezTo>
                  <a:pt x="235969" y="136022"/>
                  <a:pt x="235082" y="142232"/>
                  <a:pt x="236561" y="147850"/>
                </a:cubicBezTo>
                <a:lnTo>
                  <a:pt x="248684" y="139866"/>
                </a:lnTo>
                <a:cubicBezTo>
                  <a:pt x="254526" y="135953"/>
                  <a:pt x="262316" y="136695"/>
                  <a:pt x="267314" y="141641"/>
                </a:cubicBezTo>
                <a:lnTo>
                  <a:pt x="273523" y="147850"/>
                </a:lnTo>
                <a:lnTo>
                  <a:pt x="303094" y="147850"/>
                </a:lnTo>
                <a:moveTo>
                  <a:pt x="44355" y="147850"/>
                </a:moveTo>
                <a:lnTo>
                  <a:pt x="44355" y="14785"/>
                </a:lnTo>
                <a:cubicBezTo>
                  <a:pt x="44355" y="6619"/>
                  <a:pt x="50974" y="0"/>
                  <a:pt x="59140" y="0"/>
                </a:cubicBezTo>
                <a:lnTo>
                  <a:pt x="325271" y="0"/>
                </a:lnTo>
                <a:cubicBezTo>
                  <a:pt x="333437" y="0"/>
                  <a:pt x="340056" y="6619"/>
                  <a:pt x="340056" y="14785"/>
                </a:cubicBezTo>
                <a:lnTo>
                  <a:pt x="340056" y="177420"/>
                </a:lnTo>
                <a:cubicBezTo>
                  <a:pt x="340056" y="185586"/>
                  <a:pt x="333437" y="192205"/>
                  <a:pt x="325271" y="192205"/>
                </a:cubicBezTo>
                <a:lnTo>
                  <a:pt x="170028" y="192205"/>
                </a:lnTo>
                <a:moveTo>
                  <a:pt x="133065" y="88858"/>
                </a:moveTo>
                <a:lnTo>
                  <a:pt x="177420" y="88858"/>
                </a:lnTo>
                <a:moveTo>
                  <a:pt x="88710" y="88858"/>
                </a:moveTo>
                <a:lnTo>
                  <a:pt x="103495" y="88858"/>
                </a:lnTo>
                <a:moveTo>
                  <a:pt x="88710" y="44503"/>
                </a:moveTo>
                <a:lnTo>
                  <a:pt x="192205" y="44503"/>
                </a:lnTo>
                <a:moveTo>
                  <a:pt x="243953" y="44503"/>
                </a:moveTo>
                <a:cubicBezTo>
                  <a:pt x="236561" y="44503"/>
                  <a:pt x="236561" y="51895"/>
                  <a:pt x="236561" y="51895"/>
                </a:cubicBezTo>
                <a:lnTo>
                  <a:pt x="236561" y="66680"/>
                </a:lnTo>
                <a:cubicBezTo>
                  <a:pt x="236561" y="74073"/>
                  <a:pt x="243953" y="74073"/>
                  <a:pt x="243953" y="74073"/>
                </a:cubicBezTo>
                <a:lnTo>
                  <a:pt x="303094" y="74073"/>
                </a:lnTo>
                <a:cubicBezTo>
                  <a:pt x="310486" y="74073"/>
                  <a:pt x="310486" y="66680"/>
                  <a:pt x="310486" y="66680"/>
                </a:cubicBezTo>
                <a:lnTo>
                  <a:pt x="310486" y="51895"/>
                </a:lnTo>
                <a:cubicBezTo>
                  <a:pt x="310486" y="44503"/>
                  <a:pt x="303094" y="44503"/>
                  <a:pt x="303094" y="44503"/>
                </a:cubicBezTo>
                <a:lnTo>
                  <a:pt x="243953" y="44503"/>
                </a:lnTo>
                <a:moveTo>
                  <a:pt x="44355" y="125820"/>
                </a:moveTo>
                <a:lnTo>
                  <a:pt x="0" y="147998"/>
                </a:lnTo>
                <a:moveTo>
                  <a:pt x="0" y="292153"/>
                </a:moveTo>
                <a:lnTo>
                  <a:pt x="127595" y="197676"/>
                </a:lnTo>
                <a:cubicBezTo>
                  <a:pt x="135867" y="190815"/>
                  <a:pt x="137883" y="178938"/>
                  <a:pt x="132337" y="169731"/>
                </a:cubicBezTo>
                <a:cubicBezTo>
                  <a:pt x="126791" y="160525"/>
                  <a:pt x="115349" y="156755"/>
                  <a:pt x="105417" y="160861"/>
                </a:cubicBezTo>
                <a:lnTo>
                  <a:pt x="44355" y="188657"/>
                </a:lnTo>
                <a:moveTo>
                  <a:pt x="217784" y="192205"/>
                </a:moveTo>
                <a:lnTo>
                  <a:pt x="171063" y="248537"/>
                </a:lnTo>
                <a:cubicBezTo>
                  <a:pt x="166072" y="253749"/>
                  <a:pt x="158205" y="254966"/>
                  <a:pt x="151872" y="251506"/>
                </a:cubicBezTo>
                <a:cubicBezTo>
                  <a:pt x="145540" y="248045"/>
                  <a:pt x="142315" y="240767"/>
                  <a:pt x="144006" y="233752"/>
                </a:cubicBezTo>
                <a:lnTo>
                  <a:pt x="147850" y="222219"/>
                </a:lnTo>
                <a:moveTo>
                  <a:pt x="238039" y="192205"/>
                </a:moveTo>
                <a:lnTo>
                  <a:pt x="225620" y="254598"/>
                </a:lnTo>
                <a:cubicBezTo>
                  <a:pt x="224711" y="259101"/>
                  <a:pt x="221760" y="262926"/>
                  <a:pt x="217636" y="264948"/>
                </a:cubicBezTo>
                <a:cubicBezTo>
                  <a:pt x="209948" y="268644"/>
                  <a:pt x="192205" y="263470"/>
                  <a:pt x="192205" y="250163"/>
                </a:cubicBezTo>
                <a:lnTo>
                  <a:pt x="192205" y="223550"/>
                </a:lnTo>
              </a:path>
            </a:pathLst>
          </a:custGeom>
          <a:noFill/>
          <a:ln w="11088">
            <a:solidFill>
              <a:srgbClr val="484848"/>
            </a:solidFill>
          </a:ln>
        </p:spPr>
        <p:txBody>
          <a:bodyPr rtlCol="0" anchor="ctr"/>
          <a:lstStyle/>
          <a:p>
            <a:pPr algn="ctr"/>
            <a:endParaRPr sz="1000"/>
          </a:p>
        </p:txBody>
      </p:sp>
      <p:sp>
        <p:nvSpPr>
          <p:cNvPr id="27" name="Rounded Rectangle 26">
            <a:extLst>
              <a:ext uri="{FF2B5EF4-FFF2-40B4-BE49-F238E27FC236}">
                <a16:creationId xmlns="" xmlns:a16="http://schemas.microsoft.com/office/drawing/2014/main" id="{5FCC4D8C-CCBA-482D-88B5-869604273D99}"/>
              </a:ext>
            </a:extLst>
          </p:cNvPr>
          <p:cNvSpPr/>
          <p:nvPr/>
        </p:nvSpPr>
        <p:spPr>
          <a:xfrm>
            <a:off x="6666310" y="5184020"/>
            <a:ext cx="347663" cy="344934"/>
          </a:xfrm>
          <a:custGeom>
            <a:avLst/>
            <a:gdLst/>
            <a:ahLst/>
            <a:cxnLst/>
            <a:rect l="0" t="0" r="0" b="0"/>
            <a:pathLst>
              <a:path w="347663" h="344934">
                <a:moveTo>
                  <a:pt x="0" y="180912"/>
                </a:moveTo>
                <a:lnTo>
                  <a:pt x="32394" y="180912"/>
                </a:lnTo>
                <a:cubicBezTo>
                  <a:pt x="35191" y="180912"/>
                  <a:pt x="37749" y="182492"/>
                  <a:pt x="39003" y="184993"/>
                </a:cubicBezTo>
                <a:lnTo>
                  <a:pt x="45478" y="197944"/>
                </a:lnTo>
                <a:cubicBezTo>
                  <a:pt x="46706" y="200395"/>
                  <a:pt x="49189" y="201965"/>
                  <a:pt x="51929" y="202023"/>
                </a:cubicBezTo>
                <a:cubicBezTo>
                  <a:pt x="54669" y="202082"/>
                  <a:pt x="57216" y="200621"/>
                  <a:pt x="58548" y="198225"/>
                </a:cubicBezTo>
                <a:lnTo>
                  <a:pt x="81894" y="156206"/>
                </a:lnTo>
                <a:cubicBezTo>
                  <a:pt x="83224" y="153803"/>
                  <a:pt x="85776" y="152335"/>
                  <a:pt x="88521" y="152394"/>
                </a:cubicBezTo>
                <a:cubicBezTo>
                  <a:pt x="91267" y="152453"/>
                  <a:pt x="93754" y="154029"/>
                  <a:pt x="94979" y="156487"/>
                </a:cubicBezTo>
                <a:lnTo>
                  <a:pt x="120498" y="207525"/>
                </a:lnTo>
                <a:cubicBezTo>
                  <a:pt x="121624" y="209783"/>
                  <a:pt x="123824" y="211310"/>
                  <a:pt x="126332" y="211577"/>
                </a:cubicBezTo>
                <a:cubicBezTo>
                  <a:pt x="128841" y="211843"/>
                  <a:pt x="131313" y="210812"/>
                  <a:pt x="132888" y="208841"/>
                </a:cubicBezTo>
                <a:lnTo>
                  <a:pt x="153010" y="183706"/>
                </a:lnTo>
                <a:cubicBezTo>
                  <a:pt x="154414" y="181949"/>
                  <a:pt x="156542" y="180926"/>
                  <a:pt x="158791" y="180927"/>
                </a:cubicBezTo>
                <a:lnTo>
                  <a:pt x="184813" y="180927"/>
                </a:lnTo>
                <a:moveTo>
                  <a:pt x="104146" y="277473"/>
                </a:moveTo>
                <a:cubicBezTo>
                  <a:pt x="107433" y="315842"/>
                  <a:pt x="140163" y="344934"/>
                  <a:pt x="178653" y="343698"/>
                </a:cubicBezTo>
                <a:cubicBezTo>
                  <a:pt x="217142" y="342462"/>
                  <a:pt x="247939" y="311331"/>
                  <a:pt x="248758" y="272831"/>
                </a:cubicBezTo>
                <a:cubicBezTo>
                  <a:pt x="249654" y="249038"/>
                  <a:pt x="262769" y="227392"/>
                  <a:pt x="283444" y="215583"/>
                </a:cubicBezTo>
                <a:cubicBezTo>
                  <a:pt x="325820" y="190921"/>
                  <a:pt x="347663" y="141911"/>
                  <a:pt x="337672" y="93910"/>
                </a:cubicBezTo>
                <a:cubicBezTo>
                  <a:pt x="327681" y="45908"/>
                  <a:pt x="288097" y="9684"/>
                  <a:pt x="239399" y="3979"/>
                </a:cubicBezTo>
                <a:cubicBezTo>
                  <a:pt x="195373" y="0"/>
                  <a:pt x="153224" y="22694"/>
                  <a:pt x="132311" y="61641"/>
                </a:cubicBezTo>
                <a:moveTo>
                  <a:pt x="165149" y="97938"/>
                </a:moveTo>
                <a:cubicBezTo>
                  <a:pt x="185733" y="88776"/>
                  <a:pt x="209555" y="90653"/>
                  <a:pt x="228450" y="102927"/>
                </a:cubicBezTo>
                <a:cubicBezTo>
                  <a:pt x="247344" y="115201"/>
                  <a:pt x="258743" y="136203"/>
                  <a:pt x="258738" y="158734"/>
                </a:cubicBezTo>
                <a:cubicBezTo>
                  <a:pt x="259275" y="188085"/>
                  <a:pt x="239699" y="214009"/>
                  <a:pt x="211323" y="221527"/>
                </a:cubicBezTo>
                <a:cubicBezTo>
                  <a:pt x="201132" y="224198"/>
                  <a:pt x="193549" y="232737"/>
                  <a:pt x="192102" y="243172"/>
                </a:cubicBezTo>
                <a:cubicBezTo>
                  <a:pt x="190881" y="255887"/>
                  <a:pt x="181538" y="266332"/>
                  <a:pt x="169037" y="268957"/>
                </a:cubicBezTo>
                <a:cubicBezTo>
                  <a:pt x="160322" y="270890"/>
                  <a:pt x="151200" y="268783"/>
                  <a:pt x="144217" y="263223"/>
                </a:cubicBezTo>
                <a:cubicBezTo>
                  <a:pt x="137233" y="257662"/>
                  <a:pt x="133135" y="249245"/>
                  <a:pt x="133065" y="240318"/>
                </a:cubicBezTo>
                <a:moveTo>
                  <a:pt x="278639" y="98766"/>
                </a:moveTo>
                <a:cubicBezTo>
                  <a:pt x="270541" y="70432"/>
                  <a:pt x="242818" y="52382"/>
                  <a:pt x="213630" y="56441"/>
                </a:cubicBezTo>
                <a:cubicBezTo>
                  <a:pt x="184442" y="60500"/>
                  <a:pt x="162696" y="85428"/>
                  <a:pt x="162635" y="114897"/>
                </a:cubicBezTo>
                <a:cubicBezTo>
                  <a:pt x="162617" y="124721"/>
                  <a:pt x="165100" y="134389"/>
                  <a:pt x="169850" y="142988"/>
                </a:cubicBezTo>
              </a:path>
            </a:pathLst>
          </a:custGeom>
          <a:noFill/>
          <a:ln w="11088">
            <a:solidFill>
              <a:srgbClr val="484848"/>
            </a:solidFill>
          </a:ln>
        </p:spPr>
        <p:txBody>
          <a:bodyPr rtlCol="0" anchor="ctr"/>
          <a:lstStyle/>
          <a:p>
            <a:pPr algn="ctr"/>
            <a:endParaRPr sz="1000"/>
          </a:p>
        </p:txBody>
      </p:sp>
      <p:sp>
        <p:nvSpPr>
          <p:cNvPr id="33" name="TextBox 32">
            <a:extLst>
              <a:ext uri="{FF2B5EF4-FFF2-40B4-BE49-F238E27FC236}">
                <a16:creationId xmlns="" xmlns:a16="http://schemas.microsoft.com/office/drawing/2014/main" id="{03454E4F-CADC-4401-A731-5FF5445537F0}"/>
              </a:ext>
            </a:extLst>
          </p:cNvPr>
          <p:cNvSpPr txBox="1"/>
          <p:nvPr/>
        </p:nvSpPr>
        <p:spPr>
          <a:xfrm>
            <a:off x="334162" y="601549"/>
            <a:ext cx="8734926" cy="1323439"/>
          </a:xfrm>
          <a:prstGeom prst="rect">
            <a:avLst/>
          </a:prstGeom>
          <a:noFill/>
        </p:spPr>
        <p:txBody>
          <a:bodyPr wrap="square">
            <a:spAutoFit/>
          </a:bodyPr>
          <a:lstStyle/>
          <a:p>
            <a:endParaRPr lang="en-US" sz="1600" dirty="0"/>
          </a:p>
          <a:p>
            <a:r>
              <a:rPr lang="en-US" sz="1600" dirty="0"/>
              <a:t>Health insurance is a contract between an individual or a group and an insurance company. In exchange for a premium, the insurance company agrees to pay for medical expenses incurred due to illness or injury, as outlined in the policy. It is a crucial tool for managing healthcare costs and protecting individuals and families from financial hardship in the event of unexpected medical needs.</a:t>
            </a:r>
            <a:endParaRPr lang="en-IN" sz="1600" dirty="0"/>
          </a:p>
        </p:txBody>
      </p:sp>
    </p:spTree>
    <p:extLst>
      <p:ext uri="{BB962C8B-B14F-4D97-AF65-F5344CB8AC3E}">
        <p14:creationId xmlns:p14="http://schemas.microsoft.com/office/powerpoint/2010/main" val="2768901220"/>
      </p:ext>
    </p:extLst>
  </p:cSld>
  <p:clrMapOvr>
    <a:masterClrMapping/>
  </p:clrMapOvr>
  <p:transition spd="slow" advTm="40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1B2A37FA-E6AD-4B3A-9DB6-DA0D6F521E90}"/>
              </a:ext>
            </a:extLst>
          </p:cNvPr>
          <p:cNvSpPr txBox="1"/>
          <p:nvPr/>
        </p:nvSpPr>
        <p:spPr>
          <a:xfrm>
            <a:off x="673768" y="992510"/>
            <a:ext cx="8013032" cy="5232202"/>
          </a:xfrm>
          <a:prstGeom prst="rect">
            <a:avLst/>
          </a:prstGeom>
          <a:noFill/>
        </p:spPr>
        <p:txBody>
          <a:bodyPr wrap="square">
            <a:spAutoFit/>
          </a:bodyPr>
          <a:lstStyle/>
          <a:p>
            <a:pPr rtl="0"/>
            <a:r>
              <a:rPr lang="en-US" sz="1600" b="1" dirty="0">
                <a:ea typeface="Roboto" panose="02000000000000000000" pitchFamily="2" charset="0"/>
              </a:rPr>
              <a:t>1 Individual Health Insurance</a:t>
            </a:r>
          </a:p>
          <a:p>
            <a:pPr rtl="0"/>
            <a:r>
              <a:rPr lang="en-US" sz="1600" dirty="0">
                <a:ea typeface="Roboto" panose="02000000000000000000" pitchFamily="2" charset="0"/>
              </a:rPr>
              <a:t>An individual health insurance plan covers a single person. It is suitable for individuals who are not covered by a group plan or who prefer to have their own policy.</a:t>
            </a:r>
          </a:p>
          <a:p>
            <a:pPr rtl="0"/>
            <a:endParaRPr lang="en-US" sz="1600" dirty="0">
              <a:ea typeface="Roboto" panose="02000000000000000000" pitchFamily="2" charset="0"/>
            </a:endParaRPr>
          </a:p>
          <a:p>
            <a:pPr rtl="0"/>
            <a:r>
              <a:rPr lang="en-US" sz="1600" b="1" dirty="0">
                <a:ea typeface="Roboto" panose="02000000000000000000" pitchFamily="2" charset="0"/>
              </a:rPr>
              <a:t>2 Family Floater Health Insurance</a:t>
            </a:r>
          </a:p>
          <a:p>
            <a:pPr rtl="0"/>
            <a:r>
              <a:rPr lang="en-US" sz="1600" dirty="0">
                <a:ea typeface="Roboto" panose="02000000000000000000" pitchFamily="2" charset="0"/>
              </a:rPr>
              <a:t>A family floater plan covers the entire family under a single policy. The sum insured is shared among all family members, making it a cost-effective option for families.</a:t>
            </a:r>
          </a:p>
          <a:p>
            <a:pPr rtl="0"/>
            <a:endParaRPr lang="en-US" sz="1600" dirty="0">
              <a:ea typeface="Roboto" panose="02000000000000000000" pitchFamily="2" charset="0"/>
            </a:endParaRPr>
          </a:p>
          <a:p>
            <a:pPr rtl="0"/>
            <a:r>
              <a:rPr lang="en-US" sz="1600" b="1" dirty="0">
                <a:ea typeface="Roboto" panose="02000000000000000000" pitchFamily="2" charset="0"/>
              </a:rPr>
              <a:t>3 Group Health Insurance</a:t>
            </a:r>
          </a:p>
          <a:p>
            <a:pPr rtl="0"/>
            <a:r>
              <a:rPr lang="en-US" sz="1600" dirty="0">
                <a:ea typeface="Roboto" panose="02000000000000000000" pitchFamily="2" charset="0"/>
              </a:rPr>
              <a:t>Group health insurance is offered by employers to their employees. It typically provides comprehensive coverage at a lower cost compared to individual plans.</a:t>
            </a:r>
          </a:p>
          <a:p>
            <a:pPr rtl="0"/>
            <a:endParaRPr lang="en-US" sz="1600" dirty="0">
              <a:ea typeface="Roboto" panose="02000000000000000000" pitchFamily="2" charset="0"/>
            </a:endParaRPr>
          </a:p>
          <a:p>
            <a:pPr rtl="0"/>
            <a:r>
              <a:rPr lang="en-US" sz="1600" b="1" dirty="0">
                <a:ea typeface="Roboto" panose="02000000000000000000" pitchFamily="2" charset="0"/>
              </a:rPr>
              <a:t>4 Senior Citizen Health Insurance</a:t>
            </a:r>
          </a:p>
          <a:p>
            <a:pPr rtl="0"/>
            <a:r>
              <a:rPr lang="en-US" sz="1600" dirty="0">
                <a:ea typeface="Roboto" panose="02000000000000000000" pitchFamily="2" charset="0"/>
              </a:rPr>
              <a:t>These plans are specifically designed for senior citizens, offering coverage for age-related illnesses and medical needs.</a:t>
            </a:r>
          </a:p>
          <a:p>
            <a:pPr rtl="0"/>
            <a:endParaRPr lang="en-US" sz="1600" dirty="0">
              <a:ea typeface="Roboto" panose="02000000000000000000" pitchFamily="2" charset="0"/>
            </a:endParaRPr>
          </a:p>
          <a:p>
            <a:pPr rtl="0"/>
            <a:r>
              <a:rPr lang="en-US" sz="1600" b="1" dirty="0">
                <a:ea typeface="Roboto" panose="02000000000000000000" pitchFamily="2" charset="0"/>
              </a:rPr>
              <a:t>5 Critical Illness Insurance</a:t>
            </a:r>
          </a:p>
          <a:p>
            <a:pPr rtl="0"/>
            <a:r>
              <a:rPr lang="en-US" sz="1600" dirty="0">
                <a:ea typeface="Roboto" panose="02000000000000000000" pitchFamily="2" charset="0"/>
              </a:rPr>
              <a:t>Critical illness insurance provides a lump-sum payment upon diagnosis of a covered critical illness, such as cancer, heart attack, or stroke. This payment can be used to cover medical expenses, living expenses, or any other needs.</a:t>
            </a:r>
          </a:p>
          <a:p>
            <a:pPr rtl="0"/>
            <a:endParaRPr lang="en-US" sz="1400" dirty="0">
              <a:ea typeface="Roboto" panose="02000000000000000000" pitchFamily="2" charset="0"/>
            </a:endParaRPr>
          </a:p>
        </p:txBody>
      </p:sp>
      <p:sp>
        <p:nvSpPr>
          <p:cNvPr id="9" name="TextBox 8">
            <a:extLst>
              <a:ext uri="{FF2B5EF4-FFF2-40B4-BE49-F238E27FC236}">
                <a16:creationId xmlns="" xmlns:a16="http://schemas.microsoft.com/office/drawing/2014/main" id="{EA2A5852-5691-4344-8E6B-9BB4C4E05BF8}"/>
              </a:ext>
            </a:extLst>
          </p:cNvPr>
          <p:cNvSpPr txBox="1"/>
          <p:nvPr/>
        </p:nvSpPr>
        <p:spPr>
          <a:xfrm>
            <a:off x="2286000" y="404859"/>
            <a:ext cx="4572000" cy="677108"/>
          </a:xfrm>
          <a:prstGeom prst="rect">
            <a:avLst/>
          </a:prstGeom>
          <a:noFill/>
        </p:spPr>
        <p:txBody>
          <a:bodyPr wrap="square">
            <a:spAutoFit/>
          </a:bodyPr>
          <a:lstStyle/>
          <a:p>
            <a:pPr algn="ctr"/>
            <a:r>
              <a:rPr lang="en-US" sz="2000" b="1" dirty="0" smtClean="0"/>
              <a:t>Types of  </a:t>
            </a:r>
            <a:r>
              <a:rPr lang="en-US" sz="2000" b="1" dirty="0"/>
              <a:t>In Health </a:t>
            </a:r>
            <a:r>
              <a:rPr lang="en-US" sz="2000" b="1" dirty="0" smtClean="0"/>
              <a:t>Insurance Plans</a:t>
            </a:r>
            <a:endParaRPr lang="en-US" sz="2000" b="1" dirty="0">
              <a:solidFill>
                <a:srgbClr val="484848"/>
              </a:solidFill>
            </a:endParaRPr>
          </a:p>
          <a:p>
            <a:pPr algn="ctr"/>
            <a:endParaRPr lang="en-IN" sz="1800" b="1" dirty="0">
              <a:solidFill>
                <a:srgbClr val="484848"/>
              </a:solidFill>
            </a:endParaRPr>
          </a:p>
        </p:txBody>
      </p:sp>
    </p:spTree>
    <p:extLst>
      <p:ext uri="{BB962C8B-B14F-4D97-AF65-F5344CB8AC3E}">
        <p14:creationId xmlns:p14="http://schemas.microsoft.com/office/powerpoint/2010/main" val="3826514547"/>
      </p:ext>
    </p:extLst>
  </p:cSld>
  <p:clrMapOvr>
    <a:masterClrMapping/>
  </p:clrMapOvr>
  <p:transition spd="slow" advTm="40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298032" y="257287"/>
            <a:ext cx="4644189" cy="615553"/>
          </a:xfrm>
          <a:prstGeom prst="rect">
            <a:avLst/>
          </a:prstGeom>
          <a:noFill/>
          <a:ln>
            <a:noFill/>
          </a:ln>
        </p:spPr>
        <p:txBody>
          <a:bodyPr wrap="square" lIns="0" tIns="0" rIns="0" bIns="0" anchor="t">
            <a:spAutoFit/>
          </a:bodyPr>
          <a:lstStyle/>
          <a:p>
            <a:pPr algn="ctr"/>
            <a:r>
              <a:rPr lang="en-US" sz="2000" b="1" dirty="0" smtClean="0"/>
              <a:t>What does my health insurance cover?</a:t>
            </a:r>
            <a:endParaRPr lang="en-US" sz="2000" b="1" dirty="0">
              <a:solidFill>
                <a:srgbClr val="484848"/>
              </a:solidFill>
            </a:endParaRPr>
          </a:p>
          <a:p>
            <a:pPr algn="ctr"/>
            <a:endParaRPr sz="2000" b="1" dirty="0">
              <a:solidFill>
                <a:srgbClr val="484848"/>
              </a:solidFill>
            </a:endParaRPr>
          </a:p>
        </p:txBody>
      </p:sp>
      <p:sp>
        <p:nvSpPr>
          <p:cNvPr id="18" name="TextBox 17">
            <a:extLst>
              <a:ext uri="{FF2B5EF4-FFF2-40B4-BE49-F238E27FC236}">
                <a16:creationId xmlns="" xmlns:a16="http://schemas.microsoft.com/office/drawing/2014/main" id="{4A244BF9-BC23-485C-87DD-29B5590F1423}"/>
              </a:ext>
            </a:extLst>
          </p:cNvPr>
          <p:cNvSpPr txBox="1"/>
          <p:nvPr/>
        </p:nvSpPr>
        <p:spPr>
          <a:xfrm>
            <a:off x="1118937" y="1247005"/>
            <a:ext cx="7244443" cy="3293209"/>
          </a:xfrm>
          <a:prstGeom prst="rect">
            <a:avLst/>
          </a:prstGeom>
          <a:noFill/>
        </p:spPr>
        <p:txBody>
          <a:bodyPr wrap="square">
            <a:spAutoFit/>
          </a:bodyPr>
          <a:lstStyle/>
          <a:p>
            <a:r>
              <a:rPr lang="en-US" sz="1600" b="1" dirty="0"/>
              <a:t>1 Coverage</a:t>
            </a:r>
          </a:p>
          <a:p>
            <a:pPr marL="342900" indent="-342900">
              <a:buAutoNum type="arabicPeriod"/>
            </a:pPr>
            <a:endParaRPr lang="en-US" sz="1600" dirty="0"/>
          </a:p>
          <a:p>
            <a:pPr>
              <a:buFont typeface="Arial" panose="020B0604020202020204" pitchFamily="34" charset="0"/>
              <a:buChar char="•"/>
            </a:pPr>
            <a:r>
              <a:rPr lang="en-US" sz="1600" dirty="0"/>
              <a:t>Covers hospitalization expenses.</a:t>
            </a:r>
          </a:p>
          <a:p>
            <a:pPr>
              <a:buFont typeface="Arial" panose="020B0604020202020204" pitchFamily="34" charset="0"/>
              <a:buChar char="•"/>
            </a:pPr>
            <a:r>
              <a:rPr lang="en-US" sz="1600" dirty="0"/>
              <a:t>Includes doctor’s visits.</a:t>
            </a:r>
          </a:p>
          <a:p>
            <a:pPr>
              <a:buFont typeface="Arial" panose="020B0604020202020204" pitchFamily="34" charset="0"/>
              <a:buChar char="•"/>
            </a:pPr>
            <a:r>
              <a:rPr lang="en-US" sz="1600" dirty="0"/>
              <a:t>Covers diagnostic tests.</a:t>
            </a:r>
          </a:p>
          <a:p>
            <a:pPr>
              <a:buFont typeface="Arial" panose="020B0604020202020204" pitchFamily="34" charset="0"/>
              <a:buChar char="•"/>
            </a:pPr>
            <a:r>
              <a:rPr lang="en-US" sz="1600" dirty="0"/>
              <a:t>Includes surgeries.</a:t>
            </a:r>
          </a:p>
          <a:p>
            <a:endParaRPr lang="en-US" sz="1600" dirty="0"/>
          </a:p>
          <a:p>
            <a:r>
              <a:rPr lang="en-US" sz="1600" b="1" dirty="0"/>
              <a:t>2 Exclusions</a:t>
            </a:r>
          </a:p>
          <a:p>
            <a:endParaRPr lang="en-US" sz="1600" dirty="0"/>
          </a:p>
          <a:p>
            <a:pPr>
              <a:buFont typeface="Arial" panose="020B0604020202020204" pitchFamily="34" charset="0"/>
              <a:buChar char="•"/>
            </a:pPr>
            <a:r>
              <a:rPr lang="en-US" sz="1600" dirty="0"/>
              <a:t>Pre-existing conditions (after waiting period).</a:t>
            </a:r>
          </a:p>
          <a:p>
            <a:pPr>
              <a:buFont typeface="Arial" panose="020B0604020202020204" pitchFamily="34" charset="0"/>
              <a:buChar char="•"/>
            </a:pPr>
            <a:r>
              <a:rPr lang="en-US" sz="1600" dirty="0"/>
              <a:t>Cosmetic surgery not covered.</a:t>
            </a:r>
          </a:p>
          <a:p>
            <a:pPr>
              <a:buFont typeface="Arial" panose="020B0604020202020204" pitchFamily="34" charset="0"/>
              <a:buChar char="•"/>
            </a:pPr>
            <a:r>
              <a:rPr lang="en-US" sz="1600" dirty="0"/>
              <a:t>Dental and vision care excluded (unless added).</a:t>
            </a:r>
          </a:p>
          <a:p>
            <a:pPr>
              <a:buFont typeface="Arial" panose="020B0604020202020204" pitchFamily="34" charset="0"/>
              <a:buChar char="•"/>
            </a:pPr>
            <a:r>
              <a:rPr lang="en-US" sz="1600" dirty="0"/>
              <a:t>No cover for self-inflicted injuries.</a:t>
            </a:r>
          </a:p>
        </p:txBody>
      </p:sp>
      <p:sp>
        <p:nvSpPr>
          <p:cNvPr id="19" name="Rounded Rectangle 1">
            <a:extLst>
              <a:ext uri="{FF2B5EF4-FFF2-40B4-BE49-F238E27FC236}">
                <a16:creationId xmlns="" xmlns:a16="http://schemas.microsoft.com/office/drawing/2014/main" id="{7529F94E-2644-43D0-9140-502B5864F3B7}"/>
              </a:ext>
            </a:extLst>
          </p:cNvPr>
          <p:cNvSpPr/>
          <p:nvPr/>
        </p:nvSpPr>
        <p:spPr>
          <a:xfrm>
            <a:off x="5821387" y="1560803"/>
            <a:ext cx="1382998" cy="2272068"/>
          </a:xfrm>
          <a:custGeom>
            <a:avLst/>
            <a:gdLst/>
            <a:ahLst/>
            <a:cxnLst/>
            <a:rect l="0" t="0" r="0" b="0"/>
            <a:pathLst>
              <a:path w="1382998" h="2272068">
                <a:moveTo>
                  <a:pt x="0" y="0"/>
                </a:moveTo>
                <a:lnTo>
                  <a:pt x="1382998" y="0"/>
                </a:lnTo>
                <a:lnTo>
                  <a:pt x="1382998" y="2272068"/>
                </a:lnTo>
                <a:lnTo>
                  <a:pt x="0" y="2272068"/>
                </a:lnTo>
                <a:lnTo>
                  <a:pt x="0" y="0"/>
                </a:lnTo>
              </a:path>
            </a:pathLst>
          </a:custGeom>
          <a:solidFill>
            <a:srgbClr val="4E88E7"/>
          </a:solidFill>
          <a:ln>
            <a:noFill/>
          </a:ln>
        </p:spPr>
        <p:txBody>
          <a:bodyPr rtlCol="0" anchor="ctr"/>
          <a:lstStyle/>
          <a:p>
            <a:pPr algn="ctr"/>
            <a:endParaRPr/>
          </a:p>
        </p:txBody>
      </p:sp>
      <p:sp>
        <p:nvSpPr>
          <p:cNvPr id="20" name="Rounded Rectangle 2">
            <a:extLst>
              <a:ext uri="{FF2B5EF4-FFF2-40B4-BE49-F238E27FC236}">
                <a16:creationId xmlns="" xmlns:a16="http://schemas.microsoft.com/office/drawing/2014/main" id="{B781ECB1-AA34-47A4-BEC0-1E8B293F6641}"/>
              </a:ext>
            </a:extLst>
          </p:cNvPr>
          <p:cNvSpPr/>
          <p:nvPr/>
        </p:nvSpPr>
        <p:spPr>
          <a:xfrm>
            <a:off x="5821387" y="1560803"/>
            <a:ext cx="1382998" cy="2272068"/>
          </a:xfrm>
          <a:custGeom>
            <a:avLst/>
            <a:gdLst/>
            <a:ahLst/>
            <a:cxnLst/>
            <a:rect l="0" t="0" r="0" b="0"/>
            <a:pathLst>
              <a:path w="1382998" h="2272068">
                <a:moveTo>
                  <a:pt x="0" y="0"/>
                </a:moveTo>
                <a:lnTo>
                  <a:pt x="1382998" y="0"/>
                </a:lnTo>
                <a:lnTo>
                  <a:pt x="1382998" y="2272068"/>
                </a:lnTo>
                <a:lnTo>
                  <a:pt x="0" y="2272068"/>
                </a:lnTo>
                <a:close/>
              </a:path>
            </a:pathLst>
          </a:custGeom>
          <a:noFill/>
          <a:ln w="12348">
            <a:solidFill>
              <a:srgbClr val="FFFFFF"/>
            </a:solidFill>
          </a:ln>
        </p:spPr>
        <p:txBody>
          <a:bodyPr rtlCol="0" anchor="ctr"/>
          <a:lstStyle/>
          <a:p>
            <a:pPr algn="ctr"/>
            <a:endParaRPr/>
          </a:p>
        </p:txBody>
      </p:sp>
      <p:sp>
        <p:nvSpPr>
          <p:cNvPr id="21" name="Rounded Rectangle 4">
            <a:extLst>
              <a:ext uri="{FF2B5EF4-FFF2-40B4-BE49-F238E27FC236}">
                <a16:creationId xmlns="" xmlns:a16="http://schemas.microsoft.com/office/drawing/2014/main" id="{25240CDE-ACA8-4B11-B1C9-D2BA9DF29F4F}"/>
              </a:ext>
            </a:extLst>
          </p:cNvPr>
          <p:cNvSpPr/>
          <p:nvPr/>
        </p:nvSpPr>
        <p:spPr>
          <a:xfrm>
            <a:off x="6037481" y="3901471"/>
            <a:ext cx="879075" cy="1291548"/>
          </a:xfrm>
          <a:custGeom>
            <a:avLst/>
            <a:gdLst/>
            <a:ahLst/>
            <a:cxnLst/>
            <a:rect l="0" t="0" r="0" b="0"/>
            <a:pathLst>
              <a:path w="879075" h="1291548">
                <a:moveTo>
                  <a:pt x="516882" y="587682"/>
                </a:moveTo>
                <a:cubicBezTo>
                  <a:pt x="530853" y="600059"/>
                  <a:pt x="561735" y="629825"/>
                  <a:pt x="573493" y="649884"/>
                </a:cubicBezTo>
                <a:cubicBezTo>
                  <a:pt x="588191" y="674958"/>
                  <a:pt x="582860" y="712738"/>
                  <a:pt x="586409" y="752640"/>
                </a:cubicBezTo>
                <a:cubicBezTo>
                  <a:pt x="544295" y="721529"/>
                  <a:pt x="508777" y="663289"/>
                  <a:pt x="516289" y="623596"/>
                </a:cubicBezTo>
                <a:cubicBezTo>
                  <a:pt x="518381" y="612186"/>
                  <a:pt x="518376" y="600080"/>
                  <a:pt x="516882" y="587682"/>
                </a:cubicBezTo>
                <a:close/>
                <a:moveTo>
                  <a:pt x="393328" y="1127556"/>
                </a:moveTo>
                <a:cubicBezTo>
                  <a:pt x="617216" y="1014384"/>
                  <a:pt x="558043" y="956764"/>
                  <a:pt x="817171" y="821375"/>
                </a:cubicBezTo>
                <a:cubicBezTo>
                  <a:pt x="879075" y="789032"/>
                  <a:pt x="782529" y="671505"/>
                  <a:pt x="653601" y="771797"/>
                </a:cubicBezTo>
                <a:cubicBezTo>
                  <a:pt x="644748" y="767138"/>
                  <a:pt x="629807" y="772793"/>
                  <a:pt x="617216" y="768651"/>
                </a:cubicBezTo>
                <a:cubicBezTo>
                  <a:pt x="605875" y="764920"/>
                  <a:pt x="595593" y="759425"/>
                  <a:pt x="586409" y="752640"/>
                </a:cubicBezTo>
                <a:cubicBezTo>
                  <a:pt x="544295" y="721529"/>
                  <a:pt x="508777" y="663289"/>
                  <a:pt x="516289" y="623596"/>
                </a:cubicBezTo>
                <a:cubicBezTo>
                  <a:pt x="518381" y="612186"/>
                  <a:pt x="518376" y="600080"/>
                  <a:pt x="516882" y="587682"/>
                </a:cubicBezTo>
                <a:cubicBezTo>
                  <a:pt x="508824" y="520806"/>
                  <a:pt x="498596" y="437248"/>
                  <a:pt x="499152" y="417365"/>
                </a:cubicBezTo>
                <a:cubicBezTo>
                  <a:pt x="521824" y="215590"/>
                  <a:pt x="533278" y="160429"/>
                  <a:pt x="508182" y="80214"/>
                </a:cubicBezTo>
                <a:cubicBezTo>
                  <a:pt x="483087" y="0"/>
                  <a:pt x="434013" y="25403"/>
                  <a:pt x="428928" y="55794"/>
                </a:cubicBezTo>
                <a:cubicBezTo>
                  <a:pt x="419385" y="112830"/>
                  <a:pt x="414191" y="236728"/>
                  <a:pt x="368103" y="396301"/>
                </a:cubicBezTo>
                <a:cubicBezTo>
                  <a:pt x="366110" y="409551"/>
                  <a:pt x="355072" y="449374"/>
                  <a:pt x="353108" y="461019"/>
                </a:cubicBezTo>
                <a:cubicBezTo>
                  <a:pt x="316867" y="470041"/>
                  <a:pt x="306769" y="466886"/>
                  <a:pt x="273768" y="499027"/>
                </a:cubicBezTo>
                <a:cubicBezTo>
                  <a:pt x="229308" y="511074"/>
                  <a:pt x="176028" y="577563"/>
                  <a:pt x="169598" y="596862"/>
                </a:cubicBezTo>
                <a:cubicBezTo>
                  <a:pt x="112579" y="628594"/>
                  <a:pt x="91242" y="690710"/>
                  <a:pt x="87896" y="728548"/>
                </a:cubicBezTo>
                <a:cubicBezTo>
                  <a:pt x="91407" y="757392"/>
                  <a:pt x="83675" y="846092"/>
                  <a:pt x="83675" y="846092"/>
                </a:cubicBezTo>
                <a:cubicBezTo>
                  <a:pt x="83675" y="1078596"/>
                  <a:pt x="0" y="1127556"/>
                  <a:pt x="0" y="1291548"/>
                </a:cubicBezTo>
                <a:lnTo>
                  <a:pt x="348834" y="1291548"/>
                </a:lnTo>
                <a:cubicBezTo>
                  <a:pt x="348834" y="1207409"/>
                  <a:pt x="384685" y="1131534"/>
                  <a:pt x="393328" y="1127556"/>
                </a:cubicBezTo>
                <a:close/>
                <a:moveTo>
                  <a:pt x="436326" y="1014384"/>
                </a:moveTo>
                <a:cubicBezTo>
                  <a:pt x="436326" y="1069577"/>
                  <a:pt x="405451" y="1113443"/>
                  <a:pt x="393328" y="1127556"/>
                </a:cubicBezTo>
                <a:moveTo>
                  <a:pt x="169598" y="596862"/>
                </a:moveTo>
                <a:lnTo>
                  <a:pt x="155606" y="623596"/>
                </a:lnTo>
                <a:moveTo>
                  <a:pt x="353108" y="461019"/>
                </a:moveTo>
                <a:cubicBezTo>
                  <a:pt x="330076" y="481095"/>
                  <a:pt x="330780" y="511697"/>
                  <a:pt x="312480" y="539850"/>
                </a:cubicBezTo>
                <a:moveTo>
                  <a:pt x="273768" y="499027"/>
                </a:moveTo>
                <a:cubicBezTo>
                  <a:pt x="266353" y="511357"/>
                  <a:pt x="250096" y="540360"/>
                  <a:pt x="244383" y="557734"/>
                </a:cubicBezTo>
                <a:moveTo>
                  <a:pt x="713705" y="810114"/>
                </a:moveTo>
                <a:cubicBezTo>
                  <a:pt x="711589" y="802884"/>
                  <a:pt x="680380" y="785887"/>
                  <a:pt x="653601" y="771797"/>
                </a:cubicBezTo>
              </a:path>
            </a:pathLst>
          </a:custGeom>
          <a:noFill/>
          <a:ln w="12348">
            <a:solidFill>
              <a:srgbClr val="FFFFFF"/>
            </a:solidFill>
          </a:ln>
        </p:spPr>
        <p:txBody>
          <a:bodyPr rtlCol="0" anchor="ctr"/>
          <a:lstStyle/>
          <a:p>
            <a:pPr algn="ctr"/>
            <a:endParaRPr/>
          </a:p>
        </p:txBody>
      </p:sp>
      <p:sp>
        <p:nvSpPr>
          <p:cNvPr id="22" name="Rounded Rectangle 5">
            <a:extLst>
              <a:ext uri="{FF2B5EF4-FFF2-40B4-BE49-F238E27FC236}">
                <a16:creationId xmlns="" xmlns:a16="http://schemas.microsoft.com/office/drawing/2014/main" id="{8FAF8F46-B227-4E5C-8D57-C83B75125139}"/>
              </a:ext>
            </a:extLst>
          </p:cNvPr>
          <p:cNvSpPr/>
          <p:nvPr/>
        </p:nvSpPr>
        <p:spPr>
          <a:xfrm>
            <a:off x="7401957" y="1017483"/>
            <a:ext cx="1382998" cy="2568425"/>
          </a:xfrm>
          <a:custGeom>
            <a:avLst/>
            <a:gdLst/>
            <a:ahLst/>
            <a:cxnLst/>
            <a:rect l="0" t="0" r="0" b="0"/>
            <a:pathLst>
              <a:path w="1382998" h="2568425">
                <a:moveTo>
                  <a:pt x="0" y="0"/>
                </a:moveTo>
                <a:lnTo>
                  <a:pt x="1382998" y="0"/>
                </a:lnTo>
                <a:lnTo>
                  <a:pt x="1382998" y="2568425"/>
                </a:lnTo>
                <a:lnTo>
                  <a:pt x="0" y="2568425"/>
                </a:lnTo>
                <a:lnTo>
                  <a:pt x="0" y="0"/>
                </a:lnTo>
              </a:path>
            </a:pathLst>
          </a:custGeom>
          <a:solidFill>
            <a:srgbClr val="E55753"/>
          </a:solidFill>
          <a:ln>
            <a:noFill/>
          </a:ln>
        </p:spPr>
        <p:txBody>
          <a:bodyPr rtlCol="0" anchor="ctr"/>
          <a:lstStyle/>
          <a:p>
            <a:pPr algn="ctr"/>
            <a:endParaRPr/>
          </a:p>
        </p:txBody>
      </p:sp>
      <p:sp>
        <p:nvSpPr>
          <p:cNvPr id="23" name="Rounded Rectangle 6">
            <a:extLst>
              <a:ext uri="{FF2B5EF4-FFF2-40B4-BE49-F238E27FC236}">
                <a16:creationId xmlns="" xmlns:a16="http://schemas.microsoft.com/office/drawing/2014/main" id="{9F261C8D-FB83-48E9-94A5-4B1FCADC6620}"/>
              </a:ext>
            </a:extLst>
          </p:cNvPr>
          <p:cNvSpPr/>
          <p:nvPr/>
        </p:nvSpPr>
        <p:spPr>
          <a:xfrm>
            <a:off x="7401957" y="1017483"/>
            <a:ext cx="1382998" cy="2568425"/>
          </a:xfrm>
          <a:custGeom>
            <a:avLst/>
            <a:gdLst/>
            <a:ahLst/>
            <a:cxnLst/>
            <a:rect l="0" t="0" r="0" b="0"/>
            <a:pathLst>
              <a:path w="1382998" h="2568425">
                <a:moveTo>
                  <a:pt x="0" y="0"/>
                </a:moveTo>
                <a:lnTo>
                  <a:pt x="1382998" y="0"/>
                </a:lnTo>
                <a:lnTo>
                  <a:pt x="1382998" y="2568425"/>
                </a:lnTo>
                <a:lnTo>
                  <a:pt x="0" y="2568425"/>
                </a:lnTo>
                <a:close/>
              </a:path>
            </a:pathLst>
          </a:custGeom>
          <a:noFill/>
          <a:ln w="12348">
            <a:solidFill>
              <a:srgbClr val="FFFFFF"/>
            </a:solidFill>
          </a:ln>
        </p:spPr>
        <p:txBody>
          <a:bodyPr rtlCol="0" anchor="ctr"/>
          <a:lstStyle/>
          <a:p>
            <a:pPr algn="ctr"/>
            <a:endParaRPr/>
          </a:p>
        </p:txBody>
      </p:sp>
      <p:sp>
        <p:nvSpPr>
          <p:cNvPr id="24" name="Rounded Rectangle 7">
            <a:extLst>
              <a:ext uri="{FF2B5EF4-FFF2-40B4-BE49-F238E27FC236}">
                <a16:creationId xmlns="" xmlns:a16="http://schemas.microsoft.com/office/drawing/2014/main" id="{7384274A-CF5D-4871-8317-E61E31098FCA}"/>
              </a:ext>
            </a:extLst>
          </p:cNvPr>
          <p:cNvSpPr/>
          <p:nvPr/>
        </p:nvSpPr>
        <p:spPr>
          <a:xfrm>
            <a:off x="7814140" y="3748364"/>
            <a:ext cx="665757" cy="1294453"/>
          </a:xfrm>
          <a:custGeom>
            <a:avLst/>
            <a:gdLst/>
            <a:ahLst/>
            <a:cxnLst/>
            <a:rect l="0" t="0" r="0" b="0"/>
            <a:pathLst>
              <a:path w="665757" h="1294453">
                <a:moveTo>
                  <a:pt x="247778" y="437587"/>
                </a:moveTo>
                <a:cubicBezTo>
                  <a:pt x="249244" y="455113"/>
                  <a:pt x="250281" y="476475"/>
                  <a:pt x="250964" y="499089"/>
                </a:cubicBezTo>
                <a:cubicBezTo>
                  <a:pt x="251919" y="530709"/>
                  <a:pt x="252158" y="564781"/>
                  <a:pt x="251820" y="594220"/>
                </a:cubicBezTo>
                <a:cubicBezTo>
                  <a:pt x="251689" y="606510"/>
                  <a:pt x="251442" y="617994"/>
                  <a:pt x="251112" y="628152"/>
                </a:cubicBezTo>
                <a:cubicBezTo>
                  <a:pt x="251368" y="617072"/>
                  <a:pt x="251631" y="605876"/>
                  <a:pt x="251820" y="594220"/>
                </a:cubicBezTo>
                <a:cubicBezTo>
                  <a:pt x="252273" y="566617"/>
                  <a:pt x="252323" y="536438"/>
                  <a:pt x="250964" y="499089"/>
                </a:cubicBezTo>
                <a:cubicBezTo>
                  <a:pt x="250289" y="480542"/>
                  <a:pt x="249268" y="460233"/>
                  <a:pt x="247778" y="437587"/>
                </a:cubicBezTo>
                <a:moveTo>
                  <a:pt x="41745" y="659970"/>
                </a:moveTo>
                <a:lnTo>
                  <a:pt x="39250" y="665691"/>
                </a:lnTo>
                <a:lnTo>
                  <a:pt x="36435" y="670663"/>
                </a:lnTo>
                <a:lnTo>
                  <a:pt x="34805" y="672820"/>
                </a:lnTo>
                <a:lnTo>
                  <a:pt x="33183" y="674475"/>
                </a:lnTo>
                <a:cubicBezTo>
                  <a:pt x="35315" y="672639"/>
                  <a:pt x="37324" y="669634"/>
                  <a:pt x="39250" y="665691"/>
                </a:cubicBezTo>
                <a:cubicBezTo>
                  <a:pt x="41629" y="660818"/>
                  <a:pt x="43885" y="654503"/>
                  <a:pt x="46067" y="647234"/>
                </a:cubicBezTo>
                <a:lnTo>
                  <a:pt x="43967" y="653837"/>
                </a:lnTo>
                <a:lnTo>
                  <a:pt x="41745" y="659970"/>
                </a:lnTo>
                <a:moveTo>
                  <a:pt x="51714" y="626037"/>
                </a:moveTo>
                <a:lnTo>
                  <a:pt x="57913" y="599636"/>
                </a:lnTo>
                <a:cubicBezTo>
                  <a:pt x="57386" y="601917"/>
                  <a:pt x="56859" y="604189"/>
                  <a:pt x="56340" y="606453"/>
                </a:cubicBezTo>
                <a:cubicBezTo>
                  <a:pt x="54784" y="613162"/>
                  <a:pt x="53253" y="619747"/>
                  <a:pt x="51714" y="626037"/>
                </a:cubicBezTo>
                <a:moveTo>
                  <a:pt x="452133" y="1068004"/>
                </a:moveTo>
                <a:cubicBezTo>
                  <a:pt x="480476" y="1031560"/>
                  <a:pt x="575129" y="924213"/>
                  <a:pt x="607407" y="788761"/>
                </a:cubicBezTo>
                <a:cubicBezTo>
                  <a:pt x="632507" y="683456"/>
                  <a:pt x="626061" y="599052"/>
                  <a:pt x="643752" y="534619"/>
                </a:cubicBezTo>
                <a:cubicBezTo>
                  <a:pt x="665757" y="454454"/>
                  <a:pt x="548704" y="488091"/>
                  <a:pt x="533022" y="597743"/>
                </a:cubicBezTo>
                <a:cubicBezTo>
                  <a:pt x="517348" y="707387"/>
                  <a:pt x="480764" y="713050"/>
                  <a:pt x="462966" y="720196"/>
                </a:cubicBezTo>
                <a:lnTo>
                  <a:pt x="435940" y="709889"/>
                </a:lnTo>
                <a:cubicBezTo>
                  <a:pt x="424950" y="658792"/>
                  <a:pt x="420793" y="582933"/>
                  <a:pt x="409968" y="510252"/>
                </a:cubicBezTo>
                <a:cubicBezTo>
                  <a:pt x="351405" y="238567"/>
                  <a:pt x="358106" y="90767"/>
                  <a:pt x="320024" y="45383"/>
                </a:cubicBezTo>
                <a:cubicBezTo>
                  <a:pt x="281942" y="0"/>
                  <a:pt x="234171" y="24836"/>
                  <a:pt x="235760" y="57065"/>
                </a:cubicBezTo>
                <a:cubicBezTo>
                  <a:pt x="238731" y="117563"/>
                  <a:pt x="259303" y="264012"/>
                  <a:pt x="247778" y="437587"/>
                </a:cubicBezTo>
                <a:cubicBezTo>
                  <a:pt x="249244" y="455113"/>
                  <a:pt x="250281" y="476475"/>
                  <a:pt x="250964" y="499089"/>
                </a:cubicBezTo>
                <a:cubicBezTo>
                  <a:pt x="252323" y="536438"/>
                  <a:pt x="252273" y="566617"/>
                  <a:pt x="251820" y="594220"/>
                </a:cubicBezTo>
                <a:cubicBezTo>
                  <a:pt x="251681" y="606823"/>
                  <a:pt x="251434" y="618570"/>
                  <a:pt x="251088" y="628918"/>
                </a:cubicBezTo>
                <a:lnTo>
                  <a:pt x="251088" y="628152"/>
                </a:lnTo>
                <a:cubicBezTo>
                  <a:pt x="251368" y="617072"/>
                  <a:pt x="251631" y="605876"/>
                  <a:pt x="251820" y="594220"/>
                </a:cubicBezTo>
                <a:cubicBezTo>
                  <a:pt x="252158" y="564781"/>
                  <a:pt x="251919" y="530709"/>
                  <a:pt x="250964" y="499089"/>
                </a:cubicBezTo>
                <a:cubicBezTo>
                  <a:pt x="250289" y="480542"/>
                  <a:pt x="249268" y="460233"/>
                  <a:pt x="247778" y="437587"/>
                </a:cubicBezTo>
                <a:cubicBezTo>
                  <a:pt x="245663" y="412133"/>
                  <a:pt x="243786" y="402205"/>
                  <a:pt x="237661" y="394417"/>
                </a:cubicBezTo>
                <a:cubicBezTo>
                  <a:pt x="225428" y="378850"/>
                  <a:pt x="191709" y="366576"/>
                  <a:pt x="159777" y="402090"/>
                </a:cubicBezTo>
                <a:cubicBezTo>
                  <a:pt x="148697" y="414413"/>
                  <a:pt x="139221" y="441777"/>
                  <a:pt x="136702" y="478912"/>
                </a:cubicBezTo>
                <a:lnTo>
                  <a:pt x="135130" y="510046"/>
                </a:lnTo>
                <a:lnTo>
                  <a:pt x="135130" y="518402"/>
                </a:lnTo>
                <a:cubicBezTo>
                  <a:pt x="134282" y="533557"/>
                  <a:pt x="133813" y="548120"/>
                  <a:pt x="132965" y="560616"/>
                </a:cubicBezTo>
                <a:lnTo>
                  <a:pt x="132965" y="561192"/>
                </a:lnTo>
                <a:cubicBezTo>
                  <a:pt x="131648" y="579657"/>
                  <a:pt x="129540" y="593306"/>
                  <a:pt x="125136" y="597710"/>
                </a:cubicBezTo>
                <a:lnTo>
                  <a:pt x="126198" y="596409"/>
                </a:lnTo>
                <a:lnTo>
                  <a:pt x="127565" y="593866"/>
                </a:lnTo>
                <a:lnTo>
                  <a:pt x="129310" y="588663"/>
                </a:lnTo>
                <a:lnTo>
                  <a:pt x="130882" y="580859"/>
                </a:lnTo>
                <a:lnTo>
                  <a:pt x="132907" y="561464"/>
                </a:lnTo>
                <a:lnTo>
                  <a:pt x="132907" y="560616"/>
                </a:lnTo>
                <a:lnTo>
                  <a:pt x="134002" y="540686"/>
                </a:lnTo>
                <a:lnTo>
                  <a:pt x="134825" y="518402"/>
                </a:lnTo>
                <a:cubicBezTo>
                  <a:pt x="134916" y="515808"/>
                  <a:pt x="135015" y="513207"/>
                  <a:pt x="135113" y="510589"/>
                </a:cubicBezTo>
                <a:cubicBezTo>
                  <a:pt x="135533" y="499657"/>
                  <a:pt x="136003" y="489128"/>
                  <a:pt x="136702" y="478912"/>
                </a:cubicBezTo>
                <a:cubicBezTo>
                  <a:pt x="104885" y="479653"/>
                  <a:pt x="100143" y="493483"/>
                  <a:pt x="82724" y="521357"/>
                </a:cubicBezTo>
                <a:cubicBezTo>
                  <a:pt x="75834" y="532380"/>
                  <a:pt x="70178" y="550178"/>
                  <a:pt x="65083" y="569861"/>
                </a:cubicBezTo>
                <a:lnTo>
                  <a:pt x="61642" y="583724"/>
                </a:lnTo>
                <a:lnTo>
                  <a:pt x="57913" y="599636"/>
                </a:lnTo>
                <a:cubicBezTo>
                  <a:pt x="59131" y="594343"/>
                  <a:pt x="60374" y="589009"/>
                  <a:pt x="61642" y="583724"/>
                </a:cubicBezTo>
                <a:cubicBezTo>
                  <a:pt x="62761" y="579048"/>
                  <a:pt x="63906" y="574405"/>
                  <a:pt x="65083" y="569861"/>
                </a:cubicBezTo>
                <a:cubicBezTo>
                  <a:pt x="61304" y="569589"/>
                  <a:pt x="63222" y="572388"/>
                  <a:pt x="45778" y="586366"/>
                </a:cubicBezTo>
                <a:cubicBezTo>
                  <a:pt x="25527" y="602592"/>
                  <a:pt x="6561" y="653310"/>
                  <a:pt x="1325" y="673915"/>
                </a:cubicBezTo>
                <a:lnTo>
                  <a:pt x="0" y="678097"/>
                </a:lnTo>
                <a:lnTo>
                  <a:pt x="7277" y="758879"/>
                </a:lnTo>
                <a:cubicBezTo>
                  <a:pt x="29364" y="945567"/>
                  <a:pt x="83885" y="1028679"/>
                  <a:pt x="95525" y="1093869"/>
                </a:cubicBezTo>
                <a:lnTo>
                  <a:pt x="131994" y="1294453"/>
                </a:lnTo>
                <a:lnTo>
                  <a:pt x="461271" y="1294453"/>
                </a:lnTo>
                <a:cubicBezTo>
                  <a:pt x="446198" y="1204970"/>
                  <a:pt x="446008" y="1075865"/>
                  <a:pt x="452133" y="1068004"/>
                </a:cubicBezTo>
                <a:moveTo>
                  <a:pt x="39250" y="665691"/>
                </a:moveTo>
                <a:lnTo>
                  <a:pt x="41745" y="659970"/>
                </a:lnTo>
                <a:lnTo>
                  <a:pt x="43967" y="653837"/>
                </a:lnTo>
                <a:lnTo>
                  <a:pt x="46067" y="647234"/>
                </a:lnTo>
                <a:cubicBezTo>
                  <a:pt x="43885" y="654503"/>
                  <a:pt x="41629" y="660818"/>
                  <a:pt x="39250" y="665691"/>
                </a:cubicBezTo>
                <a:cubicBezTo>
                  <a:pt x="37324" y="669634"/>
                  <a:pt x="35315" y="672639"/>
                  <a:pt x="33183" y="674475"/>
                </a:cubicBezTo>
                <a:lnTo>
                  <a:pt x="34805" y="672820"/>
                </a:lnTo>
                <a:lnTo>
                  <a:pt x="36435" y="670663"/>
                </a:lnTo>
                <a:lnTo>
                  <a:pt x="39250" y="665691"/>
                </a:lnTo>
                <a:moveTo>
                  <a:pt x="464563" y="768329"/>
                </a:moveTo>
                <a:cubicBezTo>
                  <a:pt x="450972" y="760789"/>
                  <a:pt x="442304" y="739500"/>
                  <a:pt x="435940" y="709889"/>
                </a:cubicBezTo>
                <a:moveTo>
                  <a:pt x="251112" y="628152"/>
                </a:moveTo>
                <a:cubicBezTo>
                  <a:pt x="251104" y="628408"/>
                  <a:pt x="251096" y="628663"/>
                  <a:pt x="251088" y="628918"/>
                </a:cubicBezTo>
                <a:moveTo>
                  <a:pt x="82724" y="521357"/>
                </a:moveTo>
                <a:cubicBezTo>
                  <a:pt x="72451" y="537788"/>
                  <a:pt x="64918" y="569293"/>
                  <a:pt x="57913" y="599636"/>
                </a:cubicBezTo>
                <a:moveTo>
                  <a:pt x="46067" y="647234"/>
                </a:moveTo>
                <a:cubicBezTo>
                  <a:pt x="49582" y="635504"/>
                  <a:pt x="52916" y="621262"/>
                  <a:pt x="56340" y="606453"/>
                </a:cubicBezTo>
                <a:cubicBezTo>
                  <a:pt x="49079" y="637883"/>
                  <a:pt x="42206" y="666728"/>
                  <a:pt x="33183" y="674475"/>
                </a:cubicBezTo>
                <a:moveTo>
                  <a:pt x="46067" y="647234"/>
                </a:moveTo>
                <a:cubicBezTo>
                  <a:pt x="47985" y="640813"/>
                  <a:pt x="49862" y="633643"/>
                  <a:pt x="51714" y="626037"/>
                </a:cubicBezTo>
                <a:lnTo>
                  <a:pt x="48050" y="640287"/>
                </a:lnTo>
                <a:lnTo>
                  <a:pt x="46067" y="647234"/>
                </a:lnTo>
                <a:moveTo>
                  <a:pt x="135130" y="510046"/>
                </a:moveTo>
                <a:cubicBezTo>
                  <a:pt x="135122" y="510227"/>
                  <a:pt x="135122" y="510408"/>
                  <a:pt x="135113" y="510589"/>
                </a:cubicBezTo>
                <a:moveTo>
                  <a:pt x="132965" y="560616"/>
                </a:moveTo>
                <a:cubicBezTo>
                  <a:pt x="132948" y="560896"/>
                  <a:pt x="132932" y="561184"/>
                  <a:pt x="132907" y="561464"/>
                </a:cubicBezTo>
              </a:path>
            </a:pathLst>
          </a:custGeom>
          <a:solidFill>
            <a:srgbClr val="666666"/>
          </a:solidFill>
          <a:ln>
            <a:noFill/>
          </a:ln>
        </p:spPr>
        <p:txBody>
          <a:bodyPr rtlCol="0" anchor="ctr"/>
          <a:lstStyle/>
          <a:p>
            <a:pPr algn="ctr"/>
            <a:endParaRPr/>
          </a:p>
        </p:txBody>
      </p:sp>
      <p:sp>
        <p:nvSpPr>
          <p:cNvPr id="25" name="Rounded Rectangle 8">
            <a:extLst>
              <a:ext uri="{FF2B5EF4-FFF2-40B4-BE49-F238E27FC236}">
                <a16:creationId xmlns="" xmlns:a16="http://schemas.microsoft.com/office/drawing/2014/main" id="{BDC376FF-021C-4CD1-92C5-24889C5E09ED}"/>
              </a:ext>
            </a:extLst>
          </p:cNvPr>
          <p:cNvSpPr/>
          <p:nvPr/>
        </p:nvSpPr>
        <p:spPr>
          <a:xfrm>
            <a:off x="7814140" y="3748361"/>
            <a:ext cx="665758" cy="1294451"/>
          </a:xfrm>
          <a:custGeom>
            <a:avLst/>
            <a:gdLst/>
            <a:ahLst/>
            <a:cxnLst/>
            <a:rect l="0" t="0" r="0" b="0"/>
            <a:pathLst>
              <a:path w="665758" h="1294451">
                <a:moveTo>
                  <a:pt x="247783" y="437593"/>
                </a:moveTo>
                <a:cubicBezTo>
                  <a:pt x="249240" y="455117"/>
                  <a:pt x="250284" y="476479"/>
                  <a:pt x="250965" y="499089"/>
                </a:cubicBezTo>
                <a:cubicBezTo>
                  <a:pt x="251917" y="530714"/>
                  <a:pt x="252158" y="564784"/>
                  <a:pt x="251825" y="594220"/>
                </a:cubicBezTo>
                <a:cubicBezTo>
                  <a:pt x="251685" y="606513"/>
                  <a:pt x="251439" y="617997"/>
                  <a:pt x="251109" y="628158"/>
                </a:cubicBezTo>
                <a:cubicBezTo>
                  <a:pt x="251370" y="617075"/>
                  <a:pt x="251634" y="605877"/>
                  <a:pt x="251825" y="594220"/>
                </a:cubicBezTo>
                <a:cubicBezTo>
                  <a:pt x="252277" y="566618"/>
                  <a:pt x="252323" y="536437"/>
                  <a:pt x="250965" y="499089"/>
                </a:cubicBezTo>
                <a:cubicBezTo>
                  <a:pt x="250291" y="480544"/>
                  <a:pt x="249271" y="460233"/>
                  <a:pt x="247783" y="437593"/>
                </a:cubicBezTo>
                <a:close/>
                <a:moveTo>
                  <a:pt x="41744" y="659970"/>
                </a:moveTo>
                <a:lnTo>
                  <a:pt x="39250" y="665693"/>
                </a:lnTo>
                <a:lnTo>
                  <a:pt x="36435" y="670666"/>
                </a:lnTo>
                <a:lnTo>
                  <a:pt x="34807" y="672825"/>
                </a:lnTo>
                <a:lnTo>
                  <a:pt x="33179" y="674475"/>
                </a:lnTo>
                <a:cubicBezTo>
                  <a:pt x="35311" y="672644"/>
                  <a:pt x="37324" y="669636"/>
                  <a:pt x="39250" y="665693"/>
                </a:cubicBezTo>
                <a:cubicBezTo>
                  <a:pt x="41633" y="660816"/>
                  <a:pt x="43883" y="654508"/>
                  <a:pt x="46064" y="647234"/>
                </a:cubicBezTo>
                <a:lnTo>
                  <a:pt x="43968" y="653841"/>
                </a:lnTo>
                <a:close/>
                <a:moveTo>
                  <a:pt x="51718" y="626041"/>
                </a:moveTo>
                <a:lnTo>
                  <a:pt x="57909" y="599640"/>
                </a:lnTo>
                <a:cubicBezTo>
                  <a:pt x="57382" y="601920"/>
                  <a:pt x="56859" y="604193"/>
                  <a:pt x="56337" y="606453"/>
                </a:cubicBezTo>
                <a:cubicBezTo>
                  <a:pt x="54788" y="613161"/>
                  <a:pt x="53256" y="619750"/>
                  <a:pt x="51718" y="626041"/>
                </a:cubicBezTo>
                <a:close/>
                <a:moveTo>
                  <a:pt x="452130" y="1068003"/>
                </a:moveTo>
                <a:cubicBezTo>
                  <a:pt x="480478" y="1031566"/>
                  <a:pt x="575128" y="924215"/>
                  <a:pt x="607411" y="788761"/>
                </a:cubicBezTo>
                <a:cubicBezTo>
                  <a:pt x="632506" y="683462"/>
                  <a:pt x="626062" y="599052"/>
                  <a:pt x="643750" y="534622"/>
                </a:cubicBezTo>
                <a:cubicBezTo>
                  <a:pt x="665758" y="454459"/>
                  <a:pt x="548703" y="488096"/>
                  <a:pt x="533024" y="597744"/>
                </a:cubicBezTo>
                <a:cubicBezTo>
                  <a:pt x="517345" y="707392"/>
                  <a:pt x="480766" y="713055"/>
                  <a:pt x="462969" y="720202"/>
                </a:cubicBezTo>
                <a:lnTo>
                  <a:pt x="435937" y="709889"/>
                </a:lnTo>
                <a:cubicBezTo>
                  <a:pt x="424948" y="658796"/>
                  <a:pt x="420795" y="582939"/>
                  <a:pt x="409966" y="510253"/>
                </a:cubicBezTo>
                <a:cubicBezTo>
                  <a:pt x="351402" y="238568"/>
                  <a:pt x="358102" y="90769"/>
                  <a:pt x="320021" y="45384"/>
                </a:cubicBezTo>
                <a:cubicBezTo>
                  <a:pt x="281940" y="0"/>
                  <a:pt x="234175" y="24835"/>
                  <a:pt x="235760" y="57070"/>
                </a:cubicBezTo>
                <a:cubicBezTo>
                  <a:pt x="238735" y="117565"/>
                  <a:pt x="259299" y="264011"/>
                  <a:pt x="247783" y="437593"/>
                </a:cubicBezTo>
                <a:cubicBezTo>
                  <a:pt x="249240" y="455117"/>
                  <a:pt x="250284" y="476479"/>
                  <a:pt x="250965" y="499089"/>
                </a:cubicBezTo>
                <a:cubicBezTo>
                  <a:pt x="252323" y="536437"/>
                  <a:pt x="252277" y="566618"/>
                  <a:pt x="251825" y="594220"/>
                </a:cubicBezTo>
                <a:cubicBezTo>
                  <a:pt x="251681" y="606822"/>
                  <a:pt x="251434" y="618575"/>
                  <a:pt x="251092" y="628924"/>
                </a:cubicBezTo>
                <a:lnTo>
                  <a:pt x="251109" y="628158"/>
                </a:lnTo>
                <a:cubicBezTo>
                  <a:pt x="251370" y="617075"/>
                  <a:pt x="251634" y="605877"/>
                  <a:pt x="251825" y="594220"/>
                </a:cubicBezTo>
                <a:cubicBezTo>
                  <a:pt x="252158" y="564784"/>
                  <a:pt x="251917" y="530714"/>
                  <a:pt x="250965" y="499089"/>
                </a:cubicBezTo>
                <a:cubicBezTo>
                  <a:pt x="250291" y="480544"/>
                  <a:pt x="249271" y="460233"/>
                  <a:pt x="247783" y="437593"/>
                </a:cubicBezTo>
                <a:cubicBezTo>
                  <a:pt x="245664" y="412132"/>
                  <a:pt x="243783" y="402210"/>
                  <a:pt x="237659" y="394419"/>
                </a:cubicBezTo>
                <a:cubicBezTo>
                  <a:pt x="225426" y="378855"/>
                  <a:pt x="191709" y="366576"/>
                  <a:pt x="159773" y="402096"/>
                </a:cubicBezTo>
                <a:cubicBezTo>
                  <a:pt x="148699" y="414412"/>
                  <a:pt x="139219" y="441777"/>
                  <a:pt x="136700" y="478913"/>
                </a:cubicBezTo>
                <a:lnTo>
                  <a:pt x="135132" y="510046"/>
                </a:lnTo>
                <a:lnTo>
                  <a:pt x="135112" y="510592"/>
                </a:lnTo>
                <a:lnTo>
                  <a:pt x="134823" y="518402"/>
                </a:lnTo>
                <a:cubicBezTo>
                  <a:pt x="134278" y="533560"/>
                  <a:pt x="133813" y="548125"/>
                  <a:pt x="132968" y="560615"/>
                </a:cubicBezTo>
                <a:lnTo>
                  <a:pt x="132938" y="561194"/>
                </a:lnTo>
                <a:lnTo>
                  <a:pt x="132910" y="561466"/>
                </a:lnTo>
                <a:cubicBezTo>
                  <a:pt x="131644" y="579661"/>
                  <a:pt x="129536" y="593308"/>
                  <a:pt x="125133" y="597715"/>
                </a:cubicBezTo>
                <a:lnTo>
                  <a:pt x="126196" y="596410"/>
                </a:lnTo>
                <a:lnTo>
                  <a:pt x="127566" y="593872"/>
                </a:lnTo>
                <a:lnTo>
                  <a:pt x="129311" y="588664"/>
                </a:lnTo>
                <a:lnTo>
                  <a:pt x="130885" y="580863"/>
                </a:lnTo>
                <a:lnTo>
                  <a:pt x="132910" y="561466"/>
                </a:lnTo>
                <a:lnTo>
                  <a:pt x="132968" y="560615"/>
                </a:lnTo>
                <a:lnTo>
                  <a:pt x="134000" y="540686"/>
                </a:lnTo>
                <a:lnTo>
                  <a:pt x="134823" y="518402"/>
                </a:lnTo>
                <a:cubicBezTo>
                  <a:pt x="134916" y="515814"/>
                  <a:pt x="135011" y="513208"/>
                  <a:pt x="135112" y="510592"/>
                </a:cubicBezTo>
                <a:lnTo>
                  <a:pt x="135129" y="510104"/>
                </a:lnTo>
                <a:lnTo>
                  <a:pt x="135132" y="510046"/>
                </a:lnTo>
                <a:cubicBezTo>
                  <a:pt x="135532" y="499663"/>
                  <a:pt x="136007" y="489131"/>
                  <a:pt x="136700" y="478913"/>
                </a:cubicBezTo>
                <a:lnTo>
                  <a:pt x="136701" y="478887"/>
                </a:lnTo>
                <a:cubicBezTo>
                  <a:pt x="104884" y="479653"/>
                  <a:pt x="100143" y="493483"/>
                  <a:pt x="82723" y="521359"/>
                </a:cubicBezTo>
                <a:cubicBezTo>
                  <a:pt x="75834" y="532382"/>
                  <a:pt x="70178" y="550183"/>
                  <a:pt x="65084" y="569866"/>
                </a:cubicBezTo>
                <a:lnTo>
                  <a:pt x="61641" y="583727"/>
                </a:lnTo>
                <a:lnTo>
                  <a:pt x="57909" y="599640"/>
                </a:lnTo>
                <a:cubicBezTo>
                  <a:pt x="59133" y="594342"/>
                  <a:pt x="60373" y="589009"/>
                  <a:pt x="61641" y="583727"/>
                </a:cubicBezTo>
                <a:cubicBezTo>
                  <a:pt x="62764" y="579047"/>
                  <a:pt x="63909" y="574406"/>
                  <a:pt x="65084" y="569866"/>
                </a:cubicBezTo>
                <a:cubicBezTo>
                  <a:pt x="61300" y="569594"/>
                  <a:pt x="63218" y="572392"/>
                  <a:pt x="45778" y="586368"/>
                </a:cubicBezTo>
                <a:cubicBezTo>
                  <a:pt x="25526" y="602597"/>
                  <a:pt x="6560" y="653313"/>
                  <a:pt x="1327" y="673916"/>
                </a:cubicBezTo>
                <a:lnTo>
                  <a:pt x="0" y="678098"/>
                </a:lnTo>
                <a:lnTo>
                  <a:pt x="7273" y="758881"/>
                </a:lnTo>
                <a:cubicBezTo>
                  <a:pt x="29365" y="945567"/>
                  <a:pt x="83881" y="1028679"/>
                  <a:pt x="95525" y="1093874"/>
                </a:cubicBezTo>
                <a:lnTo>
                  <a:pt x="131991" y="1294451"/>
                </a:lnTo>
                <a:lnTo>
                  <a:pt x="461274" y="1294451"/>
                </a:lnTo>
                <a:cubicBezTo>
                  <a:pt x="446195" y="1204975"/>
                  <a:pt x="446012" y="1075868"/>
                  <a:pt x="452130" y="1068003"/>
                </a:cubicBezTo>
                <a:close/>
                <a:moveTo>
                  <a:pt x="39250" y="665693"/>
                </a:moveTo>
                <a:lnTo>
                  <a:pt x="41744" y="659970"/>
                </a:lnTo>
                <a:lnTo>
                  <a:pt x="43968" y="653841"/>
                </a:lnTo>
                <a:lnTo>
                  <a:pt x="46064" y="647234"/>
                </a:lnTo>
                <a:cubicBezTo>
                  <a:pt x="43883" y="654508"/>
                  <a:pt x="41633" y="660816"/>
                  <a:pt x="39250" y="665693"/>
                </a:cubicBezTo>
                <a:cubicBezTo>
                  <a:pt x="37324" y="669636"/>
                  <a:pt x="35311" y="672644"/>
                  <a:pt x="33179" y="674475"/>
                </a:cubicBezTo>
                <a:lnTo>
                  <a:pt x="34807" y="672825"/>
                </a:lnTo>
                <a:lnTo>
                  <a:pt x="36435" y="670666"/>
                </a:lnTo>
                <a:close/>
                <a:moveTo>
                  <a:pt x="464561" y="768335"/>
                </a:moveTo>
                <a:cubicBezTo>
                  <a:pt x="450971" y="760794"/>
                  <a:pt x="442305" y="739500"/>
                  <a:pt x="435937" y="709889"/>
                </a:cubicBezTo>
                <a:moveTo>
                  <a:pt x="251109" y="628158"/>
                </a:moveTo>
                <a:cubicBezTo>
                  <a:pt x="251103" y="628413"/>
                  <a:pt x="251098" y="628669"/>
                  <a:pt x="251092" y="628924"/>
                </a:cubicBezTo>
                <a:moveTo>
                  <a:pt x="82723" y="521359"/>
                </a:moveTo>
                <a:cubicBezTo>
                  <a:pt x="72451" y="537794"/>
                  <a:pt x="64921" y="569293"/>
                  <a:pt x="57909" y="599640"/>
                </a:cubicBezTo>
                <a:moveTo>
                  <a:pt x="46064" y="647234"/>
                </a:moveTo>
                <a:cubicBezTo>
                  <a:pt x="49580" y="635508"/>
                  <a:pt x="52916" y="621268"/>
                  <a:pt x="56337" y="606453"/>
                </a:cubicBezTo>
                <a:cubicBezTo>
                  <a:pt x="49078" y="637886"/>
                  <a:pt x="42204" y="666728"/>
                  <a:pt x="33179" y="674475"/>
                </a:cubicBezTo>
                <a:moveTo>
                  <a:pt x="46064" y="647234"/>
                </a:moveTo>
                <a:cubicBezTo>
                  <a:pt x="47988" y="640818"/>
                  <a:pt x="49858" y="633646"/>
                  <a:pt x="51718" y="626041"/>
                </a:cubicBezTo>
                <a:lnTo>
                  <a:pt x="48052" y="640286"/>
                </a:lnTo>
                <a:close/>
                <a:moveTo>
                  <a:pt x="135132" y="510046"/>
                </a:moveTo>
                <a:cubicBezTo>
                  <a:pt x="135126" y="510228"/>
                  <a:pt x="135118" y="510410"/>
                  <a:pt x="135112" y="510592"/>
                </a:cubicBezTo>
                <a:moveTo>
                  <a:pt x="132968" y="560615"/>
                </a:moveTo>
                <a:cubicBezTo>
                  <a:pt x="132948" y="560900"/>
                  <a:pt x="132930" y="561183"/>
                  <a:pt x="132910" y="561466"/>
                </a:cubicBezTo>
              </a:path>
            </a:pathLst>
          </a:custGeom>
          <a:noFill/>
          <a:ln w="12348">
            <a:solidFill>
              <a:srgbClr val="FFFFFF"/>
            </a:solidFill>
          </a:ln>
        </p:spPr>
        <p:txBody>
          <a:bodyPr rtlCol="0" anchor="ctr"/>
          <a:lstStyle/>
          <a:p>
            <a:pPr algn="ctr"/>
            <a:endParaRPr/>
          </a:p>
        </p:txBody>
      </p:sp>
      <p:sp>
        <p:nvSpPr>
          <p:cNvPr id="26" name="TextBox 25">
            <a:extLst>
              <a:ext uri="{FF2B5EF4-FFF2-40B4-BE49-F238E27FC236}">
                <a16:creationId xmlns="" xmlns:a16="http://schemas.microsoft.com/office/drawing/2014/main" id="{62531919-F3EA-4495-A4F6-289A927A2232}"/>
              </a:ext>
            </a:extLst>
          </p:cNvPr>
          <p:cNvSpPr txBox="1"/>
          <p:nvPr/>
        </p:nvSpPr>
        <p:spPr>
          <a:xfrm>
            <a:off x="7696338" y="2021803"/>
            <a:ext cx="794269" cy="242024"/>
          </a:xfrm>
          <a:prstGeom prst="rect">
            <a:avLst/>
          </a:prstGeom>
          <a:noFill/>
          <a:ln>
            <a:noFill/>
          </a:ln>
        </p:spPr>
        <p:txBody>
          <a:bodyPr wrap="none" lIns="0" tIns="0" rIns="0" bIns="0" anchor="t">
            <a:spAutoFit/>
          </a:bodyPr>
          <a:lstStyle/>
          <a:p>
            <a:pPr algn="ctr"/>
            <a:r>
              <a:rPr sz="1200" b="1">
                <a:solidFill>
                  <a:srgbClr val="FFFFFF"/>
                </a:solidFill>
                <a:latin typeface="Roboto"/>
              </a:rPr>
              <a:t>Exclusions</a:t>
            </a:r>
          </a:p>
        </p:txBody>
      </p:sp>
      <p:sp>
        <p:nvSpPr>
          <p:cNvPr id="27" name="TextBox 26">
            <a:extLst>
              <a:ext uri="{FF2B5EF4-FFF2-40B4-BE49-F238E27FC236}">
                <a16:creationId xmlns="" xmlns:a16="http://schemas.microsoft.com/office/drawing/2014/main" id="{1DFD8A4C-B14B-4FDA-A4DA-22CF03086AFE}"/>
              </a:ext>
            </a:extLst>
          </p:cNvPr>
          <p:cNvSpPr txBox="1"/>
          <p:nvPr/>
        </p:nvSpPr>
        <p:spPr>
          <a:xfrm>
            <a:off x="7545192" y="2314044"/>
            <a:ext cx="1096454" cy="1231106"/>
          </a:xfrm>
          <a:prstGeom prst="rect">
            <a:avLst/>
          </a:prstGeom>
          <a:noFill/>
          <a:ln>
            <a:noFill/>
          </a:ln>
        </p:spPr>
        <p:txBody>
          <a:bodyPr wrap="none" lIns="0" tIns="0" rIns="0" bIns="0" anchor="t">
            <a:spAutoFit/>
          </a:bodyPr>
          <a:lstStyle/>
          <a:p>
            <a:pPr algn="ctr"/>
            <a:r>
              <a:rPr sz="1000" b="0" dirty="0">
                <a:solidFill>
                  <a:srgbClr val="FFFFFF"/>
                </a:solidFill>
                <a:latin typeface="Roboto"/>
              </a:rPr>
              <a:t>Excludes pre-
existing conditions,
cosmetic surgery,
dental and vision
care, self-inflicted
injuries, and
substance abuse
treatment.</a:t>
            </a:r>
          </a:p>
        </p:txBody>
      </p:sp>
      <p:sp>
        <p:nvSpPr>
          <p:cNvPr id="28" name="TextBox 27">
            <a:extLst>
              <a:ext uri="{FF2B5EF4-FFF2-40B4-BE49-F238E27FC236}">
                <a16:creationId xmlns="" xmlns:a16="http://schemas.microsoft.com/office/drawing/2014/main" id="{BD7A839C-1873-4D9D-B4C7-400725D1DBCE}"/>
              </a:ext>
            </a:extLst>
          </p:cNvPr>
          <p:cNvSpPr txBox="1"/>
          <p:nvPr/>
        </p:nvSpPr>
        <p:spPr>
          <a:xfrm>
            <a:off x="6163186" y="2565124"/>
            <a:ext cx="699476" cy="242024"/>
          </a:xfrm>
          <a:prstGeom prst="rect">
            <a:avLst/>
          </a:prstGeom>
          <a:noFill/>
          <a:ln>
            <a:noFill/>
          </a:ln>
        </p:spPr>
        <p:txBody>
          <a:bodyPr wrap="none" lIns="0" tIns="0" rIns="0" bIns="0" anchor="t">
            <a:spAutoFit/>
          </a:bodyPr>
          <a:lstStyle/>
          <a:p>
            <a:pPr algn="ctr"/>
            <a:r>
              <a:rPr sz="1200" b="1">
                <a:solidFill>
                  <a:srgbClr val="FFFFFF"/>
                </a:solidFill>
                <a:latin typeface="Roboto"/>
              </a:rPr>
              <a:t>Coverage</a:t>
            </a:r>
          </a:p>
        </p:txBody>
      </p:sp>
      <p:sp>
        <p:nvSpPr>
          <p:cNvPr id="29" name="TextBox 28">
            <a:extLst>
              <a:ext uri="{FF2B5EF4-FFF2-40B4-BE49-F238E27FC236}">
                <a16:creationId xmlns="" xmlns:a16="http://schemas.microsoft.com/office/drawing/2014/main" id="{613BAC7E-67E0-4CE7-9503-0EF23958C8F4}"/>
              </a:ext>
            </a:extLst>
          </p:cNvPr>
          <p:cNvSpPr txBox="1"/>
          <p:nvPr/>
        </p:nvSpPr>
        <p:spPr>
          <a:xfrm>
            <a:off x="5983111" y="2857364"/>
            <a:ext cx="1059585" cy="923330"/>
          </a:xfrm>
          <a:prstGeom prst="rect">
            <a:avLst/>
          </a:prstGeom>
          <a:noFill/>
          <a:ln>
            <a:noFill/>
          </a:ln>
        </p:spPr>
        <p:txBody>
          <a:bodyPr wrap="none" lIns="0" tIns="0" rIns="0" bIns="0" anchor="t">
            <a:spAutoFit/>
          </a:bodyPr>
          <a:lstStyle/>
          <a:p>
            <a:pPr algn="ctr"/>
            <a:r>
              <a:rPr sz="1000" b="0" dirty="0">
                <a:solidFill>
                  <a:srgbClr val="FFFFFF"/>
                </a:solidFill>
                <a:latin typeface="Roboto"/>
              </a:rPr>
              <a:t>Includes
hospitalization,
doctor's visits,
diagnostic tests,
prescription drugs,
and surgeries.</a:t>
            </a:r>
          </a:p>
        </p:txBody>
      </p:sp>
      <p:sp>
        <p:nvSpPr>
          <p:cNvPr id="30" name="Rounded Rectangle 14">
            <a:extLst>
              <a:ext uri="{FF2B5EF4-FFF2-40B4-BE49-F238E27FC236}">
                <a16:creationId xmlns="" xmlns:a16="http://schemas.microsoft.com/office/drawing/2014/main" id="{0D7B44CC-9C71-4E77-8E24-3455EF9B2C45}"/>
              </a:ext>
            </a:extLst>
          </p:cNvPr>
          <p:cNvSpPr/>
          <p:nvPr/>
        </p:nvSpPr>
        <p:spPr>
          <a:xfrm>
            <a:off x="7823532" y="1241487"/>
            <a:ext cx="539848" cy="539848"/>
          </a:xfrm>
          <a:custGeom>
            <a:avLst/>
            <a:gdLst/>
            <a:ahLst/>
            <a:cxnLst/>
            <a:rect l="0" t="0" r="0" b="0"/>
            <a:pathLst>
              <a:path w="539848" h="539848">
                <a:moveTo>
                  <a:pt x="180797" y="539848"/>
                </a:moveTo>
                <a:lnTo>
                  <a:pt x="359058" y="539848"/>
                </a:lnTo>
                <a:lnTo>
                  <a:pt x="359058" y="359053"/>
                </a:lnTo>
                <a:lnTo>
                  <a:pt x="539848" y="359053"/>
                </a:lnTo>
                <a:lnTo>
                  <a:pt x="539848" y="180791"/>
                </a:lnTo>
                <a:lnTo>
                  <a:pt x="359058" y="180791"/>
                </a:lnTo>
                <a:lnTo>
                  <a:pt x="359058" y="0"/>
                </a:lnTo>
                <a:lnTo>
                  <a:pt x="180797" y="0"/>
                </a:lnTo>
                <a:lnTo>
                  <a:pt x="180797" y="180791"/>
                </a:lnTo>
                <a:lnTo>
                  <a:pt x="0" y="180791"/>
                </a:lnTo>
                <a:lnTo>
                  <a:pt x="0" y="359053"/>
                </a:lnTo>
                <a:lnTo>
                  <a:pt x="180797" y="359053"/>
                </a:lnTo>
                <a:lnTo>
                  <a:pt x="180797" y="539848"/>
                </a:lnTo>
                <a:close/>
              </a:path>
            </a:pathLst>
          </a:custGeom>
          <a:noFill/>
          <a:ln w="12348">
            <a:solidFill>
              <a:srgbClr val="FFFFFF"/>
            </a:solidFill>
          </a:ln>
        </p:spPr>
        <p:txBody>
          <a:bodyPr rtlCol="0" anchor="ctr"/>
          <a:lstStyle/>
          <a:p>
            <a:pPr algn="ctr"/>
            <a:endParaRPr/>
          </a:p>
        </p:txBody>
      </p:sp>
      <p:sp>
        <p:nvSpPr>
          <p:cNvPr id="31" name="Rounded Rectangle 15">
            <a:extLst>
              <a:ext uri="{FF2B5EF4-FFF2-40B4-BE49-F238E27FC236}">
                <a16:creationId xmlns="" xmlns:a16="http://schemas.microsoft.com/office/drawing/2014/main" id="{D3322E90-E56A-4AF5-831A-49321BC5558A}"/>
              </a:ext>
            </a:extLst>
          </p:cNvPr>
          <p:cNvSpPr/>
          <p:nvPr/>
        </p:nvSpPr>
        <p:spPr>
          <a:xfrm>
            <a:off x="6216530" y="1758375"/>
            <a:ext cx="573131" cy="570649"/>
          </a:xfrm>
          <a:custGeom>
            <a:avLst/>
            <a:gdLst/>
            <a:ahLst/>
            <a:cxnLst/>
            <a:rect l="0" t="0" r="0" b="0"/>
            <a:pathLst>
              <a:path w="573131" h="570649">
                <a:moveTo>
                  <a:pt x="394581" y="359873"/>
                </a:moveTo>
                <a:cubicBezTo>
                  <a:pt x="353005" y="359873"/>
                  <a:pt x="319302" y="326170"/>
                  <a:pt x="319302" y="284596"/>
                </a:cubicBezTo>
                <a:cubicBezTo>
                  <a:pt x="319302" y="243019"/>
                  <a:pt x="353005" y="209316"/>
                  <a:pt x="394581" y="209316"/>
                </a:cubicBezTo>
                <a:cubicBezTo>
                  <a:pt x="436155" y="209316"/>
                  <a:pt x="469858" y="243019"/>
                  <a:pt x="469858" y="284596"/>
                </a:cubicBezTo>
                <a:cubicBezTo>
                  <a:pt x="469858" y="326170"/>
                  <a:pt x="436155" y="359873"/>
                  <a:pt x="394581" y="359873"/>
                </a:cubicBezTo>
                <a:close/>
                <a:moveTo>
                  <a:pt x="394574" y="570649"/>
                </a:moveTo>
                <a:lnTo>
                  <a:pt x="530076" y="570649"/>
                </a:lnTo>
                <a:lnTo>
                  <a:pt x="530076" y="554325"/>
                </a:lnTo>
                <a:cubicBezTo>
                  <a:pt x="529836" y="531375"/>
                  <a:pt x="523783" y="508859"/>
                  <a:pt x="512484" y="488880"/>
                </a:cubicBezTo>
                <a:cubicBezTo>
                  <a:pt x="501183" y="468903"/>
                  <a:pt x="485002" y="452114"/>
                  <a:pt x="465455" y="440087"/>
                </a:cubicBezTo>
                <a:cubicBezTo>
                  <a:pt x="445908" y="428057"/>
                  <a:pt x="423629" y="421177"/>
                  <a:pt x="400704" y="420093"/>
                </a:cubicBezTo>
                <a:cubicBezTo>
                  <a:pt x="398659" y="419996"/>
                  <a:pt x="396616" y="419944"/>
                  <a:pt x="394574" y="419942"/>
                </a:cubicBezTo>
                <a:cubicBezTo>
                  <a:pt x="392534" y="419944"/>
                  <a:pt x="390489" y="419996"/>
                  <a:pt x="388447" y="420093"/>
                </a:cubicBezTo>
                <a:moveTo>
                  <a:pt x="20678" y="310527"/>
                </a:moveTo>
                <a:lnTo>
                  <a:pt x="20678" y="292753"/>
                </a:lnTo>
                <a:cubicBezTo>
                  <a:pt x="20638" y="286853"/>
                  <a:pt x="21827" y="281012"/>
                  <a:pt x="24168" y="275599"/>
                </a:cubicBezTo>
                <a:cubicBezTo>
                  <a:pt x="26509" y="270186"/>
                  <a:pt x="29951" y="265318"/>
                  <a:pt x="34276" y="261307"/>
                </a:cubicBezTo>
                <a:lnTo>
                  <a:pt x="296885" y="19095"/>
                </a:lnTo>
                <a:lnTo>
                  <a:pt x="559494" y="261307"/>
                </a:lnTo>
                <a:cubicBezTo>
                  <a:pt x="563818" y="265318"/>
                  <a:pt x="567261" y="270186"/>
                  <a:pt x="569602" y="275599"/>
                </a:cubicBezTo>
                <a:cubicBezTo>
                  <a:pt x="571943" y="281012"/>
                  <a:pt x="573131" y="286853"/>
                  <a:pt x="573092" y="292753"/>
                </a:cubicBezTo>
                <a:lnTo>
                  <a:pt x="573092" y="459602"/>
                </a:lnTo>
                <a:moveTo>
                  <a:pt x="220526" y="355331"/>
                </a:moveTo>
                <a:cubicBezTo>
                  <a:pt x="221494" y="351261"/>
                  <a:pt x="222006" y="347011"/>
                  <a:pt x="222006" y="342642"/>
                </a:cubicBezTo>
                <a:cubicBezTo>
                  <a:pt x="222006" y="312439"/>
                  <a:pt x="197520" y="287952"/>
                  <a:pt x="167314" y="287952"/>
                </a:cubicBezTo>
                <a:cubicBezTo>
                  <a:pt x="137109" y="287952"/>
                  <a:pt x="112622" y="312439"/>
                  <a:pt x="112622" y="342642"/>
                </a:cubicBezTo>
                <a:cubicBezTo>
                  <a:pt x="112622" y="347011"/>
                  <a:pt x="113135" y="351261"/>
                  <a:pt x="114102" y="355331"/>
                </a:cubicBezTo>
                <a:moveTo>
                  <a:pt x="0" y="0"/>
                </a:moveTo>
                <a:moveTo>
                  <a:pt x="66938" y="355366"/>
                </a:moveTo>
                <a:lnTo>
                  <a:pt x="267684" y="355366"/>
                </a:lnTo>
                <a:cubicBezTo>
                  <a:pt x="291032" y="355366"/>
                  <a:pt x="309944" y="374318"/>
                  <a:pt x="309900" y="397666"/>
                </a:cubicBezTo>
                <a:lnTo>
                  <a:pt x="309645" y="525949"/>
                </a:lnTo>
                <a:cubicBezTo>
                  <a:pt x="309598" y="549233"/>
                  <a:pt x="290711" y="568083"/>
                  <a:pt x="267429" y="568083"/>
                </a:cubicBezTo>
                <a:lnTo>
                  <a:pt x="67193" y="568081"/>
                </a:lnTo>
                <a:cubicBezTo>
                  <a:pt x="43910" y="568081"/>
                  <a:pt x="25023" y="549233"/>
                  <a:pt x="24976" y="525949"/>
                </a:cubicBezTo>
                <a:lnTo>
                  <a:pt x="24722" y="397666"/>
                </a:lnTo>
                <a:cubicBezTo>
                  <a:pt x="24676" y="374318"/>
                  <a:pt x="43590" y="355366"/>
                  <a:pt x="66938" y="355366"/>
                </a:cubicBezTo>
                <a:close/>
                <a:moveTo>
                  <a:pt x="0" y="0"/>
                </a:moveTo>
                <a:moveTo>
                  <a:pt x="191178" y="397337"/>
                </a:moveTo>
                <a:lnTo>
                  <a:pt x="143456" y="397337"/>
                </a:lnTo>
                <a:lnTo>
                  <a:pt x="143456" y="437867"/>
                </a:lnTo>
                <a:lnTo>
                  <a:pt x="102927" y="437867"/>
                </a:lnTo>
                <a:lnTo>
                  <a:pt x="102927" y="485588"/>
                </a:lnTo>
                <a:lnTo>
                  <a:pt x="143456" y="485588"/>
                </a:lnTo>
                <a:lnTo>
                  <a:pt x="143456" y="526119"/>
                </a:lnTo>
                <a:lnTo>
                  <a:pt x="191178" y="526119"/>
                </a:lnTo>
                <a:lnTo>
                  <a:pt x="191178" y="485588"/>
                </a:lnTo>
                <a:lnTo>
                  <a:pt x="231709" y="485588"/>
                </a:lnTo>
                <a:lnTo>
                  <a:pt x="231709" y="437867"/>
                </a:lnTo>
                <a:lnTo>
                  <a:pt x="191178" y="437867"/>
                </a:lnTo>
                <a:close/>
              </a:path>
            </a:pathLst>
          </a:custGeom>
          <a:noFill/>
          <a:ln w="12348">
            <a:solidFill>
              <a:srgbClr val="FFFFFF"/>
            </a:solidFill>
          </a:ln>
        </p:spPr>
        <p:txBody>
          <a:bodyPr rtlCol="0" anchor="ctr"/>
          <a:lstStyle/>
          <a:p>
            <a:pPr algn="ctr"/>
            <a:endParaRPr/>
          </a:p>
        </p:txBody>
      </p:sp>
      <p:sp>
        <p:nvSpPr>
          <p:cNvPr id="32" name="Rounded Rectangle 3">
            <a:extLst>
              <a:ext uri="{FF2B5EF4-FFF2-40B4-BE49-F238E27FC236}">
                <a16:creationId xmlns="" xmlns:a16="http://schemas.microsoft.com/office/drawing/2014/main" id="{96D5F638-68F6-4E02-A0B5-AEE3E0FFDD2D}"/>
              </a:ext>
            </a:extLst>
          </p:cNvPr>
          <p:cNvSpPr/>
          <p:nvPr/>
        </p:nvSpPr>
        <p:spPr>
          <a:xfrm>
            <a:off x="6133733" y="4093964"/>
            <a:ext cx="879076" cy="1291547"/>
          </a:xfrm>
          <a:custGeom>
            <a:avLst/>
            <a:gdLst/>
            <a:ahLst/>
            <a:cxnLst/>
            <a:rect l="0" t="0" r="0" b="0"/>
            <a:pathLst>
              <a:path w="879076" h="1291547">
                <a:moveTo>
                  <a:pt x="516879" y="587683"/>
                </a:moveTo>
                <a:cubicBezTo>
                  <a:pt x="530849" y="600056"/>
                  <a:pt x="561736" y="629824"/>
                  <a:pt x="573491" y="649885"/>
                </a:cubicBezTo>
                <a:cubicBezTo>
                  <a:pt x="588194" y="674952"/>
                  <a:pt x="582859" y="712738"/>
                  <a:pt x="586407" y="752639"/>
                </a:cubicBezTo>
                <a:cubicBezTo>
                  <a:pt x="544292" y="721529"/>
                  <a:pt x="508778" y="663287"/>
                  <a:pt x="516286" y="623592"/>
                </a:cubicBezTo>
                <a:cubicBezTo>
                  <a:pt x="518377" y="612182"/>
                  <a:pt x="518377" y="600081"/>
                  <a:pt x="516879" y="587683"/>
                </a:cubicBezTo>
                <a:moveTo>
                  <a:pt x="393331" y="1127555"/>
                </a:moveTo>
                <a:cubicBezTo>
                  <a:pt x="617220" y="1014379"/>
                  <a:pt x="558039" y="956763"/>
                  <a:pt x="817170" y="821369"/>
                </a:cubicBezTo>
                <a:cubicBezTo>
                  <a:pt x="879076" y="789033"/>
                  <a:pt x="782530" y="671503"/>
                  <a:pt x="653598" y="771795"/>
                </a:cubicBezTo>
                <a:cubicBezTo>
                  <a:pt x="644748" y="767136"/>
                  <a:pt x="629807" y="772791"/>
                  <a:pt x="617220" y="768650"/>
                </a:cubicBezTo>
                <a:cubicBezTo>
                  <a:pt x="605876" y="764921"/>
                  <a:pt x="595594" y="759422"/>
                  <a:pt x="586407" y="752639"/>
                </a:cubicBezTo>
                <a:cubicBezTo>
                  <a:pt x="544292" y="721529"/>
                  <a:pt x="508778" y="663287"/>
                  <a:pt x="516286" y="623592"/>
                </a:cubicBezTo>
                <a:cubicBezTo>
                  <a:pt x="518377" y="612182"/>
                  <a:pt x="518377" y="600081"/>
                  <a:pt x="516879" y="587683"/>
                </a:cubicBezTo>
                <a:cubicBezTo>
                  <a:pt x="508828" y="520805"/>
                  <a:pt x="498595" y="437249"/>
                  <a:pt x="499155" y="417360"/>
                </a:cubicBezTo>
                <a:cubicBezTo>
                  <a:pt x="521826" y="215591"/>
                  <a:pt x="533277" y="160427"/>
                  <a:pt x="508186" y="80213"/>
                </a:cubicBezTo>
                <a:cubicBezTo>
                  <a:pt x="483086" y="0"/>
                  <a:pt x="434014" y="25404"/>
                  <a:pt x="428927" y="55789"/>
                </a:cubicBezTo>
                <a:cubicBezTo>
                  <a:pt x="419386" y="112829"/>
                  <a:pt x="414191" y="236723"/>
                  <a:pt x="368099" y="396294"/>
                </a:cubicBezTo>
                <a:cubicBezTo>
                  <a:pt x="366107" y="409548"/>
                  <a:pt x="355068" y="449375"/>
                  <a:pt x="353109" y="461015"/>
                </a:cubicBezTo>
                <a:cubicBezTo>
                  <a:pt x="316871" y="470038"/>
                  <a:pt x="306770" y="466885"/>
                  <a:pt x="273767" y="499023"/>
                </a:cubicBezTo>
                <a:cubicBezTo>
                  <a:pt x="229306" y="511075"/>
                  <a:pt x="176027" y="577558"/>
                  <a:pt x="169598" y="596862"/>
                </a:cubicBezTo>
                <a:cubicBezTo>
                  <a:pt x="112582" y="628589"/>
                  <a:pt x="91244" y="690708"/>
                  <a:pt x="87894" y="728543"/>
                </a:cubicBezTo>
                <a:cubicBezTo>
                  <a:pt x="91409" y="757389"/>
                  <a:pt x="83671" y="846090"/>
                  <a:pt x="83671" y="846090"/>
                </a:cubicBezTo>
                <a:cubicBezTo>
                  <a:pt x="83671" y="1078590"/>
                  <a:pt x="0" y="1127555"/>
                  <a:pt x="0" y="1291547"/>
                </a:cubicBezTo>
                <a:lnTo>
                  <a:pt x="348836" y="1291547"/>
                </a:lnTo>
                <a:cubicBezTo>
                  <a:pt x="348836" y="1207406"/>
                  <a:pt x="384687" y="1131531"/>
                  <a:pt x="393331" y="1127555"/>
                </a:cubicBezTo>
                <a:moveTo>
                  <a:pt x="436327" y="1014379"/>
                </a:moveTo>
                <a:cubicBezTo>
                  <a:pt x="436327" y="1069576"/>
                  <a:pt x="405449" y="1113437"/>
                  <a:pt x="393331" y="1127555"/>
                </a:cubicBezTo>
                <a:moveTo>
                  <a:pt x="169598" y="596862"/>
                </a:moveTo>
                <a:lnTo>
                  <a:pt x="155603" y="623592"/>
                </a:lnTo>
                <a:moveTo>
                  <a:pt x="353109" y="461015"/>
                </a:moveTo>
                <a:cubicBezTo>
                  <a:pt x="330075" y="481094"/>
                  <a:pt x="330783" y="511692"/>
                  <a:pt x="312483" y="539846"/>
                </a:cubicBezTo>
                <a:moveTo>
                  <a:pt x="273767" y="499023"/>
                </a:moveTo>
                <a:cubicBezTo>
                  <a:pt x="266350" y="511355"/>
                  <a:pt x="250100" y="540357"/>
                  <a:pt x="244387" y="557735"/>
                </a:cubicBezTo>
                <a:moveTo>
                  <a:pt x="713709" y="810115"/>
                </a:moveTo>
                <a:cubicBezTo>
                  <a:pt x="711585" y="802879"/>
                  <a:pt x="680377" y="785888"/>
                  <a:pt x="653598" y="771795"/>
                </a:cubicBezTo>
              </a:path>
            </a:pathLst>
          </a:custGeom>
          <a:solidFill>
            <a:srgbClr val="666666"/>
          </a:solidFill>
          <a:ln>
            <a:noFill/>
          </a:ln>
        </p:spPr>
        <p:txBody>
          <a:bodyPr rtlCol="0" anchor="ctr"/>
          <a:lstStyle/>
          <a:p>
            <a:pPr algn="ctr"/>
            <a:endParaRPr/>
          </a:p>
        </p:txBody>
      </p:sp>
    </p:spTree>
  </p:cSld>
  <p:clrMapOvr>
    <a:masterClrMapping/>
  </p:clrMapOvr>
  <p:transition spd="slow" advTm="40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 xmlns:a16="http://schemas.microsoft.com/office/drawing/2014/main" id="{56BD66CA-0D47-45F5-955E-3AC8E9C089A5}"/>
              </a:ext>
            </a:extLst>
          </p:cNvPr>
          <p:cNvPicPr>
            <a:picLocks noChangeAspect="1"/>
          </p:cNvPicPr>
          <p:nvPr/>
        </p:nvPicPr>
        <p:blipFill>
          <a:blip r:embed="rId2"/>
          <a:stretch>
            <a:fillRect/>
          </a:stretch>
        </p:blipFill>
        <p:spPr>
          <a:xfrm>
            <a:off x="4680284" y="545617"/>
            <a:ext cx="4162926" cy="5843149"/>
          </a:xfrm>
          <a:prstGeom prst="rect">
            <a:avLst/>
          </a:prstGeom>
        </p:spPr>
      </p:pic>
      <p:sp>
        <p:nvSpPr>
          <p:cNvPr id="18" name="TextBox 17">
            <a:extLst>
              <a:ext uri="{FF2B5EF4-FFF2-40B4-BE49-F238E27FC236}">
                <a16:creationId xmlns="" xmlns:a16="http://schemas.microsoft.com/office/drawing/2014/main" id="{2778AF40-CB89-4849-AF2C-83AA0CBB80AC}"/>
              </a:ext>
            </a:extLst>
          </p:cNvPr>
          <p:cNvSpPr txBox="1"/>
          <p:nvPr/>
        </p:nvSpPr>
        <p:spPr>
          <a:xfrm>
            <a:off x="661737" y="1113381"/>
            <a:ext cx="3585410" cy="4339650"/>
          </a:xfrm>
          <a:prstGeom prst="rect">
            <a:avLst/>
          </a:prstGeom>
          <a:noFill/>
        </p:spPr>
        <p:txBody>
          <a:bodyPr wrap="square">
            <a:spAutoFit/>
          </a:bodyPr>
          <a:lstStyle/>
          <a:p>
            <a:r>
              <a:rPr lang="en-US" sz="1600" b="1" dirty="0"/>
              <a:t>1 Cashless Claims</a:t>
            </a:r>
          </a:p>
          <a:p>
            <a:endParaRPr lang="en-US" sz="1600" b="1" dirty="0"/>
          </a:p>
          <a:p>
            <a:r>
              <a:rPr lang="en-US" sz="1600" dirty="0"/>
              <a:t>In a cashless claim, the insurance company directly pays the hospital for the medical expenses incurred. This requires the insured to seek treatment at a network hospital empanelled with the insurance company.</a:t>
            </a:r>
          </a:p>
          <a:p>
            <a:endParaRPr lang="en-US" dirty="0"/>
          </a:p>
          <a:p>
            <a:endParaRPr lang="en-US" dirty="0"/>
          </a:p>
          <a:p>
            <a:r>
              <a:rPr lang="en-US" sz="1600" b="1" dirty="0"/>
              <a:t>2 Reimbursement Claims</a:t>
            </a:r>
          </a:p>
          <a:p>
            <a:endParaRPr lang="en-US" sz="1600" b="1" dirty="0"/>
          </a:p>
          <a:p>
            <a:r>
              <a:rPr lang="en-US" sz="1600" dirty="0"/>
              <a:t>In a reimbursement claim, the insured pays the hospital expenses upfront and then submits the bills and documents to the insurance company for reimbursement.</a:t>
            </a:r>
          </a:p>
        </p:txBody>
      </p:sp>
      <p:sp>
        <p:nvSpPr>
          <p:cNvPr id="21" name="TextBox 20">
            <a:extLst>
              <a:ext uri="{FF2B5EF4-FFF2-40B4-BE49-F238E27FC236}">
                <a16:creationId xmlns="" xmlns:a16="http://schemas.microsoft.com/office/drawing/2014/main" id="{C46E5DD6-3A32-4C86-9DBE-F8F661A49711}"/>
              </a:ext>
            </a:extLst>
          </p:cNvPr>
          <p:cNvSpPr txBox="1"/>
          <p:nvPr/>
        </p:nvSpPr>
        <p:spPr>
          <a:xfrm>
            <a:off x="2298032" y="257287"/>
            <a:ext cx="4644189" cy="615553"/>
          </a:xfrm>
          <a:prstGeom prst="rect">
            <a:avLst/>
          </a:prstGeom>
          <a:noFill/>
          <a:ln>
            <a:noFill/>
          </a:ln>
        </p:spPr>
        <p:txBody>
          <a:bodyPr wrap="square" lIns="0" tIns="0" rIns="0" bIns="0" anchor="t">
            <a:spAutoFit/>
          </a:bodyPr>
          <a:lstStyle/>
          <a:p>
            <a:pPr algn="ctr"/>
            <a:r>
              <a:rPr lang="en-US" sz="2000" b="1" dirty="0" smtClean="0"/>
              <a:t>Claims Process</a:t>
            </a:r>
            <a:endParaRPr lang="en-US" sz="2000" b="1" dirty="0" smtClean="0">
              <a:solidFill>
                <a:srgbClr val="484848"/>
              </a:solidFill>
            </a:endParaRPr>
          </a:p>
          <a:p>
            <a:pPr algn="ctr"/>
            <a:endParaRPr sz="2000" b="1" dirty="0">
              <a:solidFill>
                <a:srgbClr val="484848"/>
              </a:solidFill>
            </a:endParaRPr>
          </a:p>
        </p:txBody>
      </p:sp>
    </p:spTree>
    <p:extLst>
      <p:ext uri="{BB962C8B-B14F-4D97-AF65-F5344CB8AC3E}">
        <p14:creationId xmlns:p14="http://schemas.microsoft.com/office/powerpoint/2010/main" val="984126756"/>
      </p:ext>
    </p:extLst>
  </p:cSld>
  <p:clrMapOvr>
    <a:masterClrMapping/>
  </p:clrMapOvr>
  <p:transition spd="slow" advTm="40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 xmlns:a16="http://schemas.microsoft.com/office/drawing/2014/main" id="{681A97C6-5B62-4620-B6EE-9DF85C58C80D}"/>
              </a:ext>
            </a:extLst>
          </p:cNvPr>
          <p:cNvSpPr/>
          <p:nvPr/>
        </p:nvSpPr>
        <p:spPr>
          <a:xfrm>
            <a:off x="2723993" y="4571235"/>
            <a:ext cx="1674965" cy="650081"/>
          </a:xfrm>
          <a:custGeom>
            <a:avLst/>
            <a:gdLst/>
            <a:ahLst/>
            <a:cxnLst/>
            <a:rect l="0" t="0" r="0" b="0"/>
            <a:pathLst>
              <a:path w="1674965" h="650081">
                <a:moveTo>
                  <a:pt x="1668000" y="44809"/>
                </a:moveTo>
                <a:cubicBezTo>
                  <a:pt x="1663588" y="54018"/>
                  <a:pt x="1659100" y="63150"/>
                  <a:pt x="1654534" y="72205"/>
                </a:cubicBezTo>
                <a:cubicBezTo>
                  <a:pt x="1644628" y="91862"/>
                  <a:pt x="1634412" y="111132"/>
                  <a:pt x="1623810" y="130016"/>
                </a:cubicBezTo>
                <a:cubicBezTo>
                  <a:pt x="1599664" y="172968"/>
                  <a:pt x="1573583" y="213907"/>
                  <a:pt x="1545722" y="252448"/>
                </a:cubicBezTo>
                <a:cubicBezTo>
                  <a:pt x="1517784" y="291066"/>
                  <a:pt x="1488144" y="327362"/>
                  <a:pt x="1456878" y="361182"/>
                </a:cubicBezTo>
                <a:cubicBezTo>
                  <a:pt x="1447823" y="371010"/>
                  <a:pt x="1438536" y="380607"/>
                  <a:pt x="1429172" y="390048"/>
                </a:cubicBezTo>
                <a:cubicBezTo>
                  <a:pt x="1266497" y="553342"/>
                  <a:pt x="1064275" y="650081"/>
                  <a:pt x="845105" y="650081"/>
                </a:cubicBezTo>
                <a:cubicBezTo>
                  <a:pt x="625935" y="650081"/>
                  <a:pt x="421469" y="553265"/>
                  <a:pt x="258794" y="390048"/>
                </a:cubicBezTo>
                <a:cubicBezTo>
                  <a:pt x="249352" y="380607"/>
                  <a:pt x="240143" y="371010"/>
                  <a:pt x="231011" y="361182"/>
                </a:cubicBezTo>
                <a:cubicBezTo>
                  <a:pt x="168556" y="293620"/>
                  <a:pt x="112371" y="215919"/>
                  <a:pt x="64079" y="130016"/>
                </a:cubicBezTo>
                <a:cubicBezTo>
                  <a:pt x="53476" y="111132"/>
                  <a:pt x="43261" y="91862"/>
                  <a:pt x="33432" y="72205"/>
                </a:cubicBezTo>
                <a:cubicBezTo>
                  <a:pt x="21669" y="48756"/>
                  <a:pt x="10602" y="24532"/>
                  <a:pt x="0" y="0"/>
                </a:cubicBezTo>
                <a:lnTo>
                  <a:pt x="375034" y="0"/>
                </a:lnTo>
                <a:cubicBezTo>
                  <a:pt x="392757" y="25538"/>
                  <a:pt x="411408" y="49684"/>
                  <a:pt x="431065" y="72205"/>
                </a:cubicBezTo>
                <a:cubicBezTo>
                  <a:pt x="449020" y="92868"/>
                  <a:pt x="467748" y="112139"/>
                  <a:pt x="487251" y="130016"/>
                </a:cubicBezTo>
                <a:cubicBezTo>
                  <a:pt x="589639" y="224045"/>
                  <a:pt x="714005" y="278606"/>
                  <a:pt x="845105" y="278606"/>
                </a:cubicBezTo>
                <a:cubicBezTo>
                  <a:pt x="976205" y="278606"/>
                  <a:pt x="1098327" y="224045"/>
                  <a:pt x="1200715" y="130016"/>
                </a:cubicBezTo>
                <a:cubicBezTo>
                  <a:pt x="1220140" y="112139"/>
                  <a:pt x="1238869" y="92868"/>
                  <a:pt x="1256823" y="72205"/>
                </a:cubicBezTo>
                <a:cubicBezTo>
                  <a:pt x="1276480" y="49684"/>
                  <a:pt x="1295132" y="25538"/>
                  <a:pt x="1312777" y="0"/>
                </a:cubicBezTo>
                <a:lnTo>
                  <a:pt x="1673572" y="0"/>
                </a:lnTo>
                <a:cubicBezTo>
                  <a:pt x="1674423" y="4566"/>
                  <a:pt x="1674965" y="9132"/>
                  <a:pt x="1674965" y="13775"/>
                </a:cubicBezTo>
                <a:cubicBezTo>
                  <a:pt x="1674965" y="24223"/>
                  <a:pt x="1672643" y="34748"/>
                  <a:pt x="1667922" y="44809"/>
                </a:cubicBezTo>
              </a:path>
            </a:pathLst>
          </a:custGeom>
          <a:solidFill>
            <a:srgbClr val="E0CB15"/>
          </a:solidFill>
          <a:ln>
            <a:noFill/>
          </a:ln>
        </p:spPr>
        <p:txBody>
          <a:bodyPr rtlCol="0" anchor="ctr"/>
          <a:lstStyle/>
          <a:p>
            <a:pPr algn="ctr"/>
            <a:endParaRPr/>
          </a:p>
        </p:txBody>
      </p:sp>
      <p:sp>
        <p:nvSpPr>
          <p:cNvPr id="3" name="Rounded Rectangle 2">
            <a:extLst>
              <a:ext uri="{FF2B5EF4-FFF2-40B4-BE49-F238E27FC236}">
                <a16:creationId xmlns="" xmlns:a16="http://schemas.microsoft.com/office/drawing/2014/main" id="{70FB9972-D921-4CC4-8A50-0B51E3F9E65E}"/>
              </a:ext>
            </a:extLst>
          </p:cNvPr>
          <p:cNvSpPr/>
          <p:nvPr/>
        </p:nvSpPr>
        <p:spPr>
          <a:xfrm>
            <a:off x="2723993" y="4571235"/>
            <a:ext cx="1674965" cy="650081"/>
          </a:xfrm>
          <a:custGeom>
            <a:avLst/>
            <a:gdLst/>
            <a:ahLst/>
            <a:cxnLst/>
            <a:rect l="0" t="0" r="0" b="0"/>
            <a:pathLst>
              <a:path w="1674965" h="650081">
                <a:moveTo>
                  <a:pt x="1668000" y="44809"/>
                </a:moveTo>
                <a:cubicBezTo>
                  <a:pt x="1663588" y="54018"/>
                  <a:pt x="1659100" y="63150"/>
                  <a:pt x="1654534" y="72205"/>
                </a:cubicBezTo>
                <a:cubicBezTo>
                  <a:pt x="1644628" y="91862"/>
                  <a:pt x="1634412" y="111132"/>
                  <a:pt x="1623810" y="130016"/>
                </a:cubicBezTo>
                <a:cubicBezTo>
                  <a:pt x="1599664" y="172968"/>
                  <a:pt x="1573583" y="213907"/>
                  <a:pt x="1545722" y="252448"/>
                </a:cubicBezTo>
                <a:cubicBezTo>
                  <a:pt x="1517784" y="291066"/>
                  <a:pt x="1488144" y="327362"/>
                  <a:pt x="1456878" y="361182"/>
                </a:cubicBezTo>
                <a:cubicBezTo>
                  <a:pt x="1447823" y="371010"/>
                  <a:pt x="1438536" y="380607"/>
                  <a:pt x="1429172" y="390048"/>
                </a:cubicBezTo>
                <a:cubicBezTo>
                  <a:pt x="1266497" y="553342"/>
                  <a:pt x="1064275" y="650081"/>
                  <a:pt x="845105" y="650081"/>
                </a:cubicBezTo>
                <a:cubicBezTo>
                  <a:pt x="625935" y="650081"/>
                  <a:pt x="421469" y="553265"/>
                  <a:pt x="258794" y="390048"/>
                </a:cubicBezTo>
                <a:cubicBezTo>
                  <a:pt x="249352" y="380607"/>
                  <a:pt x="240143" y="371010"/>
                  <a:pt x="231011" y="361182"/>
                </a:cubicBezTo>
                <a:cubicBezTo>
                  <a:pt x="168556" y="293620"/>
                  <a:pt x="112371" y="215919"/>
                  <a:pt x="64079" y="130016"/>
                </a:cubicBezTo>
                <a:cubicBezTo>
                  <a:pt x="53476" y="111132"/>
                  <a:pt x="43261" y="91862"/>
                  <a:pt x="33432" y="72205"/>
                </a:cubicBezTo>
                <a:cubicBezTo>
                  <a:pt x="21669" y="48756"/>
                  <a:pt x="10602" y="24532"/>
                  <a:pt x="0" y="0"/>
                </a:cubicBezTo>
                <a:lnTo>
                  <a:pt x="375034" y="0"/>
                </a:lnTo>
                <a:cubicBezTo>
                  <a:pt x="392757" y="25538"/>
                  <a:pt x="411408" y="49684"/>
                  <a:pt x="431065" y="72205"/>
                </a:cubicBezTo>
                <a:cubicBezTo>
                  <a:pt x="449020" y="92868"/>
                  <a:pt x="467748" y="112139"/>
                  <a:pt x="487251" y="130016"/>
                </a:cubicBezTo>
                <a:cubicBezTo>
                  <a:pt x="589639" y="224045"/>
                  <a:pt x="714005" y="278606"/>
                  <a:pt x="845105" y="278606"/>
                </a:cubicBezTo>
                <a:cubicBezTo>
                  <a:pt x="976205" y="278606"/>
                  <a:pt x="1098327" y="224045"/>
                  <a:pt x="1200715" y="130016"/>
                </a:cubicBezTo>
                <a:cubicBezTo>
                  <a:pt x="1220140" y="112139"/>
                  <a:pt x="1238869" y="92868"/>
                  <a:pt x="1256823" y="72205"/>
                </a:cubicBezTo>
                <a:cubicBezTo>
                  <a:pt x="1276480" y="49684"/>
                  <a:pt x="1295132" y="25538"/>
                  <a:pt x="1312777" y="0"/>
                </a:cubicBezTo>
                <a:lnTo>
                  <a:pt x="1673572" y="0"/>
                </a:lnTo>
                <a:cubicBezTo>
                  <a:pt x="1674423" y="4566"/>
                  <a:pt x="1674965" y="9132"/>
                  <a:pt x="1674965" y="13775"/>
                </a:cubicBezTo>
                <a:cubicBezTo>
                  <a:pt x="1674965" y="24223"/>
                  <a:pt x="1672643" y="34748"/>
                  <a:pt x="1667922" y="44809"/>
                </a:cubicBezTo>
                <a:lnTo>
                  <a:pt x="1668000" y="44809"/>
                </a:lnTo>
                <a:close/>
              </a:path>
            </a:pathLst>
          </a:custGeom>
          <a:noFill/>
          <a:ln w="11608">
            <a:solidFill>
              <a:srgbClr val="FFFFFF"/>
            </a:solidFill>
          </a:ln>
        </p:spPr>
        <p:txBody>
          <a:bodyPr rtlCol="0" anchor="ctr"/>
          <a:lstStyle/>
          <a:p>
            <a:pPr algn="ctr"/>
            <a:endParaRPr/>
          </a:p>
        </p:txBody>
      </p:sp>
      <p:sp>
        <p:nvSpPr>
          <p:cNvPr id="4" name="Rounded Rectangle 3">
            <a:extLst>
              <a:ext uri="{FF2B5EF4-FFF2-40B4-BE49-F238E27FC236}">
                <a16:creationId xmlns="" xmlns:a16="http://schemas.microsoft.com/office/drawing/2014/main" id="{77297C81-2AEC-4A0E-9C63-193B4C80A129}"/>
              </a:ext>
            </a:extLst>
          </p:cNvPr>
          <p:cNvSpPr/>
          <p:nvPr/>
        </p:nvSpPr>
        <p:spPr>
          <a:xfrm>
            <a:off x="2294011" y="3921153"/>
            <a:ext cx="2103554" cy="650081"/>
          </a:xfrm>
          <a:custGeom>
            <a:avLst/>
            <a:gdLst/>
            <a:ahLst/>
            <a:cxnLst/>
            <a:rect l="0" t="0" r="0" b="0"/>
            <a:pathLst>
              <a:path w="2103554" h="650081">
                <a:moveTo>
                  <a:pt x="2066252" y="598539"/>
                </a:moveTo>
                <a:lnTo>
                  <a:pt x="1923157" y="520064"/>
                </a:lnTo>
                <a:lnTo>
                  <a:pt x="1909226" y="512403"/>
                </a:lnTo>
                <a:cubicBezTo>
                  <a:pt x="1881520" y="497234"/>
                  <a:pt x="1848475" y="501336"/>
                  <a:pt x="1825567" y="520064"/>
                </a:cubicBezTo>
                <a:cubicBezTo>
                  <a:pt x="1817751" y="526411"/>
                  <a:pt x="1811095" y="534459"/>
                  <a:pt x="1806142" y="544056"/>
                </a:cubicBezTo>
                <a:cubicBezTo>
                  <a:pt x="1786949" y="581667"/>
                  <a:pt x="1765744" y="617035"/>
                  <a:pt x="1742836" y="650081"/>
                </a:cubicBezTo>
                <a:lnTo>
                  <a:pt x="2103554" y="650081"/>
                </a:lnTo>
                <a:cubicBezTo>
                  <a:pt x="2099607" y="628953"/>
                  <a:pt x="2086528" y="609683"/>
                  <a:pt x="2066252" y="598539"/>
                </a:cubicBezTo>
                <a:moveTo>
                  <a:pt x="301049" y="72901"/>
                </a:moveTo>
                <a:cubicBezTo>
                  <a:pt x="301900" y="93952"/>
                  <a:pt x="284874" y="111442"/>
                  <a:pt x="263669" y="111442"/>
                </a:cubicBezTo>
                <a:lnTo>
                  <a:pt x="74836" y="111442"/>
                </a:lnTo>
                <a:cubicBezTo>
                  <a:pt x="48910" y="111442"/>
                  <a:pt x="26003" y="124521"/>
                  <a:pt x="12614" y="144488"/>
                </a:cubicBezTo>
                <a:cubicBezTo>
                  <a:pt x="4643" y="156329"/>
                  <a:pt x="0" y="170491"/>
                  <a:pt x="0" y="185737"/>
                </a:cubicBezTo>
                <a:lnTo>
                  <a:pt x="0" y="371475"/>
                </a:lnTo>
                <a:cubicBezTo>
                  <a:pt x="0" y="397323"/>
                  <a:pt x="13311" y="420076"/>
                  <a:pt x="33510" y="433387"/>
                </a:cubicBezTo>
                <a:cubicBezTo>
                  <a:pt x="45350" y="441203"/>
                  <a:pt x="59590" y="445770"/>
                  <a:pt x="74836" y="445770"/>
                </a:cubicBezTo>
                <a:lnTo>
                  <a:pt x="301978" y="445770"/>
                </a:lnTo>
                <a:cubicBezTo>
                  <a:pt x="334791" y="445770"/>
                  <a:pt x="363813" y="466975"/>
                  <a:pt x="373487" y="498086"/>
                </a:cubicBezTo>
                <a:cubicBezTo>
                  <a:pt x="375808" y="505438"/>
                  <a:pt x="378130" y="512790"/>
                  <a:pt x="380452" y="520064"/>
                </a:cubicBezTo>
                <a:cubicBezTo>
                  <a:pt x="395079" y="564874"/>
                  <a:pt x="411795" y="608135"/>
                  <a:pt x="429982" y="650081"/>
                </a:cubicBezTo>
                <a:lnTo>
                  <a:pt x="805017" y="650081"/>
                </a:lnTo>
                <a:cubicBezTo>
                  <a:pt x="777311" y="610070"/>
                  <a:pt x="752159" y="566576"/>
                  <a:pt x="729948" y="520064"/>
                </a:cubicBezTo>
                <a:cubicBezTo>
                  <a:pt x="726465" y="512712"/>
                  <a:pt x="722983" y="505283"/>
                  <a:pt x="719655" y="497853"/>
                </a:cubicBezTo>
                <a:cubicBezTo>
                  <a:pt x="708665" y="473398"/>
                  <a:pt x="726930" y="445770"/>
                  <a:pt x="753939" y="445770"/>
                </a:cubicBezTo>
                <a:lnTo>
                  <a:pt x="1384518" y="445770"/>
                </a:lnTo>
                <a:cubicBezTo>
                  <a:pt x="1399841" y="445770"/>
                  <a:pt x="1414004" y="441203"/>
                  <a:pt x="1425844" y="433387"/>
                </a:cubicBezTo>
                <a:cubicBezTo>
                  <a:pt x="1446043" y="420076"/>
                  <a:pt x="1459355" y="397323"/>
                  <a:pt x="1459355" y="371475"/>
                </a:cubicBezTo>
                <a:lnTo>
                  <a:pt x="1459355" y="185737"/>
                </a:lnTo>
                <a:cubicBezTo>
                  <a:pt x="1459355" y="170491"/>
                  <a:pt x="1454711" y="156251"/>
                  <a:pt x="1446740" y="144488"/>
                </a:cubicBezTo>
                <a:cubicBezTo>
                  <a:pt x="1433274" y="124598"/>
                  <a:pt x="1410444" y="111442"/>
                  <a:pt x="1384518" y="111442"/>
                </a:cubicBezTo>
                <a:lnTo>
                  <a:pt x="657201" y="111442"/>
                </a:lnTo>
                <a:cubicBezTo>
                  <a:pt x="637311" y="111442"/>
                  <a:pt x="620904" y="96041"/>
                  <a:pt x="619821" y="76307"/>
                </a:cubicBezTo>
                <a:cubicBezTo>
                  <a:pt x="618351" y="51155"/>
                  <a:pt x="617577" y="25693"/>
                  <a:pt x="617577" y="0"/>
                </a:cubicBezTo>
                <a:lnTo>
                  <a:pt x="299346" y="0"/>
                </a:lnTo>
                <a:cubicBezTo>
                  <a:pt x="299346" y="24455"/>
                  <a:pt x="299888" y="48756"/>
                  <a:pt x="300894" y="72901"/>
                </a:cubicBezTo>
              </a:path>
            </a:pathLst>
          </a:custGeom>
          <a:solidFill>
            <a:srgbClr val="92BD39"/>
          </a:solidFill>
          <a:ln>
            <a:noFill/>
          </a:ln>
        </p:spPr>
        <p:txBody>
          <a:bodyPr rtlCol="0" anchor="ctr"/>
          <a:lstStyle/>
          <a:p>
            <a:pPr algn="ctr"/>
            <a:endParaRPr/>
          </a:p>
        </p:txBody>
      </p:sp>
      <p:sp>
        <p:nvSpPr>
          <p:cNvPr id="5" name="Rounded Rectangle 4">
            <a:extLst>
              <a:ext uri="{FF2B5EF4-FFF2-40B4-BE49-F238E27FC236}">
                <a16:creationId xmlns="" xmlns:a16="http://schemas.microsoft.com/office/drawing/2014/main" id="{17DDBEE8-97A8-4761-8663-9FB24964222E}"/>
              </a:ext>
            </a:extLst>
          </p:cNvPr>
          <p:cNvSpPr/>
          <p:nvPr/>
        </p:nvSpPr>
        <p:spPr>
          <a:xfrm>
            <a:off x="2294011" y="3921153"/>
            <a:ext cx="2103554" cy="650082"/>
          </a:xfrm>
          <a:custGeom>
            <a:avLst/>
            <a:gdLst/>
            <a:ahLst/>
            <a:cxnLst/>
            <a:rect l="0" t="0" r="0" b="0"/>
            <a:pathLst>
              <a:path w="2103554" h="650082">
                <a:moveTo>
                  <a:pt x="2066252" y="598540"/>
                </a:moveTo>
                <a:lnTo>
                  <a:pt x="1923157" y="520066"/>
                </a:lnTo>
                <a:lnTo>
                  <a:pt x="1909226" y="512404"/>
                </a:lnTo>
                <a:cubicBezTo>
                  <a:pt x="1881520" y="497236"/>
                  <a:pt x="1848475" y="501338"/>
                  <a:pt x="1825567" y="520066"/>
                </a:cubicBezTo>
                <a:cubicBezTo>
                  <a:pt x="1817751" y="526412"/>
                  <a:pt x="1811095" y="534461"/>
                  <a:pt x="1806142" y="544057"/>
                </a:cubicBezTo>
                <a:cubicBezTo>
                  <a:pt x="1786949" y="581669"/>
                  <a:pt x="1765744" y="617037"/>
                  <a:pt x="1742836" y="650082"/>
                </a:cubicBezTo>
                <a:lnTo>
                  <a:pt x="2103554" y="650082"/>
                </a:lnTo>
                <a:cubicBezTo>
                  <a:pt x="2099607" y="628955"/>
                  <a:pt x="2086528" y="609684"/>
                  <a:pt x="2066252" y="598540"/>
                </a:cubicBezTo>
                <a:close/>
                <a:moveTo>
                  <a:pt x="301049" y="72901"/>
                </a:moveTo>
                <a:cubicBezTo>
                  <a:pt x="301900" y="93952"/>
                  <a:pt x="284874" y="111442"/>
                  <a:pt x="263669" y="111442"/>
                </a:cubicBezTo>
                <a:lnTo>
                  <a:pt x="74836" y="111442"/>
                </a:lnTo>
                <a:cubicBezTo>
                  <a:pt x="48910" y="111442"/>
                  <a:pt x="26003" y="124521"/>
                  <a:pt x="12614" y="144488"/>
                </a:cubicBezTo>
                <a:cubicBezTo>
                  <a:pt x="4643" y="156329"/>
                  <a:pt x="0" y="170491"/>
                  <a:pt x="0" y="185737"/>
                </a:cubicBezTo>
                <a:lnTo>
                  <a:pt x="0" y="371475"/>
                </a:lnTo>
                <a:cubicBezTo>
                  <a:pt x="0" y="397323"/>
                  <a:pt x="13311" y="420076"/>
                  <a:pt x="33510" y="433387"/>
                </a:cubicBezTo>
                <a:cubicBezTo>
                  <a:pt x="45350" y="441203"/>
                  <a:pt x="59590" y="445770"/>
                  <a:pt x="74836" y="445770"/>
                </a:cubicBezTo>
                <a:lnTo>
                  <a:pt x="301978" y="445770"/>
                </a:lnTo>
                <a:cubicBezTo>
                  <a:pt x="334791" y="445770"/>
                  <a:pt x="363813" y="466975"/>
                  <a:pt x="373487" y="498086"/>
                </a:cubicBezTo>
                <a:cubicBezTo>
                  <a:pt x="375808" y="505438"/>
                  <a:pt x="378130" y="512790"/>
                  <a:pt x="380452" y="520064"/>
                </a:cubicBezTo>
                <a:cubicBezTo>
                  <a:pt x="395079" y="564874"/>
                  <a:pt x="411795" y="608135"/>
                  <a:pt x="429982" y="650081"/>
                </a:cubicBezTo>
                <a:lnTo>
                  <a:pt x="805017" y="650081"/>
                </a:lnTo>
                <a:cubicBezTo>
                  <a:pt x="777311" y="610070"/>
                  <a:pt x="752159" y="566576"/>
                  <a:pt x="729948" y="520064"/>
                </a:cubicBezTo>
                <a:cubicBezTo>
                  <a:pt x="726465" y="512712"/>
                  <a:pt x="722983" y="505283"/>
                  <a:pt x="719655" y="497853"/>
                </a:cubicBezTo>
                <a:cubicBezTo>
                  <a:pt x="708665" y="473398"/>
                  <a:pt x="726930" y="445770"/>
                  <a:pt x="753939" y="445770"/>
                </a:cubicBezTo>
                <a:lnTo>
                  <a:pt x="1384518" y="445770"/>
                </a:lnTo>
                <a:cubicBezTo>
                  <a:pt x="1399841" y="445770"/>
                  <a:pt x="1414004" y="441203"/>
                  <a:pt x="1425844" y="433387"/>
                </a:cubicBezTo>
                <a:cubicBezTo>
                  <a:pt x="1446043" y="420076"/>
                  <a:pt x="1459355" y="397323"/>
                  <a:pt x="1459355" y="371475"/>
                </a:cubicBezTo>
                <a:lnTo>
                  <a:pt x="1459355" y="185737"/>
                </a:lnTo>
                <a:cubicBezTo>
                  <a:pt x="1459355" y="170491"/>
                  <a:pt x="1454711" y="156251"/>
                  <a:pt x="1446740" y="144488"/>
                </a:cubicBezTo>
                <a:cubicBezTo>
                  <a:pt x="1433274" y="124598"/>
                  <a:pt x="1410444" y="111442"/>
                  <a:pt x="1384518" y="111442"/>
                </a:cubicBezTo>
                <a:lnTo>
                  <a:pt x="657201" y="111442"/>
                </a:lnTo>
                <a:cubicBezTo>
                  <a:pt x="637311" y="111442"/>
                  <a:pt x="620904" y="96041"/>
                  <a:pt x="619821" y="76307"/>
                </a:cubicBezTo>
                <a:cubicBezTo>
                  <a:pt x="618351" y="51155"/>
                  <a:pt x="617577" y="25693"/>
                  <a:pt x="617577" y="0"/>
                </a:cubicBezTo>
                <a:lnTo>
                  <a:pt x="299346" y="0"/>
                </a:lnTo>
                <a:cubicBezTo>
                  <a:pt x="299346" y="24455"/>
                  <a:pt x="299888" y="48756"/>
                  <a:pt x="300894" y="72901"/>
                </a:cubicBezTo>
                <a:lnTo>
                  <a:pt x="301049" y="72901"/>
                </a:lnTo>
                <a:close/>
              </a:path>
            </a:pathLst>
          </a:custGeom>
          <a:noFill/>
          <a:ln w="11608">
            <a:solidFill>
              <a:srgbClr val="FFFFFF"/>
            </a:solidFill>
          </a:ln>
        </p:spPr>
        <p:txBody>
          <a:bodyPr rtlCol="0" anchor="ctr"/>
          <a:lstStyle/>
          <a:p>
            <a:pPr algn="ctr"/>
            <a:endParaRPr/>
          </a:p>
        </p:txBody>
      </p:sp>
      <p:sp>
        <p:nvSpPr>
          <p:cNvPr id="6" name="Rounded Rectangle 5">
            <a:extLst>
              <a:ext uri="{FF2B5EF4-FFF2-40B4-BE49-F238E27FC236}">
                <a16:creationId xmlns="" xmlns:a16="http://schemas.microsoft.com/office/drawing/2014/main" id="{40CA109C-2C9F-4448-B5CE-BDB6F40DA48F}"/>
              </a:ext>
            </a:extLst>
          </p:cNvPr>
          <p:cNvSpPr/>
          <p:nvPr/>
        </p:nvSpPr>
        <p:spPr>
          <a:xfrm>
            <a:off x="2294011" y="3271072"/>
            <a:ext cx="2104405" cy="650081"/>
          </a:xfrm>
          <a:custGeom>
            <a:avLst/>
            <a:gdLst/>
            <a:ahLst/>
            <a:cxnLst/>
            <a:rect l="0" t="0" r="0" b="0"/>
            <a:pathLst>
              <a:path w="2104405" h="650081">
                <a:moveTo>
                  <a:pt x="1384673" y="538638"/>
                </a:moveTo>
                <a:cubicBezTo>
                  <a:pt x="1410598" y="538638"/>
                  <a:pt x="1433506" y="525559"/>
                  <a:pt x="1446895" y="505592"/>
                </a:cubicBezTo>
                <a:cubicBezTo>
                  <a:pt x="1454866" y="493752"/>
                  <a:pt x="1459509" y="479589"/>
                  <a:pt x="1459509" y="464343"/>
                </a:cubicBezTo>
                <a:lnTo>
                  <a:pt x="1459509" y="278606"/>
                </a:lnTo>
                <a:cubicBezTo>
                  <a:pt x="1459509" y="252757"/>
                  <a:pt x="1446198" y="230004"/>
                  <a:pt x="1425999" y="216693"/>
                </a:cubicBezTo>
                <a:cubicBezTo>
                  <a:pt x="1414158" y="208877"/>
                  <a:pt x="1399919" y="204311"/>
                  <a:pt x="1384673" y="204311"/>
                </a:cubicBezTo>
                <a:lnTo>
                  <a:pt x="754094" y="204311"/>
                </a:lnTo>
                <a:cubicBezTo>
                  <a:pt x="727084" y="204311"/>
                  <a:pt x="708820" y="176760"/>
                  <a:pt x="719810" y="152227"/>
                </a:cubicBezTo>
                <a:cubicBezTo>
                  <a:pt x="723138" y="144720"/>
                  <a:pt x="726620" y="137368"/>
                  <a:pt x="730103" y="130016"/>
                </a:cubicBezTo>
                <a:cubicBezTo>
                  <a:pt x="752314" y="83504"/>
                  <a:pt x="777543" y="40010"/>
                  <a:pt x="805172" y="0"/>
                </a:cubicBezTo>
                <a:lnTo>
                  <a:pt x="430137" y="0"/>
                </a:lnTo>
                <a:cubicBezTo>
                  <a:pt x="411950" y="41945"/>
                  <a:pt x="395233" y="85207"/>
                  <a:pt x="380607" y="130016"/>
                </a:cubicBezTo>
                <a:cubicBezTo>
                  <a:pt x="378207" y="137290"/>
                  <a:pt x="375886" y="144643"/>
                  <a:pt x="373641" y="151995"/>
                </a:cubicBezTo>
                <a:cubicBezTo>
                  <a:pt x="363968" y="183106"/>
                  <a:pt x="334946" y="204311"/>
                  <a:pt x="302132" y="204311"/>
                </a:cubicBezTo>
                <a:lnTo>
                  <a:pt x="74836" y="204311"/>
                </a:lnTo>
                <a:cubicBezTo>
                  <a:pt x="59513" y="204311"/>
                  <a:pt x="45350" y="208877"/>
                  <a:pt x="33510" y="216693"/>
                </a:cubicBezTo>
                <a:cubicBezTo>
                  <a:pt x="13311" y="230004"/>
                  <a:pt x="0" y="252757"/>
                  <a:pt x="0" y="278606"/>
                </a:cubicBezTo>
                <a:lnTo>
                  <a:pt x="0" y="464343"/>
                </a:lnTo>
                <a:cubicBezTo>
                  <a:pt x="0" y="479589"/>
                  <a:pt x="4643" y="493829"/>
                  <a:pt x="12614" y="505592"/>
                </a:cubicBezTo>
                <a:cubicBezTo>
                  <a:pt x="26080" y="525482"/>
                  <a:pt x="48910" y="538638"/>
                  <a:pt x="74836" y="538638"/>
                </a:cubicBezTo>
                <a:lnTo>
                  <a:pt x="263592" y="538638"/>
                </a:lnTo>
                <a:cubicBezTo>
                  <a:pt x="284797" y="538638"/>
                  <a:pt x="301900" y="556129"/>
                  <a:pt x="300972" y="577179"/>
                </a:cubicBezTo>
                <a:cubicBezTo>
                  <a:pt x="299966" y="601325"/>
                  <a:pt x="299424" y="625625"/>
                  <a:pt x="299424" y="650081"/>
                </a:cubicBezTo>
                <a:lnTo>
                  <a:pt x="617654" y="650081"/>
                </a:lnTo>
                <a:cubicBezTo>
                  <a:pt x="617654" y="624387"/>
                  <a:pt x="618428" y="598926"/>
                  <a:pt x="619898" y="573774"/>
                </a:cubicBezTo>
                <a:cubicBezTo>
                  <a:pt x="621059" y="554039"/>
                  <a:pt x="637389" y="538638"/>
                  <a:pt x="657278" y="538638"/>
                </a:cubicBezTo>
                <a:lnTo>
                  <a:pt x="1384673" y="538638"/>
                </a:lnTo>
                <a:moveTo>
                  <a:pt x="1806142" y="110513"/>
                </a:moveTo>
                <a:cubicBezTo>
                  <a:pt x="1809857" y="117943"/>
                  <a:pt x="1814732" y="124444"/>
                  <a:pt x="1820304" y="130016"/>
                </a:cubicBezTo>
                <a:cubicBezTo>
                  <a:pt x="1843212" y="152691"/>
                  <a:pt x="1879431" y="158960"/>
                  <a:pt x="1909381" y="142476"/>
                </a:cubicBezTo>
                <a:lnTo>
                  <a:pt x="2066252" y="56417"/>
                </a:lnTo>
                <a:cubicBezTo>
                  <a:pt x="2088153" y="44422"/>
                  <a:pt x="2101697" y="23062"/>
                  <a:pt x="2104405" y="0"/>
                </a:cubicBezTo>
                <a:lnTo>
                  <a:pt x="1740515" y="0"/>
                </a:lnTo>
                <a:cubicBezTo>
                  <a:pt x="1764351" y="34361"/>
                  <a:pt x="1786330" y="71276"/>
                  <a:pt x="1806142" y="110513"/>
                </a:cubicBezTo>
              </a:path>
            </a:pathLst>
          </a:custGeom>
          <a:solidFill>
            <a:srgbClr val="3CC583"/>
          </a:solidFill>
          <a:ln>
            <a:noFill/>
          </a:ln>
        </p:spPr>
        <p:txBody>
          <a:bodyPr rtlCol="0" anchor="ctr"/>
          <a:lstStyle/>
          <a:p>
            <a:pPr algn="ctr"/>
            <a:endParaRPr/>
          </a:p>
        </p:txBody>
      </p:sp>
      <p:sp>
        <p:nvSpPr>
          <p:cNvPr id="7" name="Rounded Rectangle 6">
            <a:extLst>
              <a:ext uri="{FF2B5EF4-FFF2-40B4-BE49-F238E27FC236}">
                <a16:creationId xmlns="" xmlns:a16="http://schemas.microsoft.com/office/drawing/2014/main" id="{9A347579-0DED-467C-BD69-3393CCFC1B7A}"/>
              </a:ext>
            </a:extLst>
          </p:cNvPr>
          <p:cNvSpPr/>
          <p:nvPr/>
        </p:nvSpPr>
        <p:spPr>
          <a:xfrm>
            <a:off x="2294011" y="3271072"/>
            <a:ext cx="2104405" cy="650081"/>
          </a:xfrm>
          <a:custGeom>
            <a:avLst/>
            <a:gdLst/>
            <a:ahLst/>
            <a:cxnLst/>
            <a:rect l="0" t="0" r="0" b="0"/>
            <a:pathLst>
              <a:path w="2104405" h="650081">
                <a:moveTo>
                  <a:pt x="1384673" y="538638"/>
                </a:moveTo>
                <a:cubicBezTo>
                  <a:pt x="1410598" y="538638"/>
                  <a:pt x="1433506" y="525559"/>
                  <a:pt x="1446895" y="505592"/>
                </a:cubicBezTo>
                <a:cubicBezTo>
                  <a:pt x="1454866" y="493752"/>
                  <a:pt x="1459509" y="479589"/>
                  <a:pt x="1459509" y="464343"/>
                </a:cubicBezTo>
                <a:lnTo>
                  <a:pt x="1459509" y="278606"/>
                </a:lnTo>
                <a:cubicBezTo>
                  <a:pt x="1459509" y="252757"/>
                  <a:pt x="1446198" y="230004"/>
                  <a:pt x="1425999" y="216693"/>
                </a:cubicBezTo>
                <a:cubicBezTo>
                  <a:pt x="1414158" y="208877"/>
                  <a:pt x="1399919" y="204311"/>
                  <a:pt x="1384673" y="204311"/>
                </a:cubicBezTo>
                <a:lnTo>
                  <a:pt x="754094" y="204311"/>
                </a:lnTo>
                <a:cubicBezTo>
                  <a:pt x="727084" y="204311"/>
                  <a:pt x="708820" y="176760"/>
                  <a:pt x="719810" y="152227"/>
                </a:cubicBezTo>
                <a:cubicBezTo>
                  <a:pt x="723138" y="144720"/>
                  <a:pt x="726620" y="137368"/>
                  <a:pt x="730103" y="130016"/>
                </a:cubicBezTo>
                <a:cubicBezTo>
                  <a:pt x="752314" y="83504"/>
                  <a:pt x="777543" y="40010"/>
                  <a:pt x="805172" y="0"/>
                </a:cubicBezTo>
                <a:lnTo>
                  <a:pt x="430137" y="0"/>
                </a:lnTo>
                <a:cubicBezTo>
                  <a:pt x="411950" y="41945"/>
                  <a:pt x="395233" y="85207"/>
                  <a:pt x="380607" y="130016"/>
                </a:cubicBezTo>
                <a:cubicBezTo>
                  <a:pt x="378207" y="137290"/>
                  <a:pt x="375886" y="144643"/>
                  <a:pt x="373641" y="151995"/>
                </a:cubicBezTo>
                <a:cubicBezTo>
                  <a:pt x="363968" y="183106"/>
                  <a:pt x="334946" y="204311"/>
                  <a:pt x="302132" y="204311"/>
                </a:cubicBezTo>
                <a:lnTo>
                  <a:pt x="74836" y="204311"/>
                </a:lnTo>
                <a:cubicBezTo>
                  <a:pt x="59513" y="204311"/>
                  <a:pt x="45350" y="208877"/>
                  <a:pt x="33510" y="216693"/>
                </a:cubicBezTo>
                <a:cubicBezTo>
                  <a:pt x="13311" y="230004"/>
                  <a:pt x="0" y="252757"/>
                  <a:pt x="0" y="278606"/>
                </a:cubicBezTo>
                <a:lnTo>
                  <a:pt x="0" y="464343"/>
                </a:lnTo>
                <a:cubicBezTo>
                  <a:pt x="0" y="479589"/>
                  <a:pt x="4643" y="493829"/>
                  <a:pt x="12614" y="505592"/>
                </a:cubicBezTo>
                <a:cubicBezTo>
                  <a:pt x="26080" y="525482"/>
                  <a:pt x="48910" y="538638"/>
                  <a:pt x="74836" y="538638"/>
                </a:cubicBezTo>
                <a:lnTo>
                  <a:pt x="263592" y="538638"/>
                </a:lnTo>
                <a:cubicBezTo>
                  <a:pt x="284797" y="538638"/>
                  <a:pt x="301900" y="556129"/>
                  <a:pt x="300972" y="577179"/>
                </a:cubicBezTo>
                <a:cubicBezTo>
                  <a:pt x="299966" y="601325"/>
                  <a:pt x="299424" y="625625"/>
                  <a:pt x="299424" y="650081"/>
                </a:cubicBezTo>
                <a:lnTo>
                  <a:pt x="617654" y="650081"/>
                </a:lnTo>
                <a:cubicBezTo>
                  <a:pt x="617654" y="624387"/>
                  <a:pt x="618428" y="598926"/>
                  <a:pt x="619898" y="573774"/>
                </a:cubicBezTo>
                <a:cubicBezTo>
                  <a:pt x="621059" y="554039"/>
                  <a:pt x="637389" y="538638"/>
                  <a:pt x="657278" y="538638"/>
                </a:cubicBezTo>
                <a:lnTo>
                  <a:pt x="1384673" y="538638"/>
                </a:lnTo>
                <a:close/>
                <a:moveTo>
                  <a:pt x="1806142" y="110513"/>
                </a:moveTo>
                <a:cubicBezTo>
                  <a:pt x="1809857" y="117943"/>
                  <a:pt x="1814732" y="124444"/>
                  <a:pt x="1820304" y="130016"/>
                </a:cubicBezTo>
                <a:cubicBezTo>
                  <a:pt x="1843212" y="152691"/>
                  <a:pt x="1879431" y="158960"/>
                  <a:pt x="1909381" y="142476"/>
                </a:cubicBezTo>
                <a:lnTo>
                  <a:pt x="2066252" y="56417"/>
                </a:lnTo>
                <a:cubicBezTo>
                  <a:pt x="2088153" y="44422"/>
                  <a:pt x="2101697" y="23062"/>
                  <a:pt x="2104405" y="0"/>
                </a:cubicBezTo>
                <a:lnTo>
                  <a:pt x="1740515" y="0"/>
                </a:lnTo>
                <a:cubicBezTo>
                  <a:pt x="1764351" y="34361"/>
                  <a:pt x="1786330" y="71276"/>
                  <a:pt x="1806142" y="110513"/>
                </a:cubicBezTo>
                <a:close/>
              </a:path>
            </a:pathLst>
          </a:custGeom>
          <a:noFill/>
          <a:ln w="11608">
            <a:solidFill>
              <a:srgbClr val="FFFFFF"/>
            </a:solidFill>
          </a:ln>
        </p:spPr>
        <p:txBody>
          <a:bodyPr rtlCol="0" anchor="ctr"/>
          <a:lstStyle/>
          <a:p>
            <a:pPr algn="ctr"/>
            <a:endParaRPr/>
          </a:p>
        </p:txBody>
      </p:sp>
      <p:sp>
        <p:nvSpPr>
          <p:cNvPr id="8" name="Rounded Rectangle 7">
            <a:extLst>
              <a:ext uri="{FF2B5EF4-FFF2-40B4-BE49-F238E27FC236}">
                <a16:creationId xmlns="" xmlns:a16="http://schemas.microsoft.com/office/drawing/2014/main" id="{47B13F94-4381-43FC-A6C6-EC30AF9A761F}"/>
              </a:ext>
            </a:extLst>
          </p:cNvPr>
          <p:cNvSpPr/>
          <p:nvPr/>
        </p:nvSpPr>
        <p:spPr>
          <a:xfrm>
            <a:off x="2723993" y="2620991"/>
            <a:ext cx="1676048" cy="650081"/>
          </a:xfrm>
          <a:custGeom>
            <a:avLst/>
            <a:gdLst/>
            <a:ahLst/>
            <a:cxnLst/>
            <a:rect l="0" t="0" r="0" b="0"/>
            <a:pathLst>
              <a:path w="1676048" h="650081">
                <a:moveTo>
                  <a:pt x="1674500" y="650081"/>
                </a:moveTo>
                <a:lnTo>
                  <a:pt x="1310610" y="650081"/>
                </a:lnTo>
                <a:cubicBezTo>
                  <a:pt x="1292887" y="624542"/>
                  <a:pt x="1274236" y="600396"/>
                  <a:pt x="1254579" y="577875"/>
                </a:cubicBezTo>
                <a:cubicBezTo>
                  <a:pt x="1236547" y="557212"/>
                  <a:pt x="1217818" y="537942"/>
                  <a:pt x="1198393" y="520064"/>
                </a:cubicBezTo>
                <a:cubicBezTo>
                  <a:pt x="1096006" y="426035"/>
                  <a:pt x="973883" y="371475"/>
                  <a:pt x="842783" y="371475"/>
                </a:cubicBezTo>
                <a:cubicBezTo>
                  <a:pt x="711684" y="371475"/>
                  <a:pt x="589639" y="426035"/>
                  <a:pt x="487251" y="520064"/>
                </a:cubicBezTo>
                <a:cubicBezTo>
                  <a:pt x="467748" y="537942"/>
                  <a:pt x="449020" y="557212"/>
                  <a:pt x="431065" y="577875"/>
                </a:cubicBezTo>
                <a:cubicBezTo>
                  <a:pt x="411408" y="600396"/>
                  <a:pt x="392757" y="624542"/>
                  <a:pt x="375034" y="650081"/>
                </a:cubicBezTo>
                <a:lnTo>
                  <a:pt x="0" y="650081"/>
                </a:lnTo>
                <a:cubicBezTo>
                  <a:pt x="10602" y="625548"/>
                  <a:pt x="21669" y="601325"/>
                  <a:pt x="33432" y="577875"/>
                </a:cubicBezTo>
                <a:cubicBezTo>
                  <a:pt x="43261" y="558218"/>
                  <a:pt x="53476" y="538948"/>
                  <a:pt x="64079" y="520064"/>
                </a:cubicBezTo>
                <a:cubicBezTo>
                  <a:pt x="88225" y="477113"/>
                  <a:pt x="114305" y="436173"/>
                  <a:pt x="142243" y="397633"/>
                </a:cubicBezTo>
                <a:cubicBezTo>
                  <a:pt x="170104" y="359015"/>
                  <a:pt x="199745" y="322718"/>
                  <a:pt x="231011" y="288899"/>
                </a:cubicBezTo>
                <a:cubicBezTo>
                  <a:pt x="240143" y="279070"/>
                  <a:pt x="249352" y="269474"/>
                  <a:pt x="258794" y="260032"/>
                </a:cubicBezTo>
                <a:cubicBezTo>
                  <a:pt x="421546" y="96815"/>
                  <a:pt x="623768" y="0"/>
                  <a:pt x="842861" y="0"/>
                </a:cubicBezTo>
                <a:cubicBezTo>
                  <a:pt x="1061954" y="0"/>
                  <a:pt x="1264253" y="96738"/>
                  <a:pt x="1426928" y="260032"/>
                </a:cubicBezTo>
                <a:cubicBezTo>
                  <a:pt x="1436292" y="269474"/>
                  <a:pt x="1445579" y="279070"/>
                  <a:pt x="1454634" y="288899"/>
                </a:cubicBezTo>
                <a:cubicBezTo>
                  <a:pt x="1517165" y="356461"/>
                  <a:pt x="1573274" y="434161"/>
                  <a:pt x="1621565" y="520064"/>
                </a:cubicBezTo>
                <a:cubicBezTo>
                  <a:pt x="1632168" y="538948"/>
                  <a:pt x="1642383" y="558218"/>
                  <a:pt x="1652212" y="577875"/>
                </a:cubicBezTo>
                <a:cubicBezTo>
                  <a:pt x="1657629" y="588633"/>
                  <a:pt x="1662969" y="599467"/>
                  <a:pt x="1668077" y="610457"/>
                </a:cubicBezTo>
                <a:cubicBezTo>
                  <a:pt x="1674114" y="623226"/>
                  <a:pt x="1676048" y="636924"/>
                  <a:pt x="1674500" y="650081"/>
                </a:cubicBezTo>
              </a:path>
            </a:pathLst>
          </a:custGeom>
          <a:solidFill>
            <a:srgbClr val="1EABDA"/>
          </a:solidFill>
          <a:ln>
            <a:noFill/>
          </a:ln>
        </p:spPr>
        <p:txBody>
          <a:bodyPr rtlCol="0" anchor="ctr"/>
          <a:lstStyle/>
          <a:p>
            <a:pPr algn="ctr"/>
            <a:endParaRPr/>
          </a:p>
        </p:txBody>
      </p:sp>
      <p:sp>
        <p:nvSpPr>
          <p:cNvPr id="9" name="Rounded Rectangle 8">
            <a:extLst>
              <a:ext uri="{FF2B5EF4-FFF2-40B4-BE49-F238E27FC236}">
                <a16:creationId xmlns="" xmlns:a16="http://schemas.microsoft.com/office/drawing/2014/main" id="{155293D5-A2C1-487D-9D79-F3C5F7395C9F}"/>
              </a:ext>
            </a:extLst>
          </p:cNvPr>
          <p:cNvSpPr/>
          <p:nvPr/>
        </p:nvSpPr>
        <p:spPr>
          <a:xfrm>
            <a:off x="2723993" y="2620991"/>
            <a:ext cx="1676048" cy="650081"/>
          </a:xfrm>
          <a:custGeom>
            <a:avLst/>
            <a:gdLst/>
            <a:ahLst/>
            <a:cxnLst/>
            <a:rect l="0" t="0" r="0" b="0"/>
            <a:pathLst>
              <a:path w="1676048" h="650081">
                <a:moveTo>
                  <a:pt x="1674500" y="650081"/>
                </a:moveTo>
                <a:lnTo>
                  <a:pt x="1310610" y="650081"/>
                </a:lnTo>
                <a:cubicBezTo>
                  <a:pt x="1292887" y="624542"/>
                  <a:pt x="1274236" y="600396"/>
                  <a:pt x="1254579" y="577875"/>
                </a:cubicBezTo>
                <a:cubicBezTo>
                  <a:pt x="1236547" y="557212"/>
                  <a:pt x="1217818" y="537942"/>
                  <a:pt x="1198393" y="520064"/>
                </a:cubicBezTo>
                <a:cubicBezTo>
                  <a:pt x="1096006" y="426035"/>
                  <a:pt x="973883" y="371475"/>
                  <a:pt x="842783" y="371475"/>
                </a:cubicBezTo>
                <a:cubicBezTo>
                  <a:pt x="711684" y="371475"/>
                  <a:pt x="589639" y="426035"/>
                  <a:pt x="487251" y="520064"/>
                </a:cubicBezTo>
                <a:cubicBezTo>
                  <a:pt x="467748" y="537942"/>
                  <a:pt x="449020" y="557212"/>
                  <a:pt x="431065" y="577875"/>
                </a:cubicBezTo>
                <a:cubicBezTo>
                  <a:pt x="411408" y="600396"/>
                  <a:pt x="392757" y="624542"/>
                  <a:pt x="375034" y="650081"/>
                </a:cubicBezTo>
                <a:lnTo>
                  <a:pt x="0" y="650081"/>
                </a:lnTo>
                <a:cubicBezTo>
                  <a:pt x="10602" y="625548"/>
                  <a:pt x="21669" y="601325"/>
                  <a:pt x="33432" y="577875"/>
                </a:cubicBezTo>
                <a:cubicBezTo>
                  <a:pt x="43261" y="558218"/>
                  <a:pt x="53476" y="538948"/>
                  <a:pt x="64079" y="520064"/>
                </a:cubicBezTo>
                <a:cubicBezTo>
                  <a:pt x="88225" y="477113"/>
                  <a:pt x="114305" y="436173"/>
                  <a:pt x="142243" y="397633"/>
                </a:cubicBezTo>
                <a:cubicBezTo>
                  <a:pt x="170104" y="359015"/>
                  <a:pt x="199745" y="322718"/>
                  <a:pt x="231011" y="288899"/>
                </a:cubicBezTo>
                <a:cubicBezTo>
                  <a:pt x="240143" y="279070"/>
                  <a:pt x="249352" y="269474"/>
                  <a:pt x="258794" y="260032"/>
                </a:cubicBezTo>
                <a:cubicBezTo>
                  <a:pt x="421546" y="96815"/>
                  <a:pt x="623768" y="0"/>
                  <a:pt x="842861" y="0"/>
                </a:cubicBezTo>
                <a:cubicBezTo>
                  <a:pt x="1061954" y="0"/>
                  <a:pt x="1264253" y="96738"/>
                  <a:pt x="1426928" y="260032"/>
                </a:cubicBezTo>
                <a:cubicBezTo>
                  <a:pt x="1436292" y="269474"/>
                  <a:pt x="1445579" y="279070"/>
                  <a:pt x="1454634" y="288899"/>
                </a:cubicBezTo>
                <a:lnTo>
                  <a:pt x="1454711" y="288899"/>
                </a:lnTo>
                <a:cubicBezTo>
                  <a:pt x="1517165" y="356461"/>
                  <a:pt x="1573274" y="434161"/>
                  <a:pt x="1621565" y="520064"/>
                </a:cubicBezTo>
                <a:cubicBezTo>
                  <a:pt x="1632168" y="538948"/>
                  <a:pt x="1642383" y="558218"/>
                  <a:pt x="1652212" y="577875"/>
                </a:cubicBezTo>
                <a:cubicBezTo>
                  <a:pt x="1657629" y="588633"/>
                  <a:pt x="1662969" y="599467"/>
                  <a:pt x="1668077" y="610457"/>
                </a:cubicBezTo>
                <a:cubicBezTo>
                  <a:pt x="1674114" y="623226"/>
                  <a:pt x="1676048" y="636924"/>
                  <a:pt x="1674500" y="650081"/>
                </a:cubicBezTo>
                <a:close/>
              </a:path>
            </a:pathLst>
          </a:custGeom>
          <a:noFill/>
          <a:ln w="11608">
            <a:solidFill>
              <a:srgbClr val="FFFFFF"/>
            </a:solidFill>
          </a:ln>
        </p:spPr>
        <p:txBody>
          <a:bodyPr rtlCol="0" anchor="ctr"/>
          <a:lstStyle/>
          <a:p>
            <a:pPr algn="ctr"/>
            <a:endParaRPr/>
          </a:p>
        </p:txBody>
      </p:sp>
      <p:sp>
        <p:nvSpPr>
          <p:cNvPr id="10" name="Rounded Rectangle 9">
            <a:extLst>
              <a:ext uri="{FF2B5EF4-FFF2-40B4-BE49-F238E27FC236}">
                <a16:creationId xmlns="" xmlns:a16="http://schemas.microsoft.com/office/drawing/2014/main" id="{B8A07101-7840-42B6-8AED-373EF8D5B772}"/>
              </a:ext>
            </a:extLst>
          </p:cNvPr>
          <p:cNvSpPr/>
          <p:nvPr/>
        </p:nvSpPr>
        <p:spPr>
          <a:xfrm>
            <a:off x="5265779" y="1738738"/>
            <a:ext cx="7739" cy="1021556"/>
          </a:xfrm>
          <a:custGeom>
            <a:avLst/>
            <a:gdLst/>
            <a:ahLst/>
            <a:cxnLst/>
            <a:rect l="0" t="0" r="0" b="0"/>
            <a:pathLst>
              <a:path w="7739" h="1021556">
                <a:moveTo>
                  <a:pt x="0" y="0"/>
                </a:moveTo>
                <a:lnTo>
                  <a:pt x="0" y="1021556"/>
                </a:lnTo>
              </a:path>
            </a:pathLst>
          </a:custGeom>
          <a:noFill/>
          <a:ln w="11608">
            <a:solidFill>
              <a:srgbClr val="484848"/>
            </a:solidFill>
          </a:ln>
        </p:spPr>
        <p:txBody>
          <a:bodyPr rtlCol="0" anchor="ctr"/>
          <a:lstStyle/>
          <a:p>
            <a:pPr algn="ctr"/>
            <a:endParaRPr/>
          </a:p>
        </p:txBody>
      </p:sp>
      <p:sp>
        <p:nvSpPr>
          <p:cNvPr id="11" name="Rounded Rectangle 10">
            <a:extLst>
              <a:ext uri="{FF2B5EF4-FFF2-40B4-BE49-F238E27FC236}">
                <a16:creationId xmlns="" xmlns:a16="http://schemas.microsoft.com/office/drawing/2014/main" id="{351B4C6A-94C1-420E-9809-66A3AC643139}"/>
              </a:ext>
            </a:extLst>
          </p:cNvPr>
          <p:cNvSpPr/>
          <p:nvPr/>
        </p:nvSpPr>
        <p:spPr>
          <a:xfrm>
            <a:off x="5265779" y="2946032"/>
            <a:ext cx="7739" cy="835818"/>
          </a:xfrm>
          <a:custGeom>
            <a:avLst/>
            <a:gdLst/>
            <a:ahLst/>
            <a:cxnLst/>
            <a:rect l="0" t="0" r="0" b="0"/>
            <a:pathLst>
              <a:path w="7739" h="835818">
                <a:moveTo>
                  <a:pt x="0" y="0"/>
                </a:moveTo>
                <a:lnTo>
                  <a:pt x="0" y="835818"/>
                </a:lnTo>
              </a:path>
            </a:pathLst>
          </a:custGeom>
          <a:noFill/>
          <a:ln w="11608">
            <a:solidFill>
              <a:srgbClr val="484848"/>
            </a:solidFill>
          </a:ln>
        </p:spPr>
        <p:txBody>
          <a:bodyPr rtlCol="0" anchor="ctr"/>
          <a:lstStyle/>
          <a:p>
            <a:pPr algn="ctr"/>
            <a:endParaRPr/>
          </a:p>
        </p:txBody>
      </p:sp>
      <p:sp>
        <p:nvSpPr>
          <p:cNvPr id="12" name="Rounded Rectangle 11">
            <a:extLst>
              <a:ext uri="{FF2B5EF4-FFF2-40B4-BE49-F238E27FC236}">
                <a16:creationId xmlns="" xmlns:a16="http://schemas.microsoft.com/office/drawing/2014/main" id="{3FAEC422-B4E9-4221-A889-6269A2C80A66}"/>
              </a:ext>
            </a:extLst>
          </p:cNvPr>
          <p:cNvSpPr/>
          <p:nvPr/>
        </p:nvSpPr>
        <p:spPr>
          <a:xfrm>
            <a:off x="5265779" y="3967588"/>
            <a:ext cx="7739" cy="928687"/>
          </a:xfrm>
          <a:custGeom>
            <a:avLst/>
            <a:gdLst/>
            <a:ahLst/>
            <a:cxnLst/>
            <a:rect l="0" t="0" r="0" b="0"/>
            <a:pathLst>
              <a:path w="7739" h="928687">
                <a:moveTo>
                  <a:pt x="0" y="0"/>
                </a:moveTo>
                <a:lnTo>
                  <a:pt x="0" y="928687"/>
                </a:lnTo>
              </a:path>
            </a:pathLst>
          </a:custGeom>
          <a:noFill/>
          <a:ln w="11608">
            <a:solidFill>
              <a:srgbClr val="484848"/>
            </a:solidFill>
          </a:ln>
        </p:spPr>
        <p:txBody>
          <a:bodyPr rtlCol="0" anchor="ctr"/>
          <a:lstStyle/>
          <a:p>
            <a:pPr algn="ctr"/>
            <a:endParaRPr/>
          </a:p>
        </p:txBody>
      </p:sp>
      <p:sp>
        <p:nvSpPr>
          <p:cNvPr id="13" name="Rounded Rectangle 12">
            <a:extLst>
              <a:ext uri="{FF2B5EF4-FFF2-40B4-BE49-F238E27FC236}">
                <a16:creationId xmlns="" xmlns:a16="http://schemas.microsoft.com/office/drawing/2014/main" id="{B6C38687-9811-41D2-B315-68845653EA32}"/>
              </a:ext>
            </a:extLst>
          </p:cNvPr>
          <p:cNvSpPr/>
          <p:nvPr/>
        </p:nvSpPr>
        <p:spPr>
          <a:xfrm>
            <a:off x="5265779" y="5082013"/>
            <a:ext cx="7739" cy="1021556"/>
          </a:xfrm>
          <a:custGeom>
            <a:avLst/>
            <a:gdLst/>
            <a:ahLst/>
            <a:cxnLst/>
            <a:rect l="0" t="0" r="0" b="0"/>
            <a:pathLst>
              <a:path w="7739" h="1021556">
                <a:moveTo>
                  <a:pt x="0" y="0"/>
                </a:moveTo>
                <a:lnTo>
                  <a:pt x="0" y="1021556"/>
                </a:lnTo>
              </a:path>
            </a:pathLst>
          </a:custGeom>
          <a:noFill/>
          <a:ln w="11608">
            <a:solidFill>
              <a:srgbClr val="484848"/>
            </a:solidFill>
          </a:ln>
        </p:spPr>
        <p:txBody>
          <a:bodyPr rtlCol="0" anchor="ctr"/>
          <a:lstStyle/>
          <a:p>
            <a:pPr algn="ctr"/>
            <a:endParaRPr/>
          </a:p>
        </p:txBody>
      </p:sp>
      <p:sp>
        <p:nvSpPr>
          <p:cNvPr id="14" name="TextBox 13">
            <a:extLst>
              <a:ext uri="{FF2B5EF4-FFF2-40B4-BE49-F238E27FC236}">
                <a16:creationId xmlns="" xmlns:a16="http://schemas.microsoft.com/office/drawing/2014/main" id="{67CBD9CD-A788-46FF-A6AA-9572103EB2E6}"/>
              </a:ext>
            </a:extLst>
          </p:cNvPr>
          <p:cNvSpPr txBox="1"/>
          <p:nvPr/>
        </p:nvSpPr>
        <p:spPr>
          <a:xfrm>
            <a:off x="2943220" y="325095"/>
            <a:ext cx="3430170" cy="538609"/>
          </a:xfrm>
          <a:prstGeom prst="rect">
            <a:avLst/>
          </a:prstGeom>
          <a:noFill/>
          <a:ln>
            <a:noFill/>
          </a:ln>
        </p:spPr>
        <p:txBody>
          <a:bodyPr wrap="none" lIns="0" tIns="0" rIns="0" bIns="0" anchor="t">
            <a:spAutoFit/>
          </a:bodyPr>
          <a:lstStyle/>
          <a:p>
            <a:pPr algn="ctr"/>
            <a:r>
              <a:rPr lang="en-US" sz="2000" b="1" dirty="0" smtClean="0"/>
              <a:t>Role of TPAs In Health </a:t>
            </a:r>
            <a:r>
              <a:rPr lang="en-US" sz="2000" b="1" dirty="0"/>
              <a:t>Insurance</a:t>
            </a:r>
            <a:endParaRPr lang="en-US" sz="2000" b="1" dirty="0">
              <a:solidFill>
                <a:srgbClr val="484848"/>
              </a:solidFill>
            </a:endParaRPr>
          </a:p>
          <a:p>
            <a:pPr algn="ctr"/>
            <a:endParaRPr sz="1500" b="1" dirty="0">
              <a:solidFill>
                <a:srgbClr val="484848"/>
              </a:solidFill>
              <a:latin typeface="Roboto"/>
            </a:endParaRPr>
          </a:p>
        </p:txBody>
      </p:sp>
      <p:sp>
        <p:nvSpPr>
          <p:cNvPr id="15" name="TextBox 14">
            <a:extLst>
              <a:ext uri="{FF2B5EF4-FFF2-40B4-BE49-F238E27FC236}">
                <a16:creationId xmlns="" xmlns:a16="http://schemas.microsoft.com/office/drawing/2014/main" id="{0F57A55F-A4C9-45BE-BE56-9ECFAECEB992}"/>
              </a:ext>
            </a:extLst>
          </p:cNvPr>
          <p:cNvSpPr txBox="1"/>
          <p:nvPr/>
        </p:nvSpPr>
        <p:spPr>
          <a:xfrm>
            <a:off x="5374126" y="1754216"/>
            <a:ext cx="1209955" cy="455056"/>
          </a:xfrm>
          <a:prstGeom prst="rect">
            <a:avLst/>
          </a:prstGeom>
          <a:noFill/>
          <a:ln>
            <a:noFill/>
          </a:ln>
        </p:spPr>
        <p:txBody>
          <a:bodyPr wrap="none" lIns="0" tIns="0" rIns="0" bIns="0" anchor="t">
            <a:spAutoFit/>
          </a:bodyPr>
          <a:lstStyle/>
          <a:p>
            <a:pPr algn="l"/>
            <a:r>
              <a:rPr sz="1200" b="1">
                <a:solidFill>
                  <a:srgbClr val="1EABDA"/>
                </a:solidFill>
                <a:latin typeface="Roboto"/>
              </a:rPr>
              <a:t>Cashless Facility
Approval</a:t>
            </a:r>
          </a:p>
        </p:txBody>
      </p:sp>
      <p:sp>
        <p:nvSpPr>
          <p:cNvPr id="16" name="TextBox 15">
            <a:extLst>
              <a:ext uri="{FF2B5EF4-FFF2-40B4-BE49-F238E27FC236}">
                <a16:creationId xmlns="" xmlns:a16="http://schemas.microsoft.com/office/drawing/2014/main" id="{AA6EDB6B-4CE4-4C3C-92EC-C1C44565B5F4}"/>
              </a:ext>
            </a:extLst>
          </p:cNvPr>
          <p:cNvSpPr txBox="1"/>
          <p:nvPr/>
        </p:nvSpPr>
        <p:spPr>
          <a:xfrm>
            <a:off x="5374126" y="2214690"/>
            <a:ext cx="1439497" cy="615553"/>
          </a:xfrm>
          <a:prstGeom prst="rect">
            <a:avLst/>
          </a:prstGeom>
          <a:noFill/>
          <a:ln>
            <a:noFill/>
          </a:ln>
        </p:spPr>
        <p:txBody>
          <a:bodyPr wrap="none" lIns="0" tIns="0" rIns="0" bIns="0" anchor="t">
            <a:spAutoFit/>
          </a:bodyPr>
          <a:lstStyle/>
          <a:p>
            <a:pPr algn="l"/>
            <a:r>
              <a:rPr sz="1000" b="0" dirty="0">
                <a:solidFill>
                  <a:srgbClr val="484848"/>
                </a:solidFill>
                <a:latin typeface="Roboto"/>
              </a:rPr>
              <a:t>Facilitates cashless
treatment by verifying
coverage and authorizing
hospitals</a:t>
            </a:r>
          </a:p>
        </p:txBody>
      </p:sp>
      <p:sp>
        <p:nvSpPr>
          <p:cNvPr id="17" name="TextBox 16">
            <a:extLst>
              <a:ext uri="{FF2B5EF4-FFF2-40B4-BE49-F238E27FC236}">
                <a16:creationId xmlns="" xmlns:a16="http://schemas.microsoft.com/office/drawing/2014/main" id="{F4CF97D9-AD60-4793-AD46-3DE72974FAD3}"/>
              </a:ext>
            </a:extLst>
          </p:cNvPr>
          <p:cNvSpPr txBox="1"/>
          <p:nvPr/>
        </p:nvSpPr>
        <p:spPr>
          <a:xfrm>
            <a:off x="5374126" y="2961510"/>
            <a:ext cx="1298955" cy="227528"/>
          </a:xfrm>
          <a:prstGeom prst="rect">
            <a:avLst/>
          </a:prstGeom>
          <a:noFill/>
          <a:ln>
            <a:noFill/>
          </a:ln>
        </p:spPr>
        <p:txBody>
          <a:bodyPr wrap="none" lIns="0" tIns="0" rIns="0" bIns="0" anchor="t">
            <a:spAutoFit/>
          </a:bodyPr>
          <a:lstStyle/>
          <a:p>
            <a:pPr algn="l"/>
            <a:r>
              <a:rPr sz="1200" b="1">
                <a:solidFill>
                  <a:srgbClr val="3CC583"/>
                </a:solidFill>
                <a:latin typeface="Roboto"/>
              </a:rPr>
              <a:t>Claims Processing</a:t>
            </a:r>
          </a:p>
        </p:txBody>
      </p:sp>
      <p:sp>
        <p:nvSpPr>
          <p:cNvPr id="18" name="TextBox 17">
            <a:extLst>
              <a:ext uri="{FF2B5EF4-FFF2-40B4-BE49-F238E27FC236}">
                <a16:creationId xmlns="" xmlns:a16="http://schemas.microsoft.com/office/drawing/2014/main" id="{8A8A60F2-E102-4C1F-A4B4-4817298960C8}"/>
              </a:ext>
            </a:extLst>
          </p:cNvPr>
          <p:cNvSpPr txBox="1"/>
          <p:nvPr/>
        </p:nvSpPr>
        <p:spPr>
          <a:xfrm>
            <a:off x="5374126" y="3236246"/>
            <a:ext cx="1526059" cy="615553"/>
          </a:xfrm>
          <a:prstGeom prst="rect">
            <a:avLst/>
          </a:prstGeom>
          <a:noFill/>
          <a:ln>
            <a:noFill/>
          </a:ln>
        </p:spPr>
        <p:txBody>
          <a:bodyPr wrap="none" lIns="0" tIns="0" rIns="0" bIns="0" anchor="t">
            <a:spAutoFit/>
          </a:bodyPr>
          <a:lstStyle/>
          <a:p>
            <a:pPr algn="l"/>
            <a:r>
              <a:rPr sz="1000" b="0" dirty="0">
                <a:solidFill>
                  <a:srgbClr val="484848"/>
                </a:solidFill>
                <a:latin typeface="Roboto"/>
              </a:rPr>
              <a:t>Manages insurance claims
by verifying accuracy and
adjudicating based on
policy terms</a:t>
            </a:r>
          </a:p>
        </p:txBody>
      </p:sp>
      <p:sp>
        <p:nvSpPr>
          <p:cNvPr id="19" name="TextBox 18">
            <a:extLst>
              <a:ext uri="{FF2B5EF4-FFF2-40B4-BE49-F238E27FC236}">
                <a16:creationId xmlns="" xmlns:a16="http://schemas.microsoft.com/office/drawing/2014/main" id="{A74650FB-E499-4045-8DE8-05FC2165971C}"/>
              </a:ext>
            </a:extLst>
          </p:cNvPr>
          <p:cNvSpPr txBox="1"/>
          <p:nvPr/>
        </p:nvSpPr>
        <p:spPr>
          <a:xfrm>
            <a:off x="5374126" y="3983066"/>
            <a:ext cx="1242963" cy="455056"/>
          </a:xfrm>
          <a:prstGeom prst="rect">
            <a:avLst/>
          </a:prstGeom>
          <a:noFill/>
          <a:ln>
            <a:noFill/>
          </a:ln>
        </p:spPr>
        <p:txBody>
          <a:bodyPr wrap="none" lIns="0" tIns="0" rIns="0" bIns="0" anchor="t">
            <a:spAutoFit/>
          </a:bodyPr>
          <a:lstStyle/>
          <a:p>
            <a:pPr algn="l"/>
            <a:r>
              <a:rPr sz="1200" b="1">
                <a:solidFill>
                  <a:srgbClr val="92BD39"/>
                </a:solidFill>
                <a:latin typeface="Roboto"/>
              </a:rPr>
              <a:t>Network Hospital
Management</a:t>
            </a:r>
          </a:p>
        </p:txBody>
      </p:sp>
      <p:sp>
        <p:nvSpPr>
          <p:cNvPr id="20" name="TextBox 19">
            <a:extLst>
              <a:ext uri="{FF2B5EF4-FFF2-40B4-BE49-F238E27FC236}">
                <a16:creationId xmlns="" xmlns:a16="http://schemas.microsoft.com/office/drawing/2014/main" id="{B5FABE53-AB54-4D97-B813-A894A7AC7C57}"/>
              </a:ext>
            </a:extLst>
          </p:cNvPr>
          <p:cNvSpPr txBox="1"/>
          <p:nvPr/>
        </p:nvSpPr>
        <p:spPr>
          <a:xfrm>
            <a:off x="5374126" y="4466757"/>
            <a:ext cx="1594988" cy="461665"/>
          </a:xfrm>
          <a:prstGeom prst="rect">
            <a:avLst/>
          </a:prstGeom>
          <a:noFill/>
          <a:ln>
            <a:noFill/>
          </a:ln>
        </p:spPr>
        <p:txBody>
          <a:bodyPr wrap="none" lIns="0" tIns="0" rIns="0" bIns="0" anchor="t">
            <a:spAutoFit/>
          </a:bodyPr>
          <a:lstStyle/>
          <a:p>
            <a:pPr algn="l"/>
            <a:r>
              <a:rPr sz="1000" b="0" dirty="0">
                <a:solidFill>
                  <a:srgbClr val="484848"/>
                </a:solidFill>
                <a:latin typeface="Roboto"/>
              </a:rPr>
              <a:t>Establishes and maintains a
network of hospitals for
cashless treatment</a:t>
            </a:r>
          </a:p>
        </p:txBody>
      </p:sp>
      <p:sp>
        <p:nvSpPr>
          <p:cNvPr id="21" name="TextBox 20">
            <a:extLst>
              <a:ext uri="{FF2B5EF4-FFF2-40B4-BE49-F238E27FC236}">
                <a16:creationId xmlns="" xmlns:a16="http://schemas.microsoft.com/office/drawing/2014/main" id="{04A66941-BDFB-473C-8A5E-7FF8C0D5E5C0}"/>
              </a:ext>
            </a:extLst>
          </p:cNvPr>
          <p:cNvSpPr txBox="1"/>
          <p:nvPr/>
        </p:nvSpPr>
        <p:spPr>
          <a:xfrm>
            <a:off x="5374126" y="5097491"/>
            <a:ext cx="1080442" cy="455056"/>
          </a:xfrm>
          <a:prstGeom prst="rect">
            <a:avLst/>
          </a:prstGeom>
          <a:noFill/>
          <a:ln>
            <a:noFill/>
          </a:ln>
        </p:spPr>
        <p:txBody>
          <a:bodyPr wrap="none" lIns="0" tIns="0" rIns="0" bIns="0" anchor="t">
            <a:spAutoFit/>
          </a:bodyPr>
          <a:lstStyle/>
          <a:p>
            <a:pPr algn="l"/>
            <a:r>
              <a:rPr sz="1200" b="1">
                <a:solidFill>
                  <a:srgbClr val="E0CB15"/>
                </a:solidFill>
                <a:latin typeface="Roboto"/>
              </a:rPr>
              <a:t>24/7 Customer
Support</a:t>
            </a:r>
          </a:p>
        </p:txBody>
      </p:sp>
      <p:sp>
        <p:nvSpPr>
          <p:cNvPr id="22" name="TextBox 21">
            <a:extLst>
              <a:ext uri="{FF2B5EF4-FFF2-40B4-BE49-F238E27FC236}">
                <a16:creationId xmlns="" xmlns:a16="http://schemas.microsoft.com/office/drawing/2014/main" id="{1AED93FD-596B-4A1B-8277-D717D7077E91}"/>
              </a:ext>
            </a:extLst>
          </p:cNvPr>
          <p:cNvSpPr txBox="1"/>
          <p:nvPr/>
        </p:nvSpPr>
        <p:spPr>
          <a:xfrm>
            <a:off x="5374126" y="5557965"/>
            <a:ext cx="1553310" cy="615553"/>
          </a:xfrm>
          <a:prstGeom prst="rect">
            <a:avLst/>
          </a:prstGeom>
          <a:noFill/>
          <a:ln>
            <a:noFill/>
          </a:ln>
        </p:spPr>
        <p:txBody>
          <a:bodyPr wrap="none" lIns="0" tIns="0" rIns="0" bIns="0" anchor="t">
            <a:spAutoFit/>
          </a:bodyPr>
          <a:lstStyle/>
          <a:p>
            <a:pPr algn="l"/>
            <a:r>
              <a:rPr sz="1000" b="0" dirty="0">
                <a:solidFill>
                  <a:srgbClr val="484848"/>
                </a:solidFill>
                <a:latin typeface="Roboto"/>
              </a:rPr>
              <a:t>Provides round-the-clock
assistance to policyholders
for inquiries and
emergencies</a:t>
            </a:r>
          </a:p>
        </p:txBody>
      </p:sp>
      <p:sp>
        <p:nvSpPr>
          <p:cNvPr id="23" name="Rounded Rectangle 22">
            <a:extLst>
              <a:ext uri="{FF2B5EF4-FFF2-40B4-BE49-F238E27FC236}">
                <a16:creationId xmlns="" xmlns:a16="http://schemas.microsoft.com/office/drawing/2014/main" id="{DF63544A-7B06-450E-AFE1-8E99D0B08632}"/>
              </a:ext>
            </a:extLst>
          </p:cNvPr>
          <p:cNvSpPr/>
          <p:nvPr/>
        </p:nvSpPr>
        <p:spPr>
          <a:xfrm>
            <a:off x="4808865" y="1792694"/>
            <a:ext cx="357806" cy="356430"/>
          </a:xfrm>
          <a:custGeom>
            <a:avLst/>
            <a:gdLst/>
            <a:ahLst/>
            <a:cxnLst/>
            <a:rect l="0" t="0" r="0" b="0"/>
            <a:pathLst>
              <a:path w="357806" h="356430">
                <a:moveTo>
                  <a:pt x="333383" y="263561"/>
                </a:moveTo>
                <a:lnTo>
                  <a:pt x="214650" y="263561"/>
                </a:lnTo>
                <a:cubicBezTo>
                  <a:pt x="207046" y="263583"/>
                  <a:pt x="199935" y="267327"/>
                  <a:pt x="195614" y="273584"/>
                </a:cubicBezTo>
                <a:cubicBezTo>
                  <a:pt x="191293" y="279840"/>
                  <a:pt x="190309" y="287816"/>
                  <a:pt x="192981" y="294935"/>
                </a:cubicBezTo>
                <a:lnTo>
                  <a:pt x="213211" y="348892"/>
                </a:lnTo>
                <a:cubicBezTo>
                  <a:pt x="214904" y="353413"/>
                  <a:pt x="219218" y="356414"/>
                  <a:pt x="224045" y="356430"/>
                </a:cubicBezTo>
                <a:lnTo>
                  <a:pt x="324050" y="356430"/>
                </a:lnTo>
                <a:cubicBezTo>
                  <a:pt x="328877" y="356414"/>
                  <a:pt x="333191" y="353413"/>
                  <a:pt x="334884" y="348892"/>
                </a:cubicBezTo>
                <a:lnTo>
                  <a:pt x="355130" y="294935"/>
                </a:lnTo>
                <a:cubicBezTo>
                  <a:pt x="357806" y="287803"/>
                  <a:pt x="356813" y="279813"/>
                  <a:pt x="352474" y="273552"/>
                </a:cubicBezTo>
                <a:cubicBezTo>
                  <a:pt x="348135" y="267291"/>
                  <a:pt x="341000" y="263558"/>
                  <a:pt x="333383" y="263561"/>
                </a:cubicBezTo>
                <a:close/>
                <a:moveTo>
                  <a:pt x="215981" y="263561"/>
                </a:moveTo>
                <a:lnTo>
                  <a:pt x="239198" y="205518"/>
                </a:lnTo>
                <a:moveTo>
                  <a:pt x="332067" y="263561"/>
                </a:moveTo>
                <a:lnTo>
                  <a:pt x="308850" y="205518"/>
                </a:lnTo>
                <a:moveTo>
                  <a:pt x="250807" y="298387"/>
                </a:moveTo>
                <a:lnTo>
                  <a:pt x="250807" y="321604"/>
                </a:lnTo>
                <a:moveTo>
                  <a:pt x="297241" y="298387"/>
                </a:moveTo>
                <a:lnTo>
                  <a:pt x="297241" y="321604"/>
                </a:lnTo>
                <a:moveTo>
                  <a:pt x="0" y="294084"/>
                </a:moveTo>
                <a:lnTo>
                  <a:pt x="154781" y="294084"/>
                </a:lnTo>
                <a:moveTo>
                  <a:pt x="100607" y="321171"/>
                </a:moveTo>
                <a:cubicBezTo>
                  <a:pt x="99580" y="321166"/>
                  <a:pt x="98593" y="321573"/>
                  <a:pt x="97867" y="322299"/>
                </a:cubicBezTo>
                <a:cubicBezTo>
                  <a:pt x="97140" y="323026"/>
                  <a:pt x="96734" y="324013"/>
                  <a:pt x="96738" y="325040"/>
                </a:cubicBezTo>
                <a:lnTo>
                  <a:pt x="96738" y="325040"/>
                </a:lnTo>
                <a:cubicBezTo>
                  <a:pt x="96734" y="326068"/>
                  <a:pt x="97140" y="327054"/>
                  <a:pt x="97867" y="327781"/>
                </a:cubicBezTo>
                <a:cubicBezTo>
                  <a:pt x="98593" y="328507"/>
                  <a:pt x="99580" y="328914"/>
                  <a:pt x="100607" y="328910"/>
                </a:cubicBezTo>
                <a:lnTo>
                  <a:pt x="100607" y="328910"/>
                </a:lnTo>
                <a:cubicBezTo>
                  <a:pt x="102744" y="328910"/>
                  <a:pt x="104477" y="327177"/>
                  <a:pt x="104477" y="325040"/>
                </a:cubicBezTo>
                <a:lnTo>
                  <a:pt x="104477" y="325040"/>
                </a:lnTo>
                <a:cubicBezTo>
                  <a:pt x="104477" y="322903"/>
                  <a:pt x="102744" y="321171"/>
                  <a:pt x="100607" y="321171"/>
                </a:cubicBezTo>
                <a:moveTo>
                  <a:pt x="100607" y="321171"/>
                </a:moveTo>
                <a:lnTo>
                  <a:pt x="100607" y="321171"/>
                </a:lnTo>
                <a:moveTo>
                  <a:pt x="182332" y="353551"/>
                </a:moveTo>
                <a:cubicBezTo>
                  <a:pt x="178514" y="355172"/>
                  <a:pt x="174407" y="356004"/>
                  <a:pt x="170259" y="355996"/>
                </a:cubicBezTo>
                <a:lnTo>
                  <a:pt x="30956" y="355996"/>
                </a:lnTo>
                <a:cubicBezTo>
                  <a:pt x="13859" y="355996"/>
                  <a:pt x="0" y="342137"/>
                  <a:pt x="0" y="325040"/>
                </a:cubicBezTo>
                <a:lnTo>
                  <a:pt x="0" y="30956"/>
                </a:lnTo>
                <a:cubicBezTo>
                  <a:pt x="0" y="13859"/>
                  <a:pt x="13859" y="0"/>
                  <a:pt x="30956" y="0"/>
                </a:cubicBezTo>
                <a:lnTo>
                  <a:pt x="170259" y="0"/>
                </a:lnTo>
                <a:cubicBezTo>
                  <a:pt x="187356" y="0"/>
                  <a:pt x="201215" y="13859"/>
                  <a:pt x="201215" y="30956"/>
                </a:cubicBezTo>
                <a:lnTo>
                  <a:pt x="201215" y="193476"/>
                </a:lnTo>
                <a:moveTo>
                  <a:pt x="108346" y="77390"/>
                </a:moveTo>
                <a:lnTo>
                  <a:pt x="108346" y="123825"/>
                </a:lnTo>
                <a:lnTo>
                  <a:pt x="154781" y="123825"/>
                </a:lnTo>
                <a:lnTo>
                  <a:pt x="154781" y="77390"/>
                </a:lnTo>
                <a:close/>
                <a:moveTo>
                  <a:pt x="46434" y="170259"/>
                </a:moveTo>
                <a:lnTo>
                  <a:pt x="46434" y="216693"/>
                </a:lnTo>
                <a:lnTo>
                  <a:pt x="92868" y="216693"/>
                </a:lnTo>
                <a:lnTo>
                  <a:pt x="92868" y="170259"/>
                </a:lnTo>
                <a:close/>
                <a:moveTo>
                  <a:pt x="46434" y="100607"/>
                </a:moveTo>
                <a:lnTo>
                  <a:pt x="46434" y="77390"/>
                </a:lnTo>
                <a:lnTo>
                  <a:pt x="69651" y="77390"/>
                </a:lnTo>
                <a:moveTo>
                  <a:pt x="131564" y="216693"/>
                </a:moveTo>
                <a:lnTo>
                  <a:pt x="154781" y="216693"/>
                </a:lnTo>
                <a:lnTo>
                  <a:pt x="154781" y="193476"/>
                </a:lnTo>
                <a:moveTo>
                  <a:pt x="123824" y="154781"/>
                </a:moveTo>
                <a:lnTo>
                  <a:pt x="139303" y="154781"/>
                </a:lnTo>
                <a:moveTo>
                  <a:pt x="54173" y="131564"/>
                </a:moveTo>
                <a:lnTo>
                  <a:pt x="77390" y="131564"/>
                </a:lnTo>
              </a:path>
            </a:pathLst>
          </a:custGeom>
          <a:noFill/>
          <a:ln w="11608">
            <a:solidFill>
              <a:srgbClr val="484848"/>
            </a:solidFill>
          </a:ln>
        </p:spPr>
        <p:txBody>
          <a:bodyPr rtlCol="0" anchor="ctr"/>
          <a:lstStyle/>
          <a:p>
            <a:pPr algn="ctr"/>
            <a:endParaRPr/>
          </a:p>
        </p:txBody>
      </p:sp>
      <p:sp>
        <p:nvSpPr>
          <p:cNvPr id="24" name="Rounded Rectangle 23">
            <a:extLst>
              <a:ext uri="{FF2B5EF4-FFF2-40B4-BE49-F238E27FC236}">
                <a16:creationId xmlns="" xmlns:a16="http://schemas.microsoft.com/office/drawing/2014/main" id="{2274E597-02D9-4B5B-A9F7-EB930783C3AF}"/>
              </a:ext>
            </a:extLst>
          </p:cNvPr>
          <p:cNvSpPr/>
          <p:nvPr/>
        </p:nvSpPr>
        <p:spPr>
          <a:xfrm>
            <a:off x="4832342" y="2999893"/>
            <a:ext cx="309675" cy="357352"/>
          </a:xfrm>
          <a:custGeom>
            <a:avLst/>
            <a:gdLst/>
            <a:ahLst/>
            <a:cxnLst/>
            <a:rect l="0" t="0" r="0" b="0"/>
            <a:pathLst>
              <a:path w="309675" h="357352">
                <a:moveTo>
                  <a:pt x="295759" y="29255"/>
                </a:moveTo>
                <a:cubicBezTo>
                  <a:pt x="251323" y="9860"/>
                  <a:pt x="203314" y="0"/>
                  <a:pt x="154830" y="311"/>
                </a:cubicBezTo>
                <a:cubicBezTo>
                  <a:pt x="106373" y="10"/>
                  <a:pt x="58391" y="9870"/>
                  <a:pt x="13979" y="29255"/>
                </a:cubicBezTo>
                <a:cubicBezTo>
                  <a:pt x="5455" y="33124"/>
                  <a:pt x="0" y="41641"/>
                  <a:pt x="49" y="51002"/>
                </a:cubicBezTo>
                <a:lnTo>
                  <a:pt x="49" y="169209"/>
                </a:lnTo>
                <a:cubicBezTo>
                  <a:pt x="45" y="247908"/>
                  <a:pt x="48515" y="318481"/>
                  <a:pt x="121970" y="346727"/>
                </a:cubicBezTo>
                <a:lnTo>
                  <a:pt x="138594" y="353135"/>
                </a:lnTo>
                <a:cubicBezTo>
                  <a:pt x="149018" y="357352"/>
                  <a:pt x="160674" y="357352"/>
                  <a:pt x="171098" y="353135"/>
                </a:cubicBezTo>
                <a:lnTo>
                  <a:pt x="187721" y="346727"/>
                </a:lnTo>
                <a:cubicBezTo>
                  <a:pt x="261165" y="318471"/>
                  <a:pt x="309621" y="247900"/>
                  <a:pt x="309612" y="169209"/>
                </a:cubicBezTo>
                <a:lnTo>
                  <a:pt x="309612" y="51002"/>
                </a:lnTo>
                <a:cubicBezTo>
                  <a:pt x="309675" y="41659"/>
                  <a:pt x="304253" y="33147"/>
                  <a:pt x="295759" y="29255"/>
                </a:cubicBezTo>
                <a:close/>
                <a:moveTo>
                  <a:pt x="251290" y="218646"/>
                </a:moveTo>
                <a:lnTo>
                  <a:pt x="88182" y="55537"/>
                </a:lnTo>
                <a:moveTo>
                  <a:pt x="216248" y="264879"/>
                </a:moveTo>
                <a:lnTo>
                  <a:pt x="46484" y="95115"/>
                </a:lnTo>
                <a:moveTo>
                  <a:pt x="253534" y="66867"/>
                </a:moveTo>
                <a:cubicBezTo>
                  <a:pt x="259444" y="69572"/>
                  <a:pt x="263218" y="75490"/>
                  <a:pt x="263177" y="81989"/>
                </a:cubicBezTo>
                <a:lnTo>
                  <a:pt x="263177" y="164225"/>
                </a:lnTo>
                <a:cubicBezTo>
                  <a:pt x="262900" y="219088"/>
                  <a:pt x="228943" y="268145"/>
                  <a:pt x="177692" y="287725"/>
                </a:cubicBezTo>
                <a:lnTo>
                  <a:pt x="166129" y="292182"/>
                </a:lnTo>
                <a:cubicBezTo>
                  <a:pt x="158882" y="295114"/>
                  <a:pt x="150779" y="295114"/>
                  <a:pt x="143531" y="292182"/>
                </a:cubicBezTo>
                <a:lnTo>
                  <a:pt x="131969" y="287725"/>
                </a:lnTo>
                <a:cubicBezTo>
                  <a:pt x="80718" y="268145"/>
                  <a:pt x="46761" y="219088"/>
                  <a:pt x="46484" y="164225"/>
                </a:cubicBezTo>
                <a:lnTo>
                  <a:pt x="46484" y="81989"/>
                </a:lnTo>
                <a:cubicBezTo>
                  <a:pt x="46442" y="75490"/>
                  <a:pt x="50217" y="69572"/>
                  <a:pt x="56126" y="66867"/>
                </a:cubicBezTo>
                <a:cubicBezTo>
                  <a:pt x="87279" y="53396"/>
                  <a:pt x="120891" y="46544"/>
                  <a:pt x="154830" y="46746"/>
                </a:cubicBezTo>
                <a:cubicBezTo>
                  <a:pt x="188770" y="46544"/>
                  <a:pt x="222382" y="53396"/>
                  <a:pt x="253534" y="66867"/>
                </a:cubicBezTo>
                <a:close/>
              </a:path>
            </a:pathLst>
          </a:custGeom>
          <a:noFill/>
          <a:ln w="11608">
            <a:solidFill>
              <a:srgbClr val="484848"/>
            </a:solidFill>
          </a:ln>
        </p:spPr>
        <p:txBody>
          <a:bodyPr rtlCol="0" anchor="ctr"/>
          <a:lstStyle/>
          <a:p>
            <a:pPr algn="ctr"/>
            <a:endParaRPr/>
          </a:p>
        </p:txBody>
      </p:sp>
      <p:sp>
        <p:nvSpPr>
          <p:cNvPr id="25" name="Rounded Rectangle 24">
            <a:extLst>
              <a:ext uri="{FF2B5EF4-FFF2-40B4-BE49-F238E27FC236}">
                <a16:creationId xmlns="" xmlns:a16="http://schemas.microsoft.com/office/drawing/2014/main" id="{21696F2A-343B-403C-8BD0-9E4F762CD039}"/>
              </a:ext>
            </a:extLst>
          </p:cNvPr>
          <p:cNvSpPr/>
          <p:nvPr/>
        </p:nvSpPr>
        <p:spPr>
          <a:xfrm>
            <a:off x="4809175" y="4021761"/>
            <a:ext cx="355996" cy="355996"/>
          </a:xfrm>
          <a:custGeom>
            <a:avLst/>
            <a:gdLst/>
            <a:ahLst/>
            <a:cxnLst/>
            <a:rect l="0" t="0" r="0" b="0"/>
            <a:pathLst>
              <a:path w="355996" h="355996">
                <a:moveTo>
                  <a:pt x="30956" y="239910"/>
                </a:moveTo>
                <a:cubicBezTo>
                  <a:pt x="30956" y="261281"/>
                  <a:pt x="48280" y="278606"/>
                  <a:pt x="69651" y="278606"/>
                </a:cubicBezTo>
                <a:cubicBezTo>
                  <a:pt x="91022" y="278606"/>
                  <a:pt x="108346" y="261281"/>
                  <a:pt x="108346" y="239910"/>
                </a:cubicBezTo>
                <a:cubicBezTo>
                  <a:pt x="108346" y="218540"/>
                  <a:pt x="91022" y="201215"/>
                  <a:pt x="69651" y="201215"/>
                </a:cubicBezTo>
                <a:cubicBezTo>
                  <a:pt x="48280" y="201215"/>
                  <a:pt x="30956" y="218540"/>
                  <a:pt x="30956" y="239910"/>
                </a:cubicBezTo>
                <a:close/>
                <a:moveTo>
                  <a:pt x="0" y="201215"/>
                </a:moveTo>
                <a:lnTo>
                  <a:pt x="0" y="355996"/>
                </a:lnTo>
                <a:moveTo>
                  <a:pt x="355996" y="239910"/>
                </a:moveTo>
                <a:lnTo>
                  <a:pt x="355996" y="355996"/>
                </a:lnTo>
                <a:moveTo>
                  <a:pt x="0" y="278606"/>
                </a:moveTo>
                <a:lnTo>
                  <a:pt x="355996" y="278606"/>
                </a:lnTo>
                <a:lnTo>
                  <a:pt x="355996" y="325040"/>
                </a:lnTo>
                <a:lnTo>
                  <a:pt x="0" y="325040"/>
                </a:lnTo>
                <a:close/>
                <a:moveTo>
                  <a:pt x="139303" y="278606"/>
                </a:moveTo>
                <a:lnTo>
                  <a:pt x="325040" y="278606"/>
                </a:lnTo>
                <a:lnTo>
                  <a:pt x="325040" y="232171"/>
                </a:lnTo>
                <a:cubicBezTo>
                  <a:pt x="325040" y="215075"/>
                  <a:pt x="311181" y="201215"/>
                  <a:pt x="294084" y="201215"/>
                </a:cubicBezTo>
                <a:lnTo>
                  <a:pt x="147042" y="201215"/>
                </a:lnTo>
                <a:cubicBezTo>
                  <a:pt x="142768" y="201215"/>
                  <a:pt x="139303" y="204680"/>
                  <a:pt x="139303" y="208954"/>
                </a:cubicBezTo>
                <a:close/>
                <a:moveTo>
                  <a:pt x="170259" y="108346"/>
                </a:moveTo>
                <a:cubicBezTo>
                  <a:pt x="170259" y="116895"/>
                  <a:pt x="177189" y="123825"/>
                  <a:pt x="185737" y="123825"/>
                </a:cubicBezTo>
                <a:lnTo>
                  <a:pt x="340518" y="123825"/>
                </a:lnTo>
                <a:cubicBezTo>
                  <a:pt x="349067" y="123825"/>
                  <a:pt x="355996" y="116895"/>
                  <a:pt x="355996" y="108346"/>
                </a:cubicBezTo>
                <a:lnTo>
                  <a:pt x="355996" y="15478"/>
                </a:lnTo>
                <a:cubicBezTo>
                  <a:pt x="355996" y="6929"/>
                  <a:pt x="349067" y="0"/>
                  <a:pt x="340518" y="0"/>
                </a:cubicBezTo>
                <a:lnTo>
                  <a:pt x="185737" y="0"/>
                </a:lnTo>
                <a:cubicBezTo>
                  <a:pt x="177189" y="0"/>
                  <a:pt x="170259" y="6929"/>
                  <a:pt x="170259" y="15478"/>
                </a:cubicBezTo>
                <a:close/>
                <a:moveTo>
                  <a:pt x="355996" y="61927"/>
                </a:moveTo>
                <a:lnTo>
                  <a:pt x="305027" y="61927"/>
                </a:lnTo>
                <a:cubicBezTo>
                  <a:pt x="302973" y="61924"/>
                  <a:pt x="301002" y="62737"/>
                  <a:pt x="299548" y="64187"/>
                </a:cubicBezTo>
                <a:lnTo>
                  <a:pt x="277739" y="85996"/>
                </a:lnTo>
                <a:cubicBezTo>
                  <a:pt x="276070" y="87666"/>
                  <a:pt x="273731" y="88482"/>
                  <a:pt x="271385" y="88214"/>
                </a:cubicBezTo>
                <a:cubicBezTo>
                  <a:pt x="269040" y="87946"/>
                  <a:pt x="266946" y="86622"/>
                  <a:pt x="265697" y="84618"/>
                </a:cubicBezTo>
                <a:lnTo>
                  <a:pt x="238146" y="40521"/>
                </a:lnTo>
                <a:cubicBezTo>
                  <a:pt x="236793" y="38357"/>
                  <a:pt x="234461" y="36999"/>
                  <a:pt x="231912" y="36891"/>
                </a:cubicBezTo>
                <a:cubicBezTo>
                  <a:pt x="229362" y="36783"/>
                  <a:pt x="226923" y="37938"/>
                  <a:pt x="225392" y="39979"/>
                </a:cubicBezTo>
                <a:lnTo>
                  <a:pt x="211276" y="58816"/>
                </a:lnTo>
                <a:cubicBezTo>
                  <a:pt x="209814" y="60765"/>
                  <a:pt x="207521" y="61912"/>
                  <a:pt x="205085" y="61912"/>
                </a:cubicBezTo>
                <a:lnTo>
                  <a:pt x="170259" y="61912"/>
                </a:lnTo>
              </a:path>
            </a:pathLst>
          </a:custGeom>
          <a:noFill/>
          <a:ln w="11608">
            <a:solidFill>
              <a:srgbClr val="484848"/>
            </a:solidFill>
          </a:ln>
        </p:spPr>
        <p:txBody>
          <a:bodyPr rtlCol="0" anchor="ctr"/>
          <a:lstStyle/>
          <a:p>
            <a:pPr algn="ctr"/>
            <a:endParaRPr/>
          </a:p>
        </p:txBody>
      </p:sp>
      <p:sp>
        <p:nvSpPr>
          <p:cNvPr id="26" name="Rounded Rectangle 25">
            <a:extLst>
              <a:ext uri="{FF2B5EF4-FFF2-40B4-BE49-F238E27FC236}">
                <a16:creationId xmlns="" xmlns:a16="http://schemas.microsoft.com/office/drawing/2014/main" id="{47F4849B-70F9-47F5-8BD4-9569109B351A}"/>
              </a:ext>
            </a:extLst>
          </p:cNvPr>
          <p:cNvSpPr/>
          <p:nvPr/>
        </p:nvSpPr>
        <p:spPr>
          <a:xfrm>
            <a:off x="4804763" y="5134424"/>
            <a:ext cx="360408" cy="362192"/>
          </a:xfrm>
          <a:custGeom>
            <a:avLst/>
            <a:gdLst/>
            <a:ahLst/>
            <a:cxnLst/>
            <a:rect l="0" t="0" r="0" b="0"/>
            <a:pathLst>
              <a:path w="360408" h="362192">
                <a:moveTo>
                  <a:pt x="112649" y="149005"/>
                </a:moveTo>
                <a:cubicBezTo>
                  <a:pt x="124734" y="136917"/>
                  <a:pt x="124734" y="117322"/>
                  <a:pt x="112649" y="105233"/>
                </a:cubicBezTo>
                <a:lnTo>
                  <a:pt x="79805" y="72404"/>
                </a:lnTo>
                <a:cubicBezTo>
                  <a:pt x="67715" y="60309"/>
                  <a:pt x="48107" y="60309"/>
                  <a:pt x="36017" y="72404"/>
                </a:cubicBezTo>
                <a:lnTo>
                  <a:pt x="18001" y="90421"/>
                </a:lnTo>
                <a:cubicBezTo>
                  <a:pt x="2444" y="106028"/>
                  <a:pt x="0" y="130420"/>
                  <a:pt x="12150" y="148804"/>
                </a:cubicBezTo>
                <a:cubicBezTo>
                  <a:pt x="65174" y="228589"/>
                  <a:pt x="133580" y="296996"/>
                  <a:pt x="213366" y="350020"/>
                </a:cubicBezTo>
                <a:cubicBezTo>
                  <a:pt x="231763" y="362192"/>
                  <a:pt x="256185" y="359740"/>
                  <a:pt x="271795" y="344154"/>
                </a:cubicBezTo>
                <a:lnTo>
                  <a:pt x="289812" y="326137"/>
                </a:lnTo>
                <a:cubicBezTo>
                  <a:pt x="301897" y="314049"/>
                  <a:pt x="301897" y="294453"/>
                  <a:pt x="289812" y="282365"/>
                </a:cubicBezTo>
                <a:lnTo>
                  <a:pt x="256983" y="249567"/>
                </a:lnTo>
                <a:cubicBezTo>
                  <a:pt x="244893" y="237472"/>
                  <a:pt x="225285" y="237472"/>
                  <a:pt x="213195" y="249567"/>
                </a:cubicBezTo>
                <a:lnTo>
                  <a:pt x="202252" y="260510"/>
                </a:lnTo>
                <a:cubicBezTo>
                  <a:pt x="165538" y="230310"/>
                  <a:pt x="131844" y="196616"/>
                  <a:pt x="101644" y="159902"/>
                </a:cubicBezTo>
                <a:close/>
                <a:moveTo>
                  <a:pt x="360408" y="125587"/>
                </a:moveTo>
                <a:lnTo>
                  <a:pt x="360408" y="1762"/>
                </a:lnTo>
                <a:cubicBezTo>
                  <a:pt x="317666" y="1762"/>
                  <a:pt x="283017" y="36411"/>
                  <a:pt x="283017" y="79153"/>
                </a:cubicBezTo>
                <a:lnTo>
                  <a:pt x="283017" y="94631"/>
                </a:lnTo>
                <a:lnTo>
                  <a:pt x="360408" y="94631"/>
                </a:lnTo>
                <a:moveTo>
                  <a:pt x="259800" y="125587"/>
                </a:moveTo>
                <a:lnTo>
                  <a:pt x="174670" y="125587"/>
                </a:lnTo>
                <a:lnTo>
                  <a:pt x="228844" y="77775"/>
                </a:lnTo>
                <a:cubicBezTo>
                  <a:pt x="244105" y="64309"/>
                  <a:pt x="255776" y="54883"/>
                  <a:pt x="251271" y="32718"/>
                </a:cubicBezTo>
                <a:cubicBezTo>
                  <a:pt x="247282" y="13273"/>
                  <a:pt x="229226" y="0"/>
                  <a:pt x="209476" y="1995"/>
                </a:cubicBezTo>
                <a:cubicBezTo>
                  <a:pt x="189726" y="3990"/>
                  <a:pt x="174689" y="20607"/>
                  <a:pt x="174670" y="40457"/>
                </a:cubicBezTo>
              </a:path>
            </a:pathLst>
          </a:custGeom>
          <a:noFill/>
          <a:ln w="11608">
            <a:solidFill>
              <a:srgbClr val="484848"/>
            </a:solidFill>
          </a:ln>
        </p:spPr>
        <p:txBody>
          <a:bodyPr rtlCol="0" anchor="ctr"/>
          <a:lstStyle/>
          <a:p>
            <a:pPr algn="ctr"/>
            <a:endParaRPr/>
          </a:p>
        </p:txBody>
      </p:sp>
      <p:sp>
        <p:nvSpPr>
          <p:cNvPr id="28" name="TextBox 27">
            <a:extLst>
              <a:ext uri="{FF2B5EF4-FFF2-40B4-BE49-F238E27FC236}">
                <a16:creationId xmlns="" xmlns:a16="http://schemas.microsoft.com/office/drawing/2014/main" id="{7C370E59-BEBE-41AA-B5E5-B3A1A94EFD51}"/>
              </a:ext>
            </a:extLst>
          </p:cNvPr>
          <p:cNvSpPr txBox="1"/>
          <p:nvPr/>
        </p:nvSpPr>
        <p:spPr>
          <a:xfrm>
            <a:off x="633381" y="725720"/>
            <a:ext cx="8502880" cy="830997"/>
          </a:xfrm>
          <a:prstGeom prst="rect">
            <a:avLst/>
          </a:prstGeom>
          <a:noFill/>
        </p:spPr>
        <p:txBody>
          <a:bodyPr wrap="square">
            <a:spAutoFit/>
          </a:bodyPr>
          <a:lstStyle/>
          <a:p>
            <a:r>
              <a:rPr lang="en-US" sz="1600" b="1" dirty="0"/>
              <a:t>Third-Party Administrator (TPA)</a:t>
            </a:r>
            <a:r>
              <a:rPr lang="en-US" sz="1600" dirty="0"/>
              <a:t> in health insurance is an organization that acts as a middleman between the insurance company, policyholder, and hospital, handling services like claim processing, cashless facility, and customer support.</a:t>
            </a:r>
            <a:endParaRPr lang="en-IN" sz="1600" dirty="0"/>
          </a:p>
        </p:txBody>
      </p:sp>
    </p:spTree>
    <p:extLst>
      <p:ext uri="{BB962C8B-B14F-4D97-AF65-F5344CB8AC3E}">
        <p14:creationId xmlns:p14="http://schemas.microsoft.com/office/powerpoint/2010/main" val="1957756960"/>
      </p:ext>
    </p:extLst>
  </p:cSld>
  <p:clrMapOvr>
    <a:masterClrMapping/>
  </p:clrMapOvr>
  <p:transition spd="slow" advTm="40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7BBCFE-7133-4965-99B2-DEA410B55B46}"/>
              </a:ext>
            </a:extLst>
          </p:cNvPr>
          <p:cNvSpPr>
            <a:spLocks noGrp="1"/>
          </p:cNvSpPr>
          <p:nvPr>
            <p:ph type="title"/>
          </p:nvPr>
        </p:nvSpPr>
        <p:spPr/>
        <p:txBody>
          <a:bodyPr>
            <a:normAutofit/>
          </a:bodyPr>
          <a:lstStyle/>
          <a:p>
            <a:r>
              <a:rPr lang="en-US" sz="2200" b="1" dirty="0">
                <a:latin typeface="+mn-lt"/>
              </a:rPr>
              <a:t>Government Health Insurance Schemes</a:t>
            </a:r>
            <a:r>
              <a:rPr lang="en-US" b="1" dirty="0"/>
              <a:t/>
            </a:r>
            <a:br>
              <a:rPr lang="en-US" b="1" dirty="0"/>
            </a:br>
            <a:endParaRPr lang="en-IN" dirty="0"/>
          </a:p>
        </p:txBody>
      </p:sp>
      <p:sp>
        <p:nvSpPr>
          <p:cNvPr id="5" name="TextBox 4">
            <a:extLst>
              <a:ext uri="{FF2B5EF4-FFF2-40B4-BE49-F238E27FC236}">
                <a16:creationId xmlns="" xmlns:a16="http://schemas.microsoft.com/office/drawing/2014/main" id="{FF113F3F-AADA-4723-8942-39E441134949}"/>
              </a:ext>
            </a:extLst>
          </p:cNvPr>
          <p:cNvSpPr txBox="1"/>
          <p:nvPr/>
        </p:nvSpPr>
        <p:spPr>
          <a:xfrm>
            <a:off x="1082841" y="1071133"/>
            <a:ext cx="6545179" cy="2739211"/>
          </a:xfrm>
          <a:prstGeom prst="rect">
            <a:avLst/>
          </a:prstGeom>
          <a:noFill/>
        </p:spPr>
        <p:txBody>
          <a:bodyPr wrap="square">
            <a:spAutoFit/>
          </a:bodyPr>
          <a:lstStyle/>
          <a:p>
            <a:pPr rtl="0"/>
            <a:r>
              <a:rPr lang="en-US" sz="1600" b="1" dirty="0"/>
              <a:t>1 Ayushman Bharat</a:t>
            </a:r>
          </a:p>
          <a:p>
            <a:pPr rtl="0"/>
            <a:endParaRPr lang="en-US" sz="1400" b="1" dirty="0"/>
          </a:p>
          <a:p>
            <a:pPr rtl="0"/>
            <a:r>
              <a:rPr lang="en-US" sz="1600" dirty="0"/>
              <a:t>Ayushman Bharat is a government-sponsored health insurance scheme that aims to provide affordable healthcare to economically vulnerable sections of the population.</a:t>
            </a:r>
          </a:p>
          <a:p>
            <a:pPr rtl="0"/>
            <a:endParaRPr lang="en-US" sz="1400" b="1" dirty="0"/>
          </a:p>
          <a:p>
            <a:pPr rtl="0"/>
            <a:r>
              <a:rPr lang="en-US" sz="1600" b="1" dirty="0"/>
              <a:t>2 PMJAY (Pradhan Mantri Jan Arogya Yojana)</a:t>
            </a:r>
          </a:p>
          <a:p>
            <a:pPr rtl="0"/>
            <a:endParaRPr lang="en-US" sz="1600" b="1" dirty="0"/>
          </a:p>
          <a:p>
            <a:pPr rtl="0"/>
            <a:r>
              <a:rPr lang="en-US" sz="1600" dirty="0"/>
              <a:t>PMJAY is a component of Ayushman Bharat that provides health insurance coverage of up to ₹5 lakh per family per year for secondary and tertiary care hospitalization.</a:t>
            </a:r>
          </a:p>
        </p:txBody>
      </p:sp>
      <p:sp>
        <p:nvSpPr>
          <p:cNvPr id="6" name="Rounded Rectangle 1">
            <a:extLst>
              <a:ext uri="{FF2B5EF4-FFF2-40B4-BE49-F238E27FC236}">
                <a16:creationId xmlns="" xmlns:a16="http://schemas.microsoft.com/office/drawing/2014/main" id="{42E9972D-F6E4-49AC-87FF-729816CA9BFB}"/>
              </a:ext>
            </a:extLst>
          </p:cNvPr>
          <p:cNvSpPr/>
          <p:nvPr/>
        </p:nvSpPr>
        <p:spPr>
          <a:xfrm>
            <a:off x="2400300" y="3889086"/>
            <a:ext cx="2171700" cy="1485900"/>
          </a:xfrm>
          <a:custGeom>
            <a:avLst/>
            <a:gdLst/>
            <a:ahLst/>
            <a:cxnLst/>
            <a:rect l="0" t="0" r="0" b="0"/>
            <a:pathLst>
              <a:path w="2171700" h="1485900">
                <a:moveTo>
                  <a:pt x="0" y="0"/>
                </a:moveTo>
                <a:lnTo>
                  <a:pt x="2171700" y="0"/>
                </a:lnTo>
                <a:lnTo>
                  <a:pt x="2171700" y="1485900"/>
                </a:lnTo>
                <a:lnTo>
                  <a:pt x="0" y="1485900"/>
                </a:lnTo>
                <a:lnTo>
                  <a:pt x="0" y="0"/>
                </a:lnTo>
              </a:path>
            </a:pathLst>
          </a:custGeom>
          <a:solidFill>
            <a:srgbClr val="4E88E7"/>
          </a:solidFill>
          <a:ln>
            <a:noFill/>
          </a:ln>
        </p:spPr>
        <p:txBody>
          <a:bodyPr rtlCol="0" anchor="ctr"/>
          <a:lstStyle/>
          <a:p>
            <a:pPr algn="ctr"/>
            <a:endParaRPr/>
          </a:p>
        </p:txBody>
      </p:sp>
      <p:sp>
        <p:nvSpPr>
          <p:cNvPr id="7" name="Rounded Rectangle 2">
            <a:extLst>
              <a:ext uri="{FF2B5EF4-FFF2-40B4-BE49-F238E27FC236}">
                <a16:creationId xmlns="" xmlns:a16="http://schemas.microsoft.com/office/drawing/2014/main" id="{6B972024-16BA-4E03-8C7E-FD8CF971C834}"/>
              </a:ext>
            </a:extLst>
          </p:cNvPr>
          <p:cNvSpPr/>
          <p:nvPr/>
        </p:nvSpPr>
        <p:spPr>
          <a:xfrm>
            <a:off x="2400300" y="3889086"/>
            <a:ext cx="2171700" cy="1485900"/>
          </a:xfrm>
          <a:custGeom>
            <a:avLst/>
            <a:gdLst/>
            <a:ahLst/>
            <a:cxnLst/>
            <a:rect l="0" t="0" r="0" b="0"/>
            <a:pathLst>
              <a:path w="2171700" h="1485900">
                <a:moveTo>
                  <a:pt x="2171700" y="1485900"/>
                </a:moveTo>
                <a:lnTo>
                  <a:pt x="2171700" y="0"/>
                </a:lnTo>
                <a:lnTo>
                  <a:pt x="0" y="0"/>
                </a:lnTo>
                <a:lnTo>
                  <a:pt x="0" y="1485900"/>
                </a:lnTo>
                <a:lnTo>
                  <a:pt x="1828800" y="1485900"/>
                </a:lnTo>
              </a:path>
            </a:pathLst>
          </a:custGeom>
          <a:noFill/>
          <a:ln w="14287">
            <a:solidFill>
              <a:srgbClr val="FFFFFF"/>
            </a:solidFill>
          </a:ln>
        </p:spPr>
        <p:txBody>
          <a:bodyPr rtlCol="0" anchor="ctr"/>
          <a:lstStyle/>
          <a:p>
            <a:pPr algn="ctr"/>
            <a:endParaRPr/>
          </a:p>
        </p:txBody>
      </p:sp>
      <p:sp>
        <p:nvSpPr>
          <p:cNvPr id="8" name="Rounded Rectangle 3">
            <a:extLst>
              <a:ext uri="{FF2B5EF4-FFF2-40B4-BE49-F238E27FC236}">
                <a16:creationId xmlns="" xmlns:a16="http://schemas.microsoft.com/office/drawing/2014/main" id="{12E7616B-ADF5-43E6-BD56-BE206ED1D810}"/>
              </a:ext>
            </a:extLst>
          </p:cNvPr>
          <p:cNvSpPr/>
          <p:nvPr/>
        </p:nvSpPr>
        <p:spPr>
          <a:xfrm>
            <a:off x="4229100" y="4689186"/>
            <a:ext cx="342900" cy="1028700"/>
          </a:xfrm>
          <a:custGeom>
            <a:avLst/>
            <a:gdLst/>
            <a:ahLst/>
            <a:cxnLst/>
            <a:rect l="0" t="0" r="0" b="0"/>
            <a:pathLst>
              <a:path w="342900" h="1028700">
                <a:moveTo>
                  <a:pt x="342900" y="0"/>
                </a:moveTo>
                <a:lnTo>
                  <a:pt x="0" y="0"/>
                </a:lnTo>
                <a:lnTo>
                  <a:pt x="0" y="1028700"/>
                </a:lnTo>
                <a:lnTo>
                  <a:pt x="342900" y="1028700"/>
                </a:lnTo>
                <a:lnTo>
                  <a:pt x="342900" y="0"/>
                </a:lnTo>
              </a:path>
            </a:pathLst>
          </a:custGeom>
          <a:solidFill>
            <a:srgbClr val="4E88E7"/>
          </a:solidFill>
          <a:ln>
            <a:noFill/>
          </a:ln>
        </p:spPr>
        <p:txBody>
          <a:bodyPr rtlCol="0" anchor="ctr"/>
          <a:lstStyle/>
          <a:p>
            <a:pPr algn="ctr"/>
            <a:endParaRPr/>
          </a:p>
        </p:txBody>
      </p:sp>
      <p:sp>
        <p:nvSpPr>
          <p:cNvPr id="9" name="Rounded Rectangle 4">
            <a:extLst>
              <a:ext uri="{FF2B5EF4-FFF2-40B4-BE49-F238E27FC236}">
                <a16:creationId xmlns="" xmlns:a16="http://schemas.microsoft.com/office/drawing/2014/main" id="{237BC6F3-B4B1-41EE-87B5-BF10F6451A3F}"/>
              </a:ext>
            </a:extLst>
          </p:cNvPr>
          <p:cNvSpPr/>
          <p:nvPr/>
        </p:nvSpPr>
        <p:spPr>
          <a:xfrm>
            <a:off x="4229100" y="4689186"/>
            <a:ext cx="342864" cy="1028700"/>
          </a:xfrm>
          <a:custGeom>
            <a:avLst/>
            <a:gdLst/>
            <a:ahLst/>
            <a:cxnLst/>
            <a:rect l="0" t="0" r="0" b="0"/>
            <a:pathLst>
              <a:path w="342864" h="1028700">
                <a:moveTo>
                  <a:pt x="342864" y="1028700"/>
                </a:moveTo>
                <a:lnTo>
                  <a:pt x="342864" y="0"/>
                </a:lnTo>
                <a:moveTo>
                  <a:pt x="0" y="1028700"/>
                </a:moveTo>
                <a:lnTo>
                  <a:pt x="0" y="685800"/>
                </a:lnTo>
              </a:path>
            </a:pathLst>
          </a:custGeom>
          <a:noFill/>
          <a:ln w="14287">
            <a:solidFill>
              <a:srgbClr val="FFFFFF"/>
            </a:solidFill>
          </a:ln>
        </p:spPr>
        <p:txBody>
          <a:bodyPr rtlCol="0" anchor="ctr"/>
          <a:lstStyle/>
          <a:p>
            <a:pPr algn="ctr"/>
            <a:endParaRPr/>
          </a:p>
        </p:txBody>
      </p:sp>
      <p:sp>
        <p:nvSpPr>
          <p:cNvPr id="10" name="Rounded Rectangle 5">
            <a:extLst>
              <a:ext uri="{FF2B5EF4-FFF2-40B4-BE49-F238E27FC236}">
                <a16:creationId xmlns="" xmlns:a16="http://schemas.microsoft.com/office/drawing/2014/main" id="{243717DE-1267-4A2E-877A-8AAFA9A4CDE7}"/>
              </a:ext>
            </a:extLst>
          </p:cNvPr>
          <p:cNvSpPr/>
          <p:nvPr/>
        </p:nvSpPr>
        <p:spPr>
          <a:xfrm>
            <a:off x="4572000" y="4117686"/>
            <a:ext cx="2171700" cy="1143000"/>
          </a:xfrm>
          <a:custGeom>
            <a:avLst/>
            <a:gdLst/>
            <a:ahLst/>
            <a:cxnLst/>
            <a:rect l="0" t="0" r="0" b="0"/>
            <a:pathLst>
              <a:path w="2171700" h="1143000">
                <a:moveTo>
                  <a:pt x="0" y="0"/>
                </a:moveTo>
                <a:lnTo>
                  <a:pt x="2171700" y="0"/>
                </a:lnTo>
                <a:lnTo>
                  <a:pt x="2171700" y="1143000"/>
                </a:lnTo>
                <a:lnTo>
                  <a:pt x="0" y="1143000"/>
                </a:lnTo>
                <a:lnTo>
                  <a:pt x="0" y="0"/>
                </a:lnTo>
              </a:path>
            </a:pathLst>
          </a:custGeom>
          <a:solidFill>
            <a:srgbClr val="1EABDA"/>
          </a:solidFill>
          <a:ln>
            <a:noFill/>
          </a:ln>
        </p:spPr>
        <p:txBody>
          <a:bodyPr rtlCol="0" anchor="ctr"/>
          <a:lstStyle/>
          <a:p>
            <a:pPr algn="ctr"/>
            <a:endParaRPr/>
          </a:p>
        </p:txBody>
      </p:sp>
      <p:sp>
        <p:nvSpPr>
          <p:cNvPr id="11" name="Rounded Rectangle 6">
            <a:extLst>
              <a:ext uri="{FF2B5EF4-FFF2-40B4-BE49-F238E27FC236}">
                <a16:creationId xmlns="" xmlns:a16="http://schemas.microsoft.com/office/drawing/2014/main" id="{860C5EF7-6A27-4195-AD53-A19BECB57A4F}"/>
              </a:ext>
            </a:extLst>
          </p:cNvPr>
          <p:cNvSpPr/>
          <p:nvPr/>
        </p:nvSpPr>
        <p:spPr>
          <a:xfrm>
            <a:off x="4572000" y="4117686"/>
            <a:ext cx="2171700" cy="1143000"/>
          </a:xfrm>
          <a:custGeom>
            <a:avLst/>
            <a:gdLst/>
            <a:ahLst/>
            <a:cxnLst/>
            <a:rect l="0" t="0" r="0" b="0"/>
            <a:pathLst>
              <a:path w="2171700" h="1143000">
                <a:moveTo>
                  <a:pt x="0" y="1143000"/>
                </a:moveTo>
                <a:lnTo>
                  <a:pt x="0" y="0"/>
                </a:lnTo>
                <a:lnTo>
                  <a:pt x="2171700" y="0"/>
                </a:lnTo>
                <a:lnTo>
                  <a:pt x="2171700" y="1143000"/>
                </a:lnTo>
                <a:lnTo>
                  <a:pt x="342900" y="1143000"/>
                </a:lnTo>
              </a:path>
            </a:pathLst>
          </a:custGeom>
          <a:noFill/>
          <a:ln w="14287">
            <a:solidFill>
              <a:srgbClr val="FFFFFF"/>
            </a:solidFill>
          </a:ln>
        </p:spPr>
        <p:txBody>
          <a:bodyPr rtlCol="0" anchor="ctr"/>
          <a:lstStyle/>
          <a:p>
            <a:pPr algn="ctr"/>
            <a:endParaRPr/>
          </a:p>
        </p:txBody>
      </p:sp>
      <p:sp>
        <p:nvSpPr>
          <p:cNvPr id="12" name="Rounded Rectangle 7">
            <a:extLst>
              <a:ext uri="{FF2B5EF4-FFF2-40B4-BE49-F238E27FC236}">
                <a16:creationId xmlns="" xmlns:a16="http://schemas.microsoft.com/office/drawing/2014/main" id="{A8A8688E-1B5F-4CFE-9AA5-AB2ECEA1D49A}"/>
              </a:ext>
            </a:extLst>
          </p:cNvPr>
          <p:cNvSpPr/>
          <p:nvPr/>
        </p:nvSpPr>
        <p:spPr>
          <a:xfrm>
            <a:off x="4572000" y="4917786"/>
            <a:ext cx="342900" cy="800100"/>
          </a:xfrm>
          <a:custGeom>
            <a:avLst/>
            <a:gdLst/>
            <a:ahLst/>
            <a:cxnLst/>
            <a:rect l="0" t="0" r="0" b="0"/>
            <a:pathLst>
              <a:path w="342900" h="800100">
                <a:moveTo>
                  <a:pt x="0" y="0"/>
                </a:moveTo>
                <a:lnTo>
                  <a:pt x="342900" y="0"/>
                </a:lnTo>
                <a:lnTo>
                  <a:pt x="342900" y="800100"/>
                </a:lnTo>
                <a:lnTo>
                  <a:pt x="0" y="800100"/>
                </a:lnTo>
                <a:lnTo>
                  <a:pt x="0" y="0"/>
                </a:lnTo>
              </a:path>
            </a:pathLst>
          </a:custGeom>
          <a:solidFill>
            <a:srgbClr val="1EABDA"/>
          </a:solidFill>
          <a:ln>
            <a:noFill/>
          </a:ln>
        </p:spPr>
        <p:txBody>
          <a:bodyPr rtlCol="0" anchor="ctr"/>
          <a:lstStyle/>
          <a:p>
            <a:pPr algn="ctr"/>
            <a:endParaRPr/>
          </a:p>
        </p:txBody>
      </p:sp>
      <p:sp>
        <p:nvSpPr>
          <p:cNvPr id="13" name="Rounded Rectangle 8">
            <a:extLst>
              <a:ext uri="{FF2B5EF4-FFF2-40B4-BE49-F238E27FC236}">
                <a16:creationId xmlns="" xmlns:a16="http://schemas.microsoft.com/office/drawing/2014/main" id="{A97EB317-927F-4E17-A0D7-A2D626EF5D19}"/>
              </a:ext>
            </a:extLst>
          </p:cNvPr>
          <p:cNvSpPr/>
          <p:nvPr/>
        </p:nvSpPr>
        <p:spPr>
          <a:xfrm>
            <a:off x="4572036" y="4917786"/>
            <a:ext cx="342863" cy="800100"/>
          </a:xfrm>
          <a:custGeom>
            <a:avLst/>
            <a:gdLst/>
            <a:ahLst/>
            <a:cxnLst/>
            <a:rect l="0" t="0" r="0" b="0"/>
            <a:pathLst>
              <a:path w="342863" h="800100">
                <a:moveTo>
                  <a:pt x="0" y="800100"/>
                </a:moveTo>
                <a:lnTo>
                  <a:pt x="0" y="0"/>
                </a:lnTo>
                <a:moveTo>
                  <a:pt x="342863" y="800100"/>
                </a:moveTo>
                <a:lnTo>
                  <a:pt x="342863" y="342900"/>
                </a:lnTo>
              </a:path>
            </a:pathLst>
          </a:custGeom>
          <a:noFill/>
          <a:ln w="14287">
            <a:solidFill>
              <a:srgbClr val="FFFFFF"/>
            </a:solidFill>
          </a:ln>
        </p:spPr>
        <p:txBody>
          <a:bodyPr rtlCol="0" anchor="ctr"/>
          <a:lstStyle/>
          <a:p>
            <a:pPr algn="ctr"/>
            <a:endParaRPr/>
          </a:p>
        </p:txBody>
      </p:sp>
      <p:grpSp>
        <p:nvGrpSpPr>
          <p:cNvPr id="14" name="Group 13">
            <a:extLst>
              <a:ext uri="{FF2B5EF4-FFF2-40B4-BE49-F238E27FC236}">
                <a16:creationId xmlns="" xmlns:a16="http://schemas.microsoft.com/office/drawing/2014/main" id="{D6A4D2AF-D03D-4EA7-B75C-219E6B97F267}"/>
              </a:ext>
            </a:extLst>
          </p:cNvPr>
          <p:cNvGrpSpPr/>
          <p:nvPr/>
        </p:nvGrpSpPr>
        <p:grpSpPr>
          <a:xfrm>
            <a:off x="4229100" y="5717886"/>
            <a:ext cx="685800" cy="723900"/>
            <a:chOff x="2514600" y="2971800"/>
            <a:chExt cx="685800" cy="723900"/>
          </a:xfrm>
        </p:grpSpPr>
        <p:sp>
          <p:nvSpPr>
            <p:cNvPr id="15" name="Rounded Rectangle 9">
              <a:extLst>
                <a:ext uri="{FF2B5EF4-FFF2-40B4-BE49-F238E27FC236}">
                  <a16:creationId xmlns="" xmlns:a16="http://schemas.microsoft.com/office/drawing/2014/main" id="{1F1FB40F-D451-4FA4-A52C-4593673AA41C}"/>
                </a:ext>
              </a:extLst>
            </p:cNvPr>
            <p:cNvSpPr/>
            <p:nvPr/>
          </p:nvSpPr>
          <p:spPr>
            <a:xfrm>
              <a:off x="2743200" y="3457575"/>
              <a:ext cx="228600" cy="238125"/>
            </a:xfrm>
            <a:custGeom>
              <a:avLst/>
              <a:gdLst/>
              <a:ahLst/>
              <a:cxnLst/>
              <a:rect l="0" t="0" r="0" b="0"/>
              <a:pathLst>
                <a:path w="228600" h="238125">
                  <a:moveTo>
                    <a:pt x="0" y="0"/>
                  </a:moveTo>
                  <a:lnTo>
                    <a:pt x="114385" y="238125"/>
                  </a:lnTo>
                  <a:lnTo>
                    <a:pt x="228600" y="0"/>
                  </a:lnTo>
                  <a:lnTo>
                    <a:pt x="0" y="0"/>
                  </a:lnTo>
                </a:path>
              </a:pathLst>
            </a:custGeom>
            <a:solidFill>
              <a:srgbClr val="666666"/>
            </a:solidFill>
            <a:ln>
              <a:noFill/>
            </a:ln>
          </p:spPr>
          <p:txBody>
            <a:bodyPr rtlCol="0" anchor="ctr"/>
            <a:lstStyle/>
            <a:p>
              <a:pPr algn="ctr"/>
              <a:endParaRPr/>
            </a:p>
          </p:txBody>
        </p:sp>
        <p:sp>
          <p:nvSpPr>
            <p:cNvPr id="16" name="Rounded Rectangle 10">
              <a:extLst>
                <a:ext uri="{FF2B5EF4-FFF2-40B4-BE49-F238E27FC236}">
                  <a16:creationId xmlns="" xmlns:a16="http://schemas.microsoft.com/office/drawing/2014/main" id="{D620ABCC-3BEE-4F5B-83C9-35E1883B0423}"/>
                </a:ext>
              </a:extLst>
            </p:cNvPr>
            <p:cNvSpPr/>
            <p:nvPr/>
          </p:nvSpPr>
          <p:spPr>
            <a:xfrm>
              <a:off x="2514600" y="2971800"/>
              <a:ext cx="685800" cy="485775"/>
            </a:xfrm>
            <a:custGeom>
              <a:avLst/>
              <a:gdLst/>
              <a:ahLst/>
              <a:cxnLst/>
              <a:rect l="0" t="0" r="0" b="0"/>
              <a:pathLst>
                <a:path w="685800" h="485775">
                  <a:moveTo>
                    <a:pt x="685800" y="0"/>
                  </a:moveTo>
                  <a:lnTo>
                    <a:pt x="0" y="0"/>
                  </a:lnTo>
                  <a:lnTo>
                    <a:pt x="228600" y="485775"/>
                  </a:lnTo>
                  <a:lnTo>
                    <a:pt x="457209" y="485775"/>
                  </a:lnTo>
                  <a:lnTo>
                    <a:pt x="685800" y="0"/>
                  </a:lnTo>
                </a:path>
              </a:pathLst>
            </a:custGeom>
            <a:solidFill>
              <a:srgbClr val="666666"/>
            </a:solidFill>
            <a:ln>
              <a:noFill/>
            </a:ln>
          </p:spPr>
          <p:txBody>
            <a:bodyPr rtlCol="0" anchor="ctr"/>
            <a:lstStyle/>
            <a:p>
              <a:pPr algn="ctr"/>
              <a:endParaRPr/>
            </a:p>
          </p:txBody>
        </p:sp>
      </p:grpSp>
      <p:grpSp>
        <p:nvGrpSpPr>
          <p:cNvPr id="17" name="Group 16">
            <a:extLst>
              <a:ext uri="{FF2B5EF4-FFF2-40B4-BE49-F238E27FC236}">
                <a16:creationId xmlns="" xmlns:a16="http://schemas.microsoft.com/office/drawing/2014/main" id="{CC034BDC-0129-4D7D-8156-17F6A82A2BD9}"/>
              </a:ext>
            </a:extLst>
          </p:cNvPr>
          <p:cNvGrpSpPr/>
          <p:nvPr/>
        </p:nvGrpSpPr>
        <p:grpSpPr>
          <a:xfrm>
            <a:off x="4229100" y="5717886"/>
            <a:ext cx="685800" cy="723900"/>
            <a:chOff x="2514600" y="2971800"/>
            <a:chExt cx="685800" cy="723900"/>
          </a:xfrm>
        </p:grpSpPr>
        <p:sp>
          <p:nvSpPr>
            <p:cNvPr id="18" name="Rounded Rectangle 12">
              <a:extLst>
                <a:ext uri="{FF2B5EF4-FFF2-40B4-BE49-F238E27FC236}">
                  <a16:creationId xmlns="" xmlns:a16="http://schemas.microsoft.com/office/drawing/2014/main" id="{749F8A52-B821-4DEB-B99C-390F48AA47DC}"/>
                </a:ext>
              </a:extLst>
            </p:cNvPr>
            <p:cNvSpPr/>
            <p:nvPr/>
          </p:nvSpPr>
          <p:spPr>
            <a:xfrm>
              <a:off x="2743200" y="3457575"/>
              <a:ext cx="228600" cy="238125"/>
            </a:xfrm>
            <a:custGeom>
              <a:avLst/>
              <a:gdLst/>
              <a:ahLst/>
              <a:cxnLst/>
              <a:rect l="0" t="0" r="0" b="0"/>
              <a:pathLst>
                <a:path w="228600" h="238125">
                  <a:moveTo>
                    <a:pt x="0" y="0"/>
                  </a:moveTo>
                  <a:lnTo>
                    <a:pt x="114384" y="238125"/>
                  </a:lnTo>
                  <a:lnTo>
                    <a:pt x="228600" y="0"/>
                  </a:lnTo>
                  <a:lnTo>
                    <a:pt x="0" y="0"/>
                  </a:lnTo>
                  <a:close/>
                </a:path>
              </a:pathLst>
            </a:custGeom>
            <a:noFill/>
            <a:ln w="14287">
              <a:solidFill>
                <a:srgbClr val="FFFFFF"/>
              </a:solidFill>
            </a:ln>
          </p:spPr>
          <p:txBody>
            <a:bodyPr rtlCol="0" anchor="ctr"/>
            <a:lstStyle/>
            <a:p>
              <a:pPr algn="ctr"/>
              <a:endParaRPr/>
            </a:p>
          </p:txBody>
        </p:sp>
        <p:sp>
          <p:nvSpPr>
            <p:cNvPr id="19" name="Rounded Rectangle 13">
              <a:extLst>
                <a:ext uri="{FF2B5EF4-FFF2-40B4-BE49-F238E27FC236}">
                  <a16:creationId xmlns="" xmlns:a16="http://schemas.microsoft.com/office/drawing/2014/main" id="{388D8355-CFD1-4312-B3F3-98A918255C75}"/>
                </a:ext>
              </a:extLst>
            </p:cNvPr>
            <p:cNvSpPr/>
            <p:nvPr/>
          </p:nvSpPr>
          <p:spPr>
            <a:xfrm>
              <a:off x="2514600" y="2971800"/>
              <a:ext cx="685800" cy="485775"/>
            </a:xfrm>
            <a:custGeom>
              <a:avLst/>
              <a:gdLst/>
              <a:ahLst/>
              <a:cxnLst/>
              <a:rect l="0" t="0" r="0" b="0"/>
              <a:pathLst>
                <a:path w="685800" h="485775">
                  <a:moveTo>
                    <a:pt x="685800" y="0"/>
                  </a:moveTo>
                  <a:lnTo>
                    <a:pt x="0" y="0"/>
                  </a:lnTo>
                  <a:lnTo>
                    <a:pt x="228597" y="485775"/>
                  </a:lnTo>
                  <a:lnTo>
                    <a:pt x="457208" y="485775"/>
                  </a:lnTo>
                  <a:lnTo>
                    <a:pt x="685800" y="0"/>
                  </a:lnTo>
                  <a:close/>
                </a:path>
              </a:pathLst>
            </a:custGeom>
            <a:noFill/>
            <a:ln w="14287">
              <a:solidFill>
                <a:srgbClr val="FFFFFF"/>
              </a:solidFill>
            </a:ln>
          </p:spPr>
          <p:txBody>
            <a:bodyPr rtlCol="0" anchor="ctr"/>
            <a:lstStyle/>
            <a:p>
              <a:pPr algn="ctr"/>
              <a:endParaRPr/>
            </a:p>
          </p:txBody>
        </p:sp>
      </p:grpSp>
      <p:sp>
        <p:nvSpPr>
          <p:cNvPr id="20" name="TextBox 19">
            <a:extLst>
              <a:ext uri="{FF2B5EF4-FFF2-40B4-BE49-F238E27FC236}">
                <a16:creationId xmlns="" xmlns:a16="http://schemas.microsoft.com/office/drawing/2014/main" id="{2109DA40-1539-43AD-91AE-357983947DFA}"/>
              </a:ext>
            </a:extLst>
          </p:cNvPr>
          <p:cNvSpPr txBox="1"/>
          <p:nvPr/>
        </p:nvSpPr>
        <p:spPr>
          <a:xfrm>
            <a:off x="3077146" y="4022436"/>
            <a:ext cx="904284" cy="560070"/>
          </a:xfrm>
          <a:prstGeom prst="rect">
            <a:avLst/>
          </a:prstGeom>
          <a:noFill/>
          <a:ln>
            <a:noFill/>
          </a:ln>
        </p:spPr>
        <p:txBody>
          <a:bodyPr wrap="none" lIns="0" tIns="0" rIns="0" bIns="0" anchor="t">
            <a:spAutoFit/>
          </a:bodyPr>
          <a:lstStyle/>
          <a:p>
            <a:pPr algn="r"/>
            <a:r>
              <a:rPr sz="1500" b="1">
                <a:solidFill>
                  <a:srgbClr val="FFFFFF"/>
                </a:solidFill>
                <a:latin typeface="Roboto"/>
              </a:rPr>
              <a:t>Ayushman
Bharat</a:t>
            </a:r>
          </a:p>
        </p:txBody>
      </p:sp>
      <p:sp>
        <p:nvSpPr>
          <p:cNvPr id="21" name="TextBox 20">
            <a:extLst>
              <a:ext uri="{FF2B5EF4-FFF2-40B4-BE49-F238E27FC236}">
                <a16:creationId xmlns="" xmlns:a16="http://schemas.microsoft.com/office/drawing/2014/main" id="{6C8A98CB-A8E1-472C-9A4D-A0FEF998611B}"/>
              </a:ext>
            </a:extLst>
          </p:cNvPr>
          <p:cNvSpPr txBox="1"/>
          <p:nvPr/>
        </p:nvSpPr>
        <p:spPr>
          <a:xfrm>
            <a:off x="5162550" y="4251036"/>
            <a:ext cx="627611" cy="280035"/>
          </a:xfrm>
          <a:prstGeom prst="rect">
            <a:avLst/>
          </a:prstGeom>
          <a:noFill/>
          <a:ln>
            <a:noFill/>
          </a:ln>
        </p:spPr>
        <p:txBody>
          <a:bodyPr wrap="none" lIns="0" tIns="0" rIns="0" bIns="0" anchor="t">
            <a:spAutoFit/>
          </a:bodyPr>
          <a:lstStyle/>
          <a:p>
            <a:pPr algn="l"/>
            <a:r>
              <a:rPr sz="1500" b="1">
                <a:solidFill>
                  <a:srgbClr val="FFFFFF"/>
                </a:solidFill>
                <a:latin typeface="Roboto"/>
              </a:rPr>
              <a:t>PMJAY</a:t>
            </a:r>
          </a:p>
        </p:txBody>
      </p:sp>
      <p:sp>
        <p:nvSpPr>
          <p:cNvPr id="22" name="TextBox 21">
            <a:extLst>
              <a:ext uri="{FF2B5EF4-FFF2-40B4-BE49-F238E27FC236}">
                <a16:creationId xmlns="" xmlns:a16="http://schemas.microsoft.com/office/drawing/2014/main" id="{D0632538-9C7A-4016-9734-AE536CE5715C}"/>
              </a:ext>
            </a:extLst>
          </p:cNvPr>
          <p:cNvSpPr txBox="1"/>
          <p:nvPr/>
        </p:nvSpPr>
        <p:spPr>
          <a:xfrm>
            <a:off x="2666142" y="4589173"/>
            <a:ext cx="1315345" cy="800100"/>
          </a:xfrm>
          <a:prstGeom prst="rect">
            <a:avLst/>
          </a:prstGeom>
          <a:noFill/>
          <a:ln>
            <a:noFill/>
          </a:ln>
        </p:spPr>
        <p:txBody>
          <a:bodyPr wrap="none" lIns="0" tIns="0" rIns="0" bIns="0" anchor="t">
            <a:spAutoFit/>
          </a:bodyPr>
          <a:lstStyle/>
          <a:p>
            <a:pPr algn="r"/>
            <a:r>
              <a:rPr sz="1100" b="0">
                <a:solidFill>
                  <a:srgbClr val="FFFFFF"/>
                </a:solidFill>
                <a:latin typeface="Roboto"/>
              </a:rPr>
              <a:t>Government scheme
providing affordable
healthcare to
vulnerable sections.</a:t>
            </a:r>
          </a:p>
        </p:txBody>
      </p:sp>
      <p:sp>
        <p:nvSpPr>
          <p:cNvPr id="23" name="TextBox 22">
            <a:extLst>
              <a:ext uri="{FF2B5EF4-FFF2-40B4-BE49-F238E27FC236}">
                <a16:creationId xmlns="" xmlns:a16="http://schemas.microsoft.com/office/drawing/2014/main" id="{BF593630-6958-4443-BC64-003BE21ECA8E}"/>
              </a:ext>
            </a:extLst>
          </p:cNvPr>
          <p:cNvSpPr txBox="1"/>
          <p:nvPr/>
        </p:nvSpPr>
        <p:spPr>
          <a:xfrm>
            <a:off x="5162550" y="4617748"/>
            <a:ext cx="1465211" cy="600075"/>
          </a:xfrm>
          <a:prstGeom prst="rect">
            <a:avLst/>
          </a:prstGeom>
          <a:noFill/>
          <a:ln>
            <a:noFill/>
          </a:ln>
        </p:spPr>
        <p:txBody>
          <a:bodyPr wrap="none" lIns="0" tIns="0" rIns="0" bIns="0" anchor="t">
            <a:spAutoFit/>
          </a:bodyPr>
          <a:lstStyle/>
          <a:p>
            <a:pPr algn="l"/>
            <a:r>
              <a:rPr sz="1100" b="0" dirty="0">
                <a:solidFill>
                  <a:srgbClr val="FFFFFF"/>
                </a:solidFill>
                <a:latin typeface="Roboto"/>
              </a:rPr>
              <a:t>Health insurance
coverage up to ₹5 lakh
per family annually.</a:t>
            </a:r>
          </a:p>
        </p:txBody>
      </p:sp>
      <p:sp>
        <p:nvSpPr>
          <p:cNvPr id="24" name="Rounded Rectangle 20">
            <a:extLst>
              <a:ext uri="{FF2B5EF4-FFF2-40B4-BE49-F238E27FC236}">
                <a16:creationId xmlns="" xmlns:a16="http://schemas.microsoft.com/office/drawing/2014/main" id="{0DAEAF5F-A568-41E8-BE2C-C5A71A3DBCE0}"/>
              </a:ext>
            </a:extLst>
          </p:cNvPr>
          <p:cNvSpPr/>
          <p:nvPr/>
        </p:nvSpPr>
        <p:spPr>
          <a:xfrm>
            <a:off x="4121943" y="4010529"/>
            <a:ext cx="328612" cy="328612"/>
          </a:xfrm>
          <a:custGeom>
            <a:avLst/>
            <a:gdLst/>
            <a:ahLst/>
            <a:cxnLst/>
            <a:rect l="0" t="0" r="0" b="0"/>
            <a:pathLst>
              <a:path w="328612" h="328612">
                <a:moveTo>
                  <a:pt x="157162" y="257175"/>
                </a:moveTo>
                <a:lnTo>
                  <a:pt x="200025" y="257175"/>
                </a:lnTo>
                <a:cubicBezTo>
                  <a:pt x="231588" y="257175"/>
                  <a:pt x="257175" y="282761"/>
                  <a:pt x="257175" y="314325"/>
                </a:cubicBezTo>
                <a:lnTo>
                  <a:pt x="0" y="314325"/>
                </a:lnTo>
                <a:moveTo>
                  <a:pt x="0" y="200025"/>
                </a:moveTo>
                <a:lnTo>
                  <a:pt x="100012" y="200025"/>
                </a:lnTo>
                <a:cubicBezTo>
                  <a:pt x="131575" y="200025"/>
                  <a:pt x="157162" y="225611"/>
                  <a:pt x="157162" y="257175"/>
                </a:cubicBezTo>
                <a:lnTo>
                  <a:pt x="92868" y="257175"/>
                </a:lnTo>
                <a:moveTo>
                  <a:pt x="0" y="185737"/>
                </a:moveTo>
                <a:lnTo>
                  <a:pt x="0" y="328612"/>
                </a:lnTo>
                <a:moveTo>
                  <a:pt x="328612" y="64293"/>
                </a:moveTo>
                <a:cubicBezTo>
                  <a:pt x="328612" y="60348"/>
                  <a:pt x="325414" y="57150"/>
                  <a:pt x="321468" y="57150"/>
                </a:cubicBezTo>
                <a:lnTo>
                  <a:pt x="271462" y="57150"/>
                </a:lnTo>
                <a:lnTo>
                  <a:pt x="271462" y="7143"/>
                </a:lnTo>
                <a:cubicBezTo>
                  <a:pt x="271462" y="3198"/>
                  <a:pt x="268264" y="0"/>
                  <a:pt x="264318" y="0"/>
                </a:cubicBezTo>
                <a:lnTo>
                  <a:pt x="221456" y="0"/>
                </a:lnTo>
                <a:cubicBezTo>
                  <a:pt x="217510" y="0"/>
                  <a:pt x="214312" y="3198"/>
                  <a:pt x="214312" y="7143"/>
                </a:cubicBezTo>
                <a:lnTo>
                  <a:pt x="214312" y="57150"/>
                </a:lnTo>
                <a:lnTo>
                  <a:pt x="164306" y="57150"/>
                </a:lnTo>
                <a:cubicBezTo>
                  <a:pt x="160360" y="57150"/>
                  <a:pt x="157162" y="60348"/>
                  <a:pt x="157162" y="64293"/>
                </a:cubicBezTo>
                <a:lnTo>
                  <a:pt x="157162" y="107156"/>
                </a:lnTo>
                <a:cubicBezTo>
                  <a:pt x="157162" y="111101"/>
                  <a:pt x="160360" y="114300"/>
                  <a:pt x="164306" y="114300"/>
                </a:cubicBezTo>
                <a:lnTo>
                  <a:pt x="214312" y="114300"/>
                </a:lnTo>
                <a:lnTo>
                  <a:pt x="214312" y="164306"/>
                </a:lnTo>
                <a:cubicBezTo>
                  <a:pt x="214312" y="168251"/>
                  <a:pt x="217510" y="171450"/>
                  <a:pt x="221456" y="171450"/>
                </a:cubicBezTo>
                <a:lnTo>
                  <a:pt x="264318" y="171450"/>
                </a:lnTo>
                <a:cubicBezTo>
                  <a:pt x="268264" y="171450"/>
                  <a:pt x="271462" y="168251"/>
                  <a:pt x="271462" y="164306"/>
                </a:cubicBezTo>
                <a:lnTo>
                  <a:pt x="271462" y="114300"/>
                </a:lnTo>
                <a:lnTo>
                  <a:pt x="321468" y="114300"/>
                </a:lnTo>
                <a:cubicBezTo>
                  <a:pt x="325414" y="114300"/>
                  <a:pt x="328612" y="111101"/>
                  <a:pt x="328612" y="107156"/>
                </a:cubicBezTo>
                <a:close/>
              </a:path>
            </a:pathLst>
          </a:custGeom>
          <a:noFill/>
          <a:ln w="14287">
            <a:solidFill>
              <a:srgbClr val="FFFFFF"/>
            </a:solidFill>
          </a:ln>
        </p:spPr>
        <p:txBody>
          <a:bodyPr rtlCol="0" anchor="ctr"/>
          <a:lstStyle/>
          <a:p>
            <a:pPr algn="ctr"/>
            <a:endParaRPr/>
          </a:p>
        </p:txBody>
      </p:sp>
      <p:sp>
        <p:nvSpPr>
          <p:cNvPr id="25" name="Rounded Rectangle 21">
            <a:extLst>
              <a:ext uri="{FF2B5EF4-FFF2-40B4-BE49-F238E27FC236}">
                <a16:creationId xmlns="" xmlns:a16="http://schemas.microsoft.com/office/drawing/2014/main" id="{3F614487-785E-4BA3-B4F0-C8CD4E57726A}"/>
              </a:ext>
            </a:extLst>
          </p:cNvPr>
          <p:cNvSpPr/>
          <p:nvPr/>
        </p:nvSpPr>
        <p:spPr>
          <a:xfrm>
            <a:off x="4693443" y="4239129"/>
            <a:ext cx="328612" cy="328612"/>
          </a:xfrm>
          <a:custGeom>
            <a:avLst/>
            <a:gdLst/>
            <a:ahLst/>
            <a:cxnLst/>
            <a:rect l="0" t="0" r="0" b="0"/>
            <a:pathLst>
              <a:path w="328612" h="328612">
                <a:moveTo>
                  <a:pt x="71437" y="92868"/>
                </a:moveTo>
                <a:cubicBezTo>
                  <a:pt x="71437" y="144158"/>
                  <a:pt x="113016" y="185737"/>
                  <a:pt x="164306" y="185737"/>
                </a:cubicBezTo>
                <a:cubicBezTo>
                  <a:pt x="215596" y="185737"/>
                  <a:pt x="257175" y="144158"/>
                  <a:pt x="257175" y="92868"/>
                </a:cubicBezTo>
                <a:cubicBezTo>
                  <a:pt x="257175" y="41578"/>
                  <a:pt x="215596" y="0"/>
                  <a:pt x="164306" y="0"/>
                </a:cubicBezTo>
                <a:cubicBezTo>
                  <a:pt x="113016" y="0"/>
                  <a:pt x="71437" y="41578"/>
                  <a:pt x="71437" y="92868"/>
                </a:cubicBezTo>
                <a:close/>
                <a:moveTo>
                  <a:pt x="214312" y="42905"/>
                </a:moveTo>
                <a:lnTo>
                  <a:pt x="214312" y="42905"/>
                </a:lnTo>
                <a:cubicBezTo>
                  <a:pt x="205166" y="52053"/>
                  <a:pt x="200027" y="64459"/>
                  <a:pt x="200025" y="77395"/>
                </a:cubicBezTo>
                <a:lnTo>
                  <a:pt x="200025" y="83110"/>
                </a:lnTo>
                <a:cubicBezTo>
                  <a:pt x="200025" y="96390"/>
                  <a:pt x="189259" y="107156"/>
                  <a:pt x="175979" y="107156"/>
                </a:cubicBezTo>
                <a:lnTo>
                  <a:pt x="152633" y="107156"/>
                </a:lnTo>
                <a:cubicBezTo>
                  <a:pt x="146248" y="107156"/>
                  <a:pt x="140125" y="104616"/>
                  <a:pt x="135615" y="100098"/>
                </a:cubicBezTo>
                <a:cubicBezTo>
                  <a:pt x="131104" y="95579"/>
                  <a:pt x="128576" y="89452"/>
                  <a:pt x="128587" y="83067"/>
                </a:cubicBezTo>
                <a:lnTo>
                  <a:pt x="128587" y="77352"/>
                </a:lnTo>
                <a:cubicBezTo>
                  <a:pt x="128585" y="64416"/>
                  <a:pt x="123446" y="52010"/>
                  <a:pt x="114300" y="42862"/>
                </a:cubicBezTo>
                <a:lnTo>
                  <a:pt x="114300" y="42862"/>
                </a:lnTo>
                <a:moveTo>
                  <a:pt x="164306" y="150018"/>
                </a:moveTo>
                <a:lnTo>
                  <a:pt x="164306" y="42862"/>
                </a:lnTo>
                <a:moveTo>
                  <a:pt x="185737" y="150018"/>
                </a:moveTo>
                <a:lnTo>
                  <a:pt x="142875" y="150018"/>
                </a:lnTo>
                <a:moveTo>
                  <a:pt x="178593" y="42862"/>
                </a:moveTo>
                <a:lnTo>
                  <a:pt x="150018" y="42862"/>
                </a:lnTo>
                <a:moveTo>
                  <a:pt x="0" y="328612"/>
                </a:moveTo>
                <a:lnTo>
                  <a:pt x="71437" y="328612"/>
                </a:lnTo>
                <a:cubicBezTo>
                  <a:pt x="87219" y="328612"/>
                  <a:pt x="100012" y="315819"/>
                  <a:pt x="100012" y="300037"/>
                </a:cubicBezTo>
                <a:lnTo>
                  <a:pt x="100012" y="271462"/>
                </a:lnTo>
                <a:cubicBezTo>
                  <a:pt x="100012" y="255680"/>
                  <a:pt x="87219" y="242887"/>
                  <a:pt x="71437" y="242887"/>
                </a:cubicBezTo>
                <a:lnTo>
                  <a:pt x="0" y="242887"/>
                </a:lnTo>
                <a:moveTo>
                  <a:pt x="71437" y="328612"/>
                </a:moveTo>
                <a:lnTo>
                  <a:pt x="307181" y="328612"/>
                </a:lnTo>
                <a:cubicBezTo>
                  <a:pt x="322897" y="328612"/>
                  <a:pt x="328612" y="315825"/>
                  <a:pt x="328612" y="300037"/>
                </a:cubicBezTo>
                <a:lnTo>
                  <a:pt x="328612" y="271462"/>
                </a:lnTo>
                <a:cubicBezTo>
                  <a:pt x="328612" y="255746"/>
                  <a:pt x="322897" y="242887"/>
                  <a:pt x="307181" y="242887"/>
                </a:cubicBezTo>
                <a:lnTo>
                  <a:pt x="71437" y="242887"/>
                </a:lnTo>
                <a:moveTo>
                  <a:pt x="271462" y="328612"/>
                </a:moveTo>
                <a:lnTo>
                  <a:pt x="271462" y="242887"/>
                </a:lnTo>
                <a:moveTo>
                  <a:pt x="242887" y="328612"/>
                </a:moveTo>
                <a:lnTo>
                  <a:pt x="242887" y="242887"/>
                </a:lnTo>
                <a:moveTo>
                  <a:pt x="185737" y="328612"/>
                </a:moveTo>
                <a:lnTo>
                  <a:pt x="185737" y="242887"/>
                </a:lnTo>
                <a:moveTo>
                  <a:pt x="157162" y="328612"/>
                </a:moveTo>
                <a:lnTo>
                  <a:pt x="157162" y="242887"/>
                </a:lnTo>
                <a:moveTo>
                  <a:pt x="71437" y="300037"/>
                </a:moveTo>
                <a:lnTo>
                  <a:pt x="14287" y="300037"/>
                </a:lnTo>
                <a:moveTo>
                  <a:pt x="71437" y="271462"/>
                </a:moveTo>
                <a:lnTo>
                  <a:pt x="14287" y="271462"/>
                </a:lnTo>
              </a:path>
            </a:pathLst>
          </a:custGeom>
          <a:noFill/>
          <a:ln w="14287">
            <a:solidFill>
              <a:srgbClr val="FFFFFF"/>
            </a:solidFill>
          </a:ln>
        </p:spPr>
        <p:txBody>
          <a:bodyPr rtlCol="0" anchor="ctr"/>
          <a:lstStyle/>
          <a:p>
            <a:pPr algn="ctr"/>
            <a:endParaRPr/>
          </a:p>
        </p:txBody>
      </p:sp>
    </p:spTree>
    <p:extLst>
      <p:ext uri="{BB962C8B-B14F-4D97-AF65-F5344CB8AC3E}">
        <p14:creationId xmlns:p14="http://schemas.microsoft.com/office/powerpoint/2010/main" val="1957891611"/>
      </p:ext>
    </p:extLst>
  </p:cSld>
  <p:clrMapOvr>
    <a:masterClrMapping/>
  </p:clrMapOvr>
  <p:transition spd="slow" advTm="40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606DC2-D426-4EC7-A81D-4BCF2B3C258B}"/>
              </a:ext>
            </a:extLst>
          </p:cNvPr>
          <p:cNvSpPr>
            <a:spLocks noGrp="1"/>
          </p:cNvSpPr>
          <p:nvPr>
            <p:ph type="title"/>
          </p:nvPr>
        </p:nvSpPr>
        <p:spPr>
          <a:xfrm>
            <a:off x="457200" y="274638"/>
            <a:ext cx="8229600" cy="711951"/>
          </a:xfrm>
        </p:spPr>
        <p:txBody>
          <a:bodyPr>
            <a:normAutofit fontScale="90000"/>
          </a:bodyPr>
          <a:lstStyle/>
          <a:p>
            <a:r>
              <a:rPr lang="en-US" sz="2200" b="1" dirty="0">
                <a:latin typeface="+mn-lt"/>
              </a:rPr>
              <a:t/>
            </a:r>
            <a:br>
              <a:rPr lang="en-US" sz="2200" b="1" dirty="0">
                <a:latin typeface="+mn-lt"/>
              </a:rPr>
            </a:br>
            <a:r>
              <a:rPr lang="en-US" sz="2200" b="1" dirty="0">
                <a:latin typeface="+mn-lt"/>
              </a:rPr>
              <a:t>Role of Health Insurance in Financial Planning</a:t>
            </a:r>
            <a:r>
              <a:rPr lang="en-US" b="1" dirty="0"/>
              <a:t/>
            </a:r>
            <a:br>
              <a:rPr lang="en-US" b="1" dirty="0"/>
            </a:br>
            <a:endParaRPr lang="en-IN" dirty="0"/>
          </a:p>
        </p:txBody>
      </p:sp>
      <p:sp>
        <p:nvSpPr>
          <p:cNvPr id="3" name="Content Placeholder 2">
            <a:extLst>
              <a:ext uri="{FF2B5EF4-FFF2-40B4-BE49-F238E27FC236}">
                <a16:creationId xmlns="" xmlns:a16="http://schemas.microsoft.com/office/drawing/2014/main" id="{FAB535C5-334C-4CCD-9FE8-9B97792A5E2D}"/>
              </a:ext>
            </a:extLst>
          </p:cNvPr>
          <p:cNvSpPr>
            <a:spLocks noGrp="1"/>
          </p:cNvSpPr>
          <p:nvPr>
            <p:ph idx="1"/>
          </p:nvPr>
        </p:nvSpPr>
        <p:spPr>
          <a:xfrm>
            <a:off x="457200" y="782054"/>
            <a:ext cx="8229600" cy="5344110"/>
          </a:xfrm>
        </p:spPr>
        <p:txBody>
          <a:bodyPr>
            <a:normAutofit/>
          </a:bodyPr>
          <a:lstStyle/>
          <a:p>
            <a:pPr rtl="0"/>
            <a:r>
              <a:rPr lang="en-US" sz="1600" dirty="0"/>
              <a:t>Health insurance plays a crucial role in financial planning by protecting individuals and families from financial risks associated with medical expenses. It helps to preserve savings and investments, ensuring that financial goals are not derailed by unexpected healthcare costs.</a:t>
            </a:r>
          </a:p>
        </p:txBody>
      </p:sp>
      <p:sp>
        <p:nvSpPr>
          <p:cNvPr id="6" name="Rounded Rectangle 1">
            <a:extLst>
              <a:ext uri="{FF2B5EF4-FFF2-40B4-BE49-F238E27FC236}">
                <a16:creationId xmlns="" xmlns:a16="http://schemas.microsoft.com/office/drawing/2014/main" id="{DAE8F68B-04C5-4137-B5A4-1E7CC26748CE}"/>
              </a:ext>
            </a:extLst>
          </p:cNvPr>
          <p:cNvSpPr/>
          <p:nvPr/>
        </p:nvSpPr>
        <p:spPr>
          <a:xfrm>
            <a:off x="2899634" y="2081213"/>
            <a:ext cx="1758981" cy="2148420"/>
          </a:xfrm>
          <a:custGeom>
            <a:avLst/>
            <a:gdLst/>
            <a:ahLst/>
            <a:cxnLst/>
            <a:rect l="0" t="0" r="0" b="0"/>
            <a:pathLst>
              <a:path w="1758981" h="2148420">
                <a:moveTo>
                  <a:pt x="952014" y="1756562"/>
                </a:moveTo>
                <a:cubicBezTo>
                  <a:pt x="940346" y="1647929"/>
                  <a:pt x="954538" y="1534925"/>
                  <a:pt x="998400" y="1426568"/>
                </a:cubicBezTo>
                <a:cubicBezTo>
                  <a:pt x="1069457" y="1251023"/>
                  <a:pt x="1204941" y="1120902"/>
                  <a:pt x="1366542" y="1052426"/>
                </a:cubicBezTo>
                <a:lnTo>
                  <a:pt x="1455724" y="1262919"/>
                </a:lnTo>
                <a:lnTo>
                  <a:pt x="1758981" y="513749"/>
                </a:lnTo>
                <a:lnTo>
                  <a:pt x="920629" y="0"/>
                </a:lnTo>
                <a:lnTo>
                  <a:pt x="1009811" y="210483"/>
                </a:lnTo>
                <a:cubicBezTo>
                  <a:pt x="632736" y="370255"/>
                  <a:pt x="316611" y="673865"/>
                  <a:pt x="150809" y="1083468"/>
                </a:cubicBezTo>
                <a:cubicBezTo>
                  <a:pt x="7943" y="1436408"/>
                  <a:pt x="0" y="1810445"/>
                  <a:pt x="102746" y="2148420"/>
                </a:cubicBezTo>
                <a:lnTo>
                  <a:pt x="463953" y="1558994"/>
                </a:lnTo>
                <a:lnTo>
                  <a:pt x="952014" y="1756562"/>
                </a:lnTo>
              </a:path>
            </a:pathLst>
          </a:custGeom>
          <a:solidFill>
            <a:srgbClr val="DE8431"/>
          </a:solidFill>
          <a:ln>
            <a:noFill/>
          </a:ln>
        </p:spPr>
        <p:txBody>
          <a:bodyPr rtlCol="0" anchor="ctr"/>
          <a:lstStyle/>
          <a:p>
            <a:pPr algn="ctr"/>
            <a:endParaRPr/>
          </a:p>
        </p:txBody>
      </p:sp>
      <p:sp>
        <p:nvSpPr>
          <p:cNvPr id="7" name="Rounded Rectangle 2">
            <a:extLst>
              <a:ext uri="{FF2B5EF4-FFF2-40B4-BE49-F238E27FC236}">
                <a16:creationId xmlns="" xmlns:a16="http://schemas.microsoft.com/office/drawing/2014/main" id="{BE2346F8-F470-4272-812D-C3D15154ADDB}"/>
              </a:ext>
            </a:extLst>
          </p:cNvPr>
          <p:cNvSpPr/>
          <p:nvPr/>
        </p:nvSpPr>
        <p:spPr>
          <a:xfrm>
            <a:off x="2899632" y="2081213"/>
            <a:ext cx="1758986" cy="2148419"/>
          </a:xfrm>
          <a:custGeom>
            <a:avLst/>
            <a:gdLst/>
            <a:ahLst/>
            <a:cxnLst/>
            <a:rect l="0" t="0" r="0" b="0"/>
            <a:pathLst>
              <a:path w="1758986" h="2148419">
                <a:moveTo>
                  <a:pt x="952019" y="1756560"/>
                </a:moveTo>
                <a:cubicBezTo>
                  <a:pt x="940349" y="1647925"/>
                  <a:pt x="954537" y="1534924"/>
                  <a:pt x="998400" y="1426564"/>
                </a:cubicBezTo>
                <a:cubicBezTo>
                  <a:pt x="1069458" y="1251023"/>
                  <a:pt x="1204941" y="1120902"/>
                  <a:pt x="1366545" y="1052429"/>
                </a:cubicBezTo>
                <a:lnTo>
                  <a:pt x="1455727" y="1262916"/>
                </a:lnTo>
                <a:lnTo>
                  <a:pt x="1758986" y="513744"/>
                </a:lnTo>
                <a:lnTo>
                  <a:pt x="920632" y="0"/>
                </a:lnTo>
                <a:lnTo>
                  <a:pt x="1009814" y="210485"/>
                </a:lnTo>
                <a:cubicBezTo>
                  <a:pt x="632739" y="370252"/>
                  <a:pt x="316612" y="673868"/>
                  <a:pt x="150811" y="1083465"/>
                </a:cubicBezTo>
                <a:cubicBezTo>
                  <a:pt x="7944" y="1436404"/>
                  <a:pt x="0" y="1810448"/>
                  <a:pt x="102749" y="2148419"/>
                </a:cubicBezTo>
                <a:lnTo>
                  <a:pt x="463950" y="1558993"/>
                </a:lnTo>
                <a:lnTo>
                  <a:pt x="952019" y="1756560"/>
                </a:lnTo>
                <a:close/>
              </a:path>
            </a:pathLst>
          </a:custGeom>
          <a:noFill/>
          <a:ln w="14287">
            <a:solidFill>
              <a:srgbClr val="FFFFFF"/>
            </a:solidFill>
          </a:ln>
        </p:spPr>
        <p:txBody>
          <a:bodyPr rtlCol="0" anchor="ctr"/>
          <a:lstStyle/>
          <a:p>
            <a:pPr algn="ctr"/>
            <a:endParaRPr/>
          </a:p>
        </p:txBody>
      </p:sp>
      <p:sp>
        <p:nvSpPr>
          <p:cNvPr id="8" name="Rounded Rectangle 3">
            <a:extLst>
              <a:ext uri="{FF2B5EF4-FFF2-40B4-BE49-F238E27FC236}">
                <a16:creationId xmlns="" xmlns:a16="http://schemas.microsoft.com/office/drawing/2014/main" id="{4FC6582C-C99C-4762-9FAB-4897F894E129}"/>
              </a:ext>
            </a:extLst>
          </p:cNvPr>
          <p:cNvSpPr/>
          <p:nvPr/>
        </p:nvSpPr>
        <p:spPr>
          <a:xfrm>
            <a:off x="2849838" y="3640224"/>
            <a:ext cx="2148420" cy="1758991"/>
          </a:xfrm>
          <a:custGeom>
            <a:avLst/>
            <a:gdLst/>
            <a:ahLst/>
            <a:cxnLst/>
            <a:rect l="0" t="0" r="0" b="0"/>
            <a:pathLst>
              <a:path w="2148420" h="1758991">
                <a:moveTo>
                  <a:pt x="1052426" y="392439"/>
                </a:moveTo>
                <a:lnTo>
                  <a:pt x="1262919" y="303256"/>
                </a:lnTo>
                <a:lnTo>
                  <a:pt x="513740" y="0"/>
                </a:lnTo>
                <a:lnTo>
                  <a:pt x="0" y="838352"/>
                </a:lnTo>
                <a:lnTo>
                  <a:pt x="210483" y="749169"/>
                </a:lnTo>
                <a:cubicBezTo>
                  <a:pt x="370255" y="1126245"/>
                  <a:pt x="673874" y="1442380"/>
                  <a:pt x="1083468" y="1608181"/>
                </a:cubicBezTo>
                <a:cubicBezTo>
                  <a:pt x="1436408" y="1751047"/>
                  <a:pt x="1810454" y="1758991"/>
                  <a:pt x="2148420" y="1656245"/>
                </a:cubicBezTo>
                <a:lnTo>
                  <a:pt x="1558994" y="1295038"/>
                </a:lnTo>
                <a:lnTo>
                  <a:pt x="1756562" y="806967"/>
                </a:lnTo>
                <a:cubicBezTo>
                  <a:pt x="1647929" y="818635"/>
                  <a:pt x="1534925" y="804452"/>
                  <a:pt x="1426568" y="760590"/>
                </a:cubicBezTo>
                <a:cubicBezTo>
                  <a:pt x="1251023" y="689533"/>
                  <a:pt x="1120902" y="554050"/>
                  <a:pt x="1052426" y="392439"/>
                </a:cubicBezTo>
              </a:path>
            </a:pathLst>
          </a:custGeom>
          <a:solidFill>
            <a:srgbClr val="E0CB15"/>
          </a:solidFill>
          <a:ln>
            <a:noFill/>
          </a:ln>
        </p:spPr>
        <p:txBody>
          <a:bodyPr rtlCol="0" anchor="ctr"/>
          <a:lstStyle/>
          <a:p>
            <a:pPr algn="ctr"/>
            <a:endParaRPr/>
          </a:p>
        </p:txBody>
      </p:sp>
      <p:sp>
        <p:nvSpPr>
          <p:cNvPr id="9" name="Rounded Rectangle 4">
            <a:extLst>
              <a:ext uri="{FF2B5EF4-FFF2-40B4-BE49-F238E27FC236}">
                <a16:creationId xmlns="" xmlns:a16="http://schemas.microsoft.com/office/drawing/2014/main" id="{0AE01403-0ECA-4E0A-869B-06905851A78D}"/>
              </a:ext>
            </a:extLst>
          </p:cNvPr>
          <p:cNvSpPr/>
          <p:nvPr/>
        </p:nvSpPr>
        <p:spPr>
          <a:xfrm>
            <a:off x="2849838" y="3640224"/>
            <a:ext cx="2148421" cy="1758989"/>
          </a:xfrm>
          <a:custGeom>
            <a:avLst/>
            <a:gdLst/>
            <a:ahLst/>
            <a:cxnLst/>
            <a:rect l="0" t="0" r="0" b="0"/>
            <a:pathLst>
              <a:path w="2148421" h="1758989">
                <a:moveTo>
                  <a:pt x="1052429" y="392441"/>
                </a:moveTo>
                <a:lnTo>
                  <a:pt x="1262915" y="303258"/>
                </a:lnTo>
                <a:lnTo>
                  <a:pt x="513744" y="0"/>
                </a:lnTo>
                <a:lnTo>
                  <a:pt x="0" y="838354"/>
                </a:lnTo>
                <a:lnTo>
                  <a:pt x="210487" y="749171"/>
                </a:lnTo>
                <a:cubicBezTo>
                  <a:pt x="370254" y="1126248"/>
                  <a:pt x="673871" y="1442376"/>
                  <a:pt x="1083469" y="1608178"/>
                </a:cubicBezTo>
                <a:cubicBezTo>
                  <a:pt x="1436406" y="1751043"/>
                  <a:pt x="1810451" y="1758989"/>
                  <a:pt x="2148421" y="1656240"/>
                </a:cubicBezTo>
                <a:lnTo>
                  <a:pt x="1558994" y="1295039"/>
                </a:lnTo>
                <a:lnTo>
                  <a:pt x="1756562" y="806967"/>
                </a:lnTo>
                <a:cubicBezTo>
                  <a:pt x="1647926" y="818638"/>
                  <a:pt x="1534925" y="804451"/>
                  <a:pt x="1426564" y="760587"/>
                </a:cubicBezTo>
                <a:cubicBezTo>
                  <a:pt x="1251023" y="689529"/>
                  <a:pt x="1120901" y="554046"/>
                  <a:pt x="1052429" y="392441"/>
                </a:cubicBezTo>
                <a:close/>
              </a:path>
            </a:pathLst>
          </a:custGeom>
          <a:noFill/>
          <a:ln w="14287">
            <a:solidFill>
              <a:srgbClr val="FFFFFF"/>
            </a:solidFill>
          </a:ln>
        </p:spPr>
        <p:txBody>
          <a:bodyPr rtlCol="0" anchor="ctr"/>
          <a:lstStyle/>
          <a:p>
            <a:pPr algn="ctr"/>
            <a:endParaRPr/>
          </a:p>
        </p:txBody>
      </p:sp>
      <p:sp>
        <p:nvSpPr>
          <p:cNvPr id="10" name="Rounded Rectangle 5">
            <a:extLst>
              <a:ext uri="{FF2B5EF4-FFF2-40B4-BE49-F238E27FC236}">
                <a16:creationId xmlns="" xmlns:a16="http://schemas.microsoft.com/office/drawing/2014/main" id="{65B01F99-FA3E-4E59-9B0E-5C4DDAFD06E2}"/>
              </a:ext>
            </a:extLst>
          </p:cNvPr>
          <p:cNvSpPr/>
          <p:nvPr/>
        </p:nvSpPr>
        <p:spPr>
          <a:xfrm>
            <a:off x="4408852" y="3300561"/>
            <a:ext cx="1758991" cy="2148430"/>
          </a:xfrm>
          <a:custGeom>
            <a:avLst/>
            <a:gdLst/>
            <a:ahLst/>
            <a:cxnLst/>
            <a:rect l="0" t="0" r="0" b="0"/>
            <a:pathLst>
              <a:path w="1758991" h="2148430">
                <a:moveTo>
                  <a:pt x="0" y="1634680"/>
                </a:moveTo>
                <a:lnTo>
                  <a:pt x="838352" y="2148430"/>
                </a:lnTo>
                <a:lnTo>
                  <a:pt x="749169" y="1937937"/>
                </a:lnTo>
                <a:cubicBezTo>
                  <a:pt x="1126245" y="1778174"/>
                  <a:pt x="1442380" y="1474555"/>
                  <a:pt x="1608181" y="1064961"/>
                </a:cubicBezTo>
                <a:cubicBezTo>
                  <a:pt x="1751047" y="712022"/>
                  <a:pt x="1758991" y="337975"/>
                  <a:pt x="1656245" y="0"/>
                </a:cubicBezTo>
                <a:lnTo>
                  <a:pt x="1295038" y="589426"/>
                </a:lnTo>
                <a:lnTo>
                  <a:pt x="806967" y="391858"/>
                </a:lnTo>
                <a:cubicBezTo>
                  <a:pt x="818635" y="500500"/>
                  <a:pt x="804452" y="613505"/>
                  <a:pt x="760590" y="721861"/>
                </a:cubicBezTo>
                <a:cubicBezTo>
                  <a:pt x="689533" y="897397"/>
                  <a:pt x="554050" y="1027528"/>
                  <a:pt x="392439" y="1095994"/>
                </a:cubicBezTo>
                <a:lnTo>
                  <a:pt x="303256" y="885510"/>
                </a:lnTo>
                <a:lnTo>
                  <a:pt x="0" y="1634680"/>
                </a:lnTo>
              </a:path>
            </a:pathLst>
          </a:custGeom>
          <a:solidFill>
            <a:srgbClr val="92BD39"/>
          </a:solidFill>
          <a:ln>
            <a:noFill/>
          </a:ln>
        </p:spPr>
        <p:txBody>
          <a:bodyPr rtlCol="0" anchor="ctr"/>
          <a:lstStyle/>
          <a:p>
            <a:pPr algn="ctr"/>
            <a:endParaRPr/>
          </a:p>
        </p:txBody>
      </p:sp>
      <p:sp>
        <p:nvSpPr>
          <p:cNvPr id="11" name="Rounded Rectangle 6">
            <a:extLst>
              <a:ext uri="{FF2B5EF4-FFF2-40B4-BE49-F238E27FC236}">
                <a16:creationId xmlns="" xmlns:a16="http://schemas.microsoft.com/office/drawing/2014/main" id="{BFFDB881-9BD2-4526-A287-2BE9C80DB958}"/>
              </a:ext>
            </a:extLst>
          </p:cNvPr>
          <p:cNvSpPr/>
          <p:nvPr/>
        </p:nvSpPr>
        <p:spPr>
          <a:xfrm>
            <a:off x="4408852" y="3300561"/>
            <a:ext cx="1758991" cy="2148427"/>
          </a:xfrm>
          <a:custGeom>
            <a:avLst/>
            <a:gdLst/>
            <a:ahLst/>
            <a:cxnLst/>
            <a:rect l="0" t="0" r="0" b="0"/>
            <a:pathLst>
              <a:path w="1758991" h="2148427">
                <a:moveTo>
                  <a:pt x="0" y="1634682"/>
                </a:moveTo>
                <a:lnTo>
                  <a:pt x="838354" y="2148427"/>
                </a:lnTo>
                <a:lnTo>
                  <a:pt x="749171" y="1937940"/>
                </a:lnTo>
                <a:cubicBezTo>
                  <a:pt x="1126249" y="1778173"/>
                  <a:pt x="1442378" y="1474556"/>
                  <a:pt x="1608180" y="1064957"/>
                </a:cubicBezTo>
                <a:cubicBezTo>
                  <a:pt x="1751047" y="712018"/>
                  <a:pt x="1758991" y="337972"/>
                  <a:pt x="1656241" y="0"/>
                </a:cubicBezTo>
                <a:lnTo>
                  <a:pt x="1295038" y="589428"/>
                </a:lnTo>
                <a:lnTo>
                  <a:pt x="806966" y="391862"/>
                </a:lnTo>
                <a:cubicBezTo>
                  <a:pt x="818637" y="500497"/>
                  <a:pt x="804450" y="613500"/>
                  <a:pt x="760586" y="721860"/>
                </a:cubicBezTo>
                <a:cubicBezTo>
                  <a:pt x="689529" y="897402"/>
                  <a:pt x="554045" y="1027524"/>
                  <a:pt x="392440" y="1095996"/>
                </a:cubicBezTo>
                <a:lnTo>
                  <a:pt x="303258" y="885510"/>
                </a:lnTo>
                <a:lnTo>
                  <a:pt x="0" y="1634682"/>
                </a:lnTo>
                <a:close/>
              </a:path>
            </a:pathLst>
          </a:custGeom>
          <a:noFill/>
          <a:ln w="14287">
            <a:solidFill>
              <a:srgbClr val="FFFFFF"/>
            </a:solidFill>
          </a:ln>
        </p:spPr>
        <p:txBody>
          <a:bodyPr rtlCol="0" anchor="ctr"/>
          <a:lstStyle/>
          <a:p>
            <a:pPr algn="ctr"/>
            <a:endParaRPr/>
          </a:p>
        </p:txBody>
      </p:sp>
      <p:sp>
        <p:nvSpPr>
          <p:cNvPr id="12" name="Rounded Rectangle 7">
            <a:extLst>
              <a:ext uri="{FF2B5EF4-FFF2-40B4-BE49-F238E27FC236}">
                <a16:creationId xmlns="" xmlns:a16="http://schemas.microsoft.com/office/drawing/2014/main" id="{C953535A-6ABF-46B6-A077-CC99BBD83770}"/>
              </a:ext>
            </a:extLst>
          </p:cNvPr>
          <p:cNvSpPr/>
          <p:nvPr/>
        </p:nvSpPr>
        <p:spPr>
          <a:xfrm>
            <a:off x="4069190" y="2131011"/>
            <a:ext cx="2148420" cy="1758991"/>
          </a:xfrm>
          <a:custGeom>
            <a:avLst/>
            <a:gdLst/>
            <a:ahLst/>
            <a:cxnLst/>
            <a:rect l="0" t="0" r="0" b="0"/>
            <a:pathLst>
              <a:path w="2148420" h="1758991">
                <a:moveTo>
                  <a:pt x="391858" y="952023"/>
                </a:moveTo>
                <a:cubicBezTo>
                  <a:pt x="500500" y="940355"/>
                  <a:pt x="613495" y="954538"/>
                  <a:pt x="721861" y="998400"/>
                </a:cubicBezTo>
                <a:cubicBezTo>
                  <a:pt x="897397" y="1069457"/>
                  <a:pt x="1027518" y="1204941"/>
                  <a:pt x="1095994" y="1366542"/>
                </a:cubicBezTo>
                <a:lnTo>
                  <a:pt x="885510" y="1455724"/>
                </a:lnTo>
                <a:lnTo>
                  <a:pt x="1634680" y="1758991"/>
                </a:lnTo>
                <a:lnTo>
                  <a:pt x="2148420" y="920629"/>
                </a:lnTo>
                <a:lnTo>
                  <a:pt x="1937937" y="1009811"/>
                </a:lnTo>
                <a:cubicBezTo>
                  <a:pt x="1778174" y="632736"/>
                  <a:pt x="1474555" y="316611"/>
                  <a:pt x="1064961" y="150809"/>
                </a:cubicBezTo>
                <a:cubicBezTo>
                  <a:pt x="712022" y="7943"/>
                  <a:pt x="337975" y="0"/>
                  <a:pt x="0" y="102746"/>
                </a:cubicBezTo>
                <a:lnTo>
                  <a:pt x="589426" y="463953"/>
                </a:lnTo>
                <a:lnTo>
                  <a:pt x="391858" y="952023"/>
                </a:lnTo>
              </a:path>
            </a:pathLst>
          </a:custGeom>
          <a:solidFill>
            <a:srgbClr val="3CC583"/>
          </a:solidFill>
          <a:ln>
            <a:noFill/>
          </a:ln>
        </p:spPr>
        <p:txBody>
          <a:bodyPr rtlCol="0" anchor="ctr"/>
          <a:lstStyle/>
          <a:p>
            <a:pPr algn="ctr"/>
            <a:endParaRPr/>
          </a:p>
        </p:txBody>
      </p:sp>
      <p:sp>
        <p:nvSpPr>
          <p:cNvPr id="13" name="Rounded Rectangle 8">
            <a:extLst>
              <a:ext uri="{FF2B5EF4-FFF2-40B4-BE49-F238E27FC236}">
                <a16:creationId xmlns="" xmlns:a16="http://schemas.microsoft.com/office/drawing/2014/main" id="{FC92F8F6-82A7-4724-B040-15B4C5DA1249}"/>
              </a:ext>
            </a:extLst>
          </p:cNvPr>
          <p:cNvSpPr/>
          <p:nvPr/>
        </p:nvSpPr>
        <p:spPr>
          <a:xfrm>
            <a:off x="4069190" y="2131009"/>
            <a:ext cx="2148425" cy="1758989"/>
          </a:xfrm>
          <a:custGeom>
            <a:avLst/>
            <a:gdLst/>
            <a:ahLst/>
            <a:cxnLst/>
            <a:rect l="0" t="0" r="0" b="0"/>
            <a:pathLst>
              <a:path w="2148425" h="1758989">
                <a:moveTo>
                  <a:pt x="391862" y="952022"/>
                </a:moveTo>
                <a:cubicBezTo>
                  <a:pt x="500496" y="940352"/>
                  <a:pt x="613499" y="954540"/>
                  <a:pt x="721858" y="998403"/>
                </a:cubicBezTo>
                <a:cubicBezTo>
                  <a:pt x="897400" y="1069461"/>
                  <a:pt x="1027522" y="1204944"/>
                  <a:pt x="1095994" y="1366548"/>
                </a:cubicBezTo>
                <a:lnTo>
                  <a:pt x="885508" y="1455730"/>
                </a:lnTo>
                <a:lnTo>
                  <a:pt x="1634680" y="1758989"/>
                </a:lnTo>
                <a:lnTo>
                  <a:pt x="2148425" y="920634"/>
                </a:lnTo>
                <a:lnTo>
                  <a:pt x="1937940" y="1009816"/>
                </a:lnTo>
                <a:cubicBezTo>
                  <a:pt x="1778173" y="632740"/>
                  <a:pt x="1474556" y="316612"/>
                  <a:pt x="1064959" y="150811"/>
                </a:cubicBezTo>
                <a:cubicBezTo>
                  <a:pt x="712019" y="7943"/>
                  <a:pt x="337972" y="0"/>
                  <a:pt x="0" y="102750"/>
                </a:cubicBezTo>
                <a:lnTo>
                  <a:pt x="589428" y="463953"/>
                </a:lnTo>
                <a:lnTo>
                  <a:pt x="391862" y="952022"/>
                </a:lnTo>
                <a:close/>
              </a:path>
            </a:pathLst>
          </a:custGeom>
          <a:noFill/>
          <a:ln w="14287">
            <a:solidFill>
              <a:srgbClr val="FFFFFF"/>
            </a:solidFill>
          </a:ln>
        </p:spPr>
        <p:txBody>
          <a:bodyPr rtlCol="0" anchor="ctr"/>
          <a:lstStyle/>
          <a:p>
            <a:pPr algn="ctr"/>
            <a:endParaRPr/>
          </a:p>
        </p:txBody>
      </p:sp>
      <p:sp>
        <p:nvSpPr>
          <p:cNvPr id="14" name="TextBox 13">
            <a:extLst>
              <a:ext uri="{FF2B5EF4-FFF2-40B4-BE49-F238E27FC236}">
                <a16:creationId xmlns="" xmlns:a16="http://schemas.microsoft.com/office/drawing/2014/main" id="{E88A5C13-3B7E-476C-A6E3-7565DA000A17}"/>
              </a:ext>
            </a:extLst>
          </p:cNvPr>
          <p:cNvSpPr txBox="1"/>
          <p:nvPr/>
        </p:nvSpPr>
        <p:spPr>
          <a:xfrm>
            <a:off x="1382511" y="2471738"/>
            <a:ext cx="820045" cy="840105"/>
          </a:xfrm>
          <a:prstGeom prst="rect">
            <a:avLst/>
          </a:prstGeom>
          <a:noFill/>
          <a:ln>
            <a:noFill/>
          </a:ln>
        </p:spPr>
        <p:txBody>
          <a:bodyPr wrap="none" lIns="0" tIns="0" rIns="0" bIns="0" anchor="t">
            <a:spAutoFit/>
          </a:bodyPr>
          <a:lstStyle/>
          <a:p>
            <a:pPr algn="ctr"/>
            <a:r>
              <a:rPr sz="1500" b="1">
                <a:solidFill>
                  <a:srgbClr val="DE8431"/>
                </a:solidFill>
                <a:latin typeface="Roboto"/>
              </a:rPr>
              <a:t>Ensure
Financial
Stability</a:t>
            </a:r>
          </a:p>
        </p:txBody>
      </p:sp>
      <p:sp>
        <p:nvSpPr>
          <p:cNvPr id="15" name="TextBox 14">
            <a:extLst>
              <a:ext uri="{FF2B5EF4-FFF2-40B4-BE49-F238E27FC236}">
                <a16:creationId xmlns="" xmlns:a16="http://schemas.microsoft.com/office/drawing/2014/main" id="{0830F708-6F30-4A88-918D-836692183A7C}"/>
              </a:ext>
            </a:extLst>
          </p:cNvPr>
          <p:cNvSpPr txBox="1"/>
          <p:nvPr/>
        </p:nvSpPr>
        <p:spPr>
          <a:xfrm>
            <a:off x="6928538" y="2414588"/>
            <a:ext cx="700830" cy="560070"/>
          </a:xfrm>
          <a:prstGeom prst="rect">
            <a:avLst/>
          </a:prstGeom>
          <a:noFill/>
          <a:ln>
            <a:noFill/>
          </a:ln>
        </p:spPr>
        <p:txBody>
          <a:bodyPr wrap="none" lIns="0" tIns="0" rIns="0" bIns="0" anchor="t">
            <a:spAutoFit/>
          </a:bodyPr>
          <a:lstStyle/>
          <a:p>
            <a:pPr algn="ctr"/>
            <a:r>
              <a:rPr sz="1500" b="1">
                <a:solidFill>
                  <a:srgbClr val="3CC583"/>
                </a:solidFill>
                <a:latin typeface="Roboto"/>
              </a:rPr>
              <a:t>Protect
Savings</a:t>
            </a:r>
          </a:p>
        </p:txBody>
      </p:sp>
      <p:sp>
        <p:nvSpPr>
          <p:cNvPr id="16" name="TextBox 15">
            <a:extLst>
              <a:ext uri="{FF2B5EF4-FFF2-40B4-BE49-F238E27FC236}">
                <a16:creationId xmlns="" xmlns:a16="http://schemas.microsoft.com/office/drawing/2014/main" id="{18038C30-0E0A-4D72-BB9D-49396F445172}"/>
              </a:ext>
            </a:extLst>
          </p:cNvPr>
          <p:cNvSpPr txBox="1"/>
          <p:nvPr/>
        </p:nvSpPr>
        <p:spPr>
          <a:xfrm>
            <a:off x="6643169" y="2981325"/>
            <a:ext cx="1271587" cy="800100"/>
          </a:xfrm>
          <a:prstGeom prst="rect">
            <a:avLst/>
          </a:prstGeom>
          <a:noFill/>
          <a:ln>
            <a:noFill/>
          </a:ln>
        </p:spPr>
        <p:txBody>
          <a:bodyPr wrap="none" lIns="0" tIns="0" rIns="0" bIns="0" anchor="t">
            <a:spAutoFit/>
          </a:bodyPr>
          <a:lstStyle/>
          <a:p>
            <a:pPr algn="ctr"/>
            <a:r>
              <a:rPr sz="1100" b="0">
                <a:solidFill>
                  <a:srgbClr val="484848"/>
                </a:solidFill>
                <a:latin typeface="Roboto"/>
              </a:rPr>
              <a:t>Health insurance
safeguards savings
from medical
expenses.</a:t>
            </a:r>
          </a:p>
        </p:txBody>
      </p:sp>
      <p:sp>
        <p:nvSpPr>
          <p:cNvPr id="17" name="TextBox 16">
            <a:extLst>
              <a:ext uri="{FF2B5EF4-FFF2-40B4-BE49-F238E27FC236}">
                <a16:creationId xmlns="" xmlns:a16="http://schemas.microsoft.com/office/drawing/2014/main" id="{331FEE5B-3A21-435E-9CE5-D6554155CAAA}"/>
              </a:ext>
            </a:extLst>
          </p:cNvPr>
          <p:cNvSpPr txBox="1"/>
          <p:nvPr/>
        </p:nvSpPr>
        <p:spPr>
          <a:xfrm>
            <a:off x="1132290" y="3267075"/>
            <a:ext cx="1320555" cy="400050"/>
          </a:xfrm>
          <a:prstGeom prst="rect">
            <a:avLst/>
          </a:prstGeom>
          <a:noFill/>
          <a:ln>
            <a:noFill/>
          </a:ln>
        </p:spPr>
        <p:txBody>
          <a:bodyPr wrap="none" lIns="0" tIns="0" rIns="0" bIns="0" anchor="t">
            <a:spAutoFit/>
          </a:bodyPr>
          <a:lstStyle/>
          <a:p>
            <a:pPr algn="ctr"/>
            <a:r>
              <a:rPr sz="1100" b="0">
                <a:solidFill>
                  <a:srgbClr val="484848"/>
                </a:solidFill>
                <a:latin typeface="Roboto"/>
              </a:rPr>
              <a:t>Overall financial
health is maintained.</a:t>
            </a:r>
          </a:p>
        </p:txBody>
      </p:sp>
      <p:sp>
        <p:nvSpPr>
          <p:cNvPr id="18" name="TextBox 17">
            <a:extLst>
              <a:ext uri="{FF2B5EF4-FFF2-40B4-BE49-F238E27FC236}">
                <a16:creationId xmlns="" xmlns:a16="http://schemas.microsoft.com/office/drawing/2014/main" id="{CA87C469-16F8-461F-A870-1B97B08B2A94}"/>
              </a:ext>
            </a:extLst>
          </p:cNvPr>
          <p:cNvSpPr txBox="1"/>
          <p:nvPr/>
        </p:nvSpPr>
        <p:spPr>
          <a:xfrm>
            <a:off x="1138862" y="4529138"/>
            <a:ext cx="1307458" cy="560070"/>
          </a:xfrm>
          <a:prstGeom prst="rect">
            <a:avLst/>
          </a:prstGeom>
          <a:noFill/>
          <a:ln>
            <a:noFill/>
          </a:ln>
        </p:spPr>
        <p:txBody>
          <a:bodyPr wrap="none" lIns="0" tIns="0" rIns="0" bIns="0" anchor="t">
            <a:spAutoFit/>
          </a:bodyPr>
          <a:lstStyle/>
          <a:p>
            <a:pPr algn="ctr"/>
            <a:r>
              <a:rPr sz="1500" b="1">
                <a:solidFill>
                  <a:srgbClr val="E0CB15"/>
                </a:solidFill>
                <a:latin typeface="Roboto"/>
              </a:rPr>
              <a:t>Achieve
Financial Goals</a:t>
            </a:r>
          </a:p>
        </p:txBody>
      </p:sp>
      <p:sp>
        <p:nvSpPr>
          <p:cNvPr id="19" name="TextBox 18">
            <a:extLst>
              <a:ext uri="{FF2B5EF4-FFF2-40B4-BE49-F238E27FC236}">
                <a16:creationId xmlns="" xmlns:a16="http://schemas.microsoft.com/office/drawing/2014/main" id="{48D9C046-EDEC-449D-92AF-30087BB71BA5}"/>
              </a:ext>
            </a:extLst>
          </p:cNvPr>
          <p:cNvSpPr txBox="1"/>
          <p:nvPr/>
        </p:nvSpPr>
        <p:spPr>
          <a:xfrm>
            <a:off x="6806142" y="4586288"/>
            <a:ext cx="1059951" cy="560070"/>
          </a:xfrm>
          <a:prstGeom prst="rect">
            <a:avLst/>
          </a:prstGeom>
          <a:noFill/>
          <a:ln>
            <a:noFill/>
          </a:ln>
        </p:spPr>
        <p:txBody>
          <a:bodyPr wrap="none" lIns="0" tIns="0" rIns="0" bIns="0" anchor="t">
            <a:spAutoFit/>
          </a:bodyPr>
          <a:lstStyle/>
          <a:p>
            <a:pPr algn="ctr"/>
            <a:r>
              <a:rPr sz="1500" b="1">
                <a:solidFill>
                  <a:srgbClr val="92BD39"/>
                </a:solidFill>
                <a:latin typeface="Roboto"/>
              </a:rPr>
              <a:t>Preserve
Investments</a:t>
            </a:r>
          </a:p>
        </p:txBody>
      </p:sp>
      <p:sp>
        <p:nvSpPr>
          <p:cNvPr id="20" name="TextBox 19">
            <a:extLst>
              <a:ext uri="{FF2B5EF4-FFF2-40B4-BE49-F238E27FC236}">
                <a16:creationId xmlns="" xmlns:a16="http://schemas.microsoft.com/office/drawing/2014/main" id="{4B14C18D-AA10-4416-9510-49DBB617B318}"/>
              </a:ext>
            </a:extLst>
          </p:cNvPr>
          <p:cNvSpPr txBox="1"/>
          <p:nvPr/>
        </p:nvSpPr>
        <p:spPr>
          <a:xfrm>
            <a:off x="1134480" y="5124450"/>
            <a:ext cx="1316088" cy="600075"/>
          </a:xfrm>
          <a:prstGeom prst="rect">
            <a:avLst/>
          </a:prstGeom>
          <a:noFill/>
          <a:ln>
            <a:noFill/>
          </a:ln>
        </p:spPr>
        <p:txBody>
          <a:bodyPr wrap="none" lIns="0" tIns="0" rIns="0" bIns="0" anchor="t">
            <a:spAutoFit/>
          </a:bodyPr>
          <a:lstStyle/>
          <a:p>
            <a:pPr algn="ctr"/>
            <a:r>
              <a:rPr sz="1100" b="0">
                <a:solidFill>
                  <a:srgbClr val="484848"/>
                </a:solidFill>
                <a:latin typeface="Roboto"/>
              </a:rPr>
              <a:t>Financial goals are
met without
healthcare setbacks.</a:t>
            </a:r>
          </a:p>
        </p:txBody>
      </p:sp>
      <p:sp>
        <p:nvSpPr>
          <p:cNvPr id="21" name="TextBox 20">
            <a:extLst>
              <a:ext uri="{FF2B5EF4-FFF2-40B4-BE49-F238E27FC236}">
                <a16:creationId xmlns="" xmlns:a16="http://schemas.microsoft.com/office/drawing/2014/main" id="{1D8E0D73-03E7-40A2-996D-4DEA3233105F}"/>
              </a:ext>
            </a:extLst>
          </p:cNvPr>
          <p:cNvSpPr txBox="1"/>
          <p:nvPr/>
        </p:nvSpPr>
        <p:spPr>
          <a:xfrm>
            <a:off x="6660504" y="5181600"/>
            <a:ext cx="1351206" cy="600075"/>
          </a:xfrm>
          <a:prstGeom prst="rect">
            <a:avLst/>
          </a:prstGeom>
          <a:noFill/>
          <a:ln>
            <a:noFill/>
          </a:ln>
        </p:spPr>
        <p:txBody>
          <a:bodyPr wrap="none" lIns="0" tIns="0" rIns="0" bIns="0" anchor="t">
            <a:spAutoFit/>
          </a:bodyPr>
          <a:lstStyle/>
          <a:p>
            <a:pPr algn="ctr"/>
            <a:r>
              <a:rPr sz="1100" b="0">
                <a:solidFill>
                  <a:srgbClr val="484848"/>
                </a:solidFill>
                <a:latin typeface="Roboto"/>
              </a:rPr>
              <a:t>Investments remain
intact due to covered
medical costs.</a:t>
            </a:r>
          </a:p>
        </p:txBody>
      </p:sp>
      <p:sp>
        <p:nvSpPr>
          <p:cNvPr id="22" name="Rounded Rectangle 18">
            <a:extLst>
              <a:ext uri="{FF2B5EF4-FFF2-40B4-BE49-F238E27FC236}">
                <a16:creationId xmlns="" xmlns:a16="http://schemas.microsoft.com/office/drawing/2014/main" id="{BA109C98-2D41-4EE3-911D-0DD2C8B6C299}"/>
              </a:ext>
            </a:extLst>
          </p:cNvPr>
          <p:cNvSpPr/>
          <p:nvPr/>
        </p:nvSpPr>
        <p:spPr>
          <a:xfrm>
            <a:off x="1582569" y="1915820"/>
            <a:ext cx="419987" cy="387934"/>
          </a:xfrm>
          <a:custGeom>
            <a:avLst/>
            <a:gdLst/>
            <a:ahLst/>
            <a:cxnLst/>
            <a:rect l="0" t="0" r="0" b="0"/>
            <a:pathLst>
              <a:path w="419987" h="387934">
                <a:moveTo>
                  <a:pt x="209993" y="92659"/>
                </a:moveTo>
                <a:lnTo>
                  <a:pt x="209993" y="387934"/>
                </a:lnTo>
                <a:moveTo>
                  <a:pt x="162368" y="387934"/>
                </a:moveTo>
                <a:lnTo>
                  <a:pt x="257618" y="387934"/>
                </a:lnTo>
                <a:moveTo>
                  <a:pt x="443" y="273634"/>
                </a:moveTo>
                <a:lnTo>
                  <a:pt x="67118" y="131445"/>
                </a:lnTo>
                <a:lnTo>
                  <a:pt x="133793" y="273634"/>
                </a:lnTo>
                <a:moveTo>
                  <a:pt x="181418" y="64084"/>
                </a:moveTo>
                <a:cubicBezTo>
                  <a:pt x="181418" y="79865"/>
                  <a:pt x="194212" y="92659"/>
                  <a:pt x="209993" y="92659"/>
                </a:cubicBezTo>
                <a:cubicBezTo>
                  <a:pt x="225775" y="92659"/>
                  <a:pt x="238568" y="79865"/>
                  <a:pt x="238568" y="64084"/>
                </a:cubicBezTo>
                <a:cubicBezTo>
                  <a:pt x="238568" y="48302"/>
                  <a:pt x="225775" y="35509"/>
                  <a:pt x="209993" y="35509"/>
                </a:cubicBezTo>
                <a:cubicBezTo>
                  <a:pt x="194212" y="35509"/>
                  <a:pt x="181418" y="48302"/>
                  <a:pt x="181418" y="64084"/>
                </a:cubicBezTo>
                <a:close/>
                <a:moveTo>
                  <a:pt x="67118" y="340309"/>
                </a:moveTo>
                <a:cubicBezTo>
                  <a:pt x="84934" y="340752"/>
                  <a:pt x="102152" y="333870"/>
                  <a:pt x="114753" y="321269"/>
                </a:cubicBezTo>
                <a:cubicBezTo>
                  <a:pt x="127355" y="308667"/>
                  <a:pt x="134237" y="291449"/>
                  <a:pt x="133793" y="273634"/>
                </a:cubicBezTo>
                <a:lnTo>
                  <a:pt x="443" y="273634"/>
                </a:lnTo>
                <a:cubicBezTo>
                  <a:pt x="0" y="291449"/>
                  <a:pt x="6882" y="308667"/>
                  <a:pt x="19483" y="321269"/>
                </a:cubicBezTo>
                <a:cubicBezTo>
                  <a:pt x="32085" y="333870"/>
                  <a:pt x="49303" y="340752"/>
                  <a:pt x="67118" y="340309"/>
                </a:cubicBezTo>
                <a:close/>
                <a:moveTo>
                  <a:pt x="419543" y="159334"/>
                </a:moveTo>
                <a:lnTo>
                  <a:pt x="352868" y="15830"/>
                </a:lnTo>
                <a:lnTo>
                  <a:pt x="286193" y="159334"/>
                </a:lnTo>
                <a:moveTo>
                  <a:pt x="352868" y="226009"/>
                </a:moveTo>
                <a:cubicBezTo>
                  <a:pt x="335053" y="226452"/>
                  <a:pt x="317834" y="219570"/>
                  <a:pt x="305233" y="206969"/>
                </a:cubicBezTo>
                <a:cubicBezTo>
                  <a:pt x="292632" y="194367"/>
                  <a:pt x="285749" y="177149"/>
                  <a:pt x="286193" y="159334"/>
                </a:cubicBezTo>
                <a:lnTo>
                  <a:pt x="419543" y="159334"/>
                </a:lnTo>
                <a:cubicBezTo>
                  <a:pt x="419987" y="177149"/>
                  <a:pt x="413105" y="194367"/>
                  <a:pt x="400503" y="206969"/>
                </a:cubicBezTo>
                <a:cubicBezTo>
                  <a:pt x="387902" y="219570"/>
                  <a:pt x="370684" y="226452"/>
                  <a:pt x="352868" y="226009"/>
                </a:cubicBezTo>
                <a:close/>
                <a:moveTo>
                  <a:pt x="238454" y="62103"/>
                </a:moveTo>
                <a:lnTo>
                  <a:pt x="392016" y="0"/>
                </a:lnTo>
                <a:moveTo>
                  <a:pt x="27990" y="147237"/>
                </a:moveTo>
                <a:lnTo>
                  <a:pt x="188372" y="82353"/>
                </a:lnTo>
              </a:path>
            </a:pathLst>
          </a:custGeom>
          <a:noFill/>
          <a:ln w="14287">
            <a:solidFill>
              <a:srgbClr val="484848"/>
            </a:solidFill>
          </a:ln>
        </p:spPr>
        <p:txBody>
          <a:bodyPr rtlCol="0" anchor="ctr"/>
          <a:lstStyle/>
          <a:p>
            <a:pPr algn="ctr"/>
            <a:endParaRPr/>
          </a:p>
        </p:txBody>
      </p:sp>
      <p:sp>
        <p:nvSpPr>
          <p:cNvPr id="23" name="Rounded Rectangle 19">
            <a:extLst>
              <a:ext uri="{FF2B5EF4-FFF2-40B4-BE49-F238E27FC236}">
                <a16:creationId xmlns="" xmlns:a16="http://schemas.microsoft.com/office/drawing/2014/main" id="{571B710A-FCC5-4B2D-A21F-80E75716E5D8}"/>
              </a:ext>
            </a:extLst>
          </p:cNvPr>
          <p:cNvSpPr/>
          <p:nvPr/>
        </p:nvSpPr>
        <p:spPr>
          <a:xfrm>
            <a:off x="7064646" y="1838287"/>
            <a:ext cx="428628" cy="428663"/>
          </a:xfrm>
          <a:custGeom>
            <a:avLst/>
            <a:gdLst/>
            <a:ahLst/>
            <a:cxnLst/>
            <a:rect l="0" t="0" r="0" b="0"/>
            <a:pathLst>
              <a:path w="428628" h="428663">
                <a:moveTo>
                  <a:pt x="272094" y="171488"/>
                </a:moveTo>
                <a:lnTo>
                  <a:pt x="333378" y="171488"/>
                </a:lnTo>
                <a:cubicBezTo>
                  <a:pt x="343899" y="171488"/>
                  <a:pt x="352428" y="180017"/>
                  <a:pt x="352428" y="190538"/>
                </a:cubicBezTo>
                <a:lnTo>
                  <a:pt x="352428" y="428663"/>
                </a:lnTo>
                <a:lnTo>
                  <a:pt x="209553" y="428663"/>
                </a:lnTo>
                <a:lnTo>
                  <a:pt x="209553" y="271881"/>
                </a:lnTo>
                <a:moveTo>
                  <a:pt x="152403" y="295313"/>
                </a:moveTo>
                <a:lnTo>
                  <a:pt x="209553" y="295313"/>
                </a:lnTo>
                <a:lnTo>
                  <a:pt x="209553" y="295313"/>
                </a:lnTo>
                <a:lnTo>
                  <a:pt x="209553" y="428663"/>
                </a:lnTo>
                <a:lnTo>
                  <a:pt x="209553" y="428663"/>
                </a:lnTo>
                <a:lnTo>
                  <a:pt x="133353" y="428663"/>
                </a:lnTo>
                <a:lnTo>
                  <a:pt x="133353" y="428663"/>
                </a:lnTo>
                <a:lnTo>
                  <a:pt x="133353" y="314363"/>
                </a:lnTo>
                <a:cubicBezTo>
                  <a:pt x="133353" y="303842"/>
                  <a:pt x="141882" y="295313"/>
                  <a:pt x="152403" y="295313"/>
                </a:cubicBezTo>
                <a:close/>
                <a:moveTo>
                  <a:pt x="352428" y="295313"/>
                </a:moveTo>
                <a:lnTo>
                  <a:pt x="409578" y="295313"/>
                </a:lnTo>
                <a:cubicBezTo>
                  <a:pt x="420099" y="295313"/>
                  <a:pt x="428628" y="303842"/>
                  <a:pt x="428628" y="314363"/>
                </a:cubicBezTo>
                <a:lnTo>
                  <a:pt x="428628" y="428663"/>
                </a:lnTo>
                <a:lnTo>
                  <a:pt x="428628" y="428663"/>
                </a:lnTo>
                <a:lnTo>
                  <a:pt x="352428" y="428663"/>
                </a:lnTo>
                <a:lnTo>
                  <a:pt x="352428" y="428663"/>
                </a:lnTo>
                <a:lnTo>
                  <a:pt x="352428" y="295313"/>
                </a:lnTo>
                <a:close/>
                <a:moveTo>
                  <a:pt x="124495" y="226675"/>
                </a:moveTo>
                <a:lnTo>
                  <a:pt x="135029" y="222675"/>
                </a:lnTo>
                <a:cubicBezTo>
                  <a:pt x="185131" y="203625"/>
                  <a:pt x="228603" y="155543"/>
                  <a:pt x="228603" y="101936"/>
                </a:cubicBezTo>
                <a:lnTo>
                  <a:pt x="228603" y="37299"/>
                </a:lnTo>
                <a:cubicBezTo>
                  <a:pt x="228606" y="29376"/>
                  <a:pt x="223907" y="22207"/>
                  <a:pt x="216640" y="19050"/>
                </a:cubicBezTo>
                <a:cubicBezTo>
                  <a:pt x="183759" y="6762"/>
                  <a:pt x="148984" y="315"/>
                  <a:pt x="113884" y="0"/>
                </a:cubicBezTo>
                <a:cubicBezTo>
                  <a:pt x="79055" y="297"/>
                  <a:pt x="44552" y="6746"/>
                  <a:pt x="11966" y="19050"/>
                </a:cubicBezTo>
                <a:cubicBezTo>
                  <a:pt x="4699" y="22207"/>
                  <a:pt x="0" y="29376"/>
                  <a:pt x="3" y="37299"/>
                </a:cubicBezTo>
                <a:lnTo>
                  <a:pt x="3" y="101955"/>
                </a:lnTo>
                <a:cubicBezTo>
                  <a:pt x="3" y="155562"/>
                  <a:pt x="42637" y="203606"/>
                  <a:pt x="92738" y="222694"/>
                </a:cubicBezTo>
                <a:lnTo>
                  <a:pt x="103273" y="226694"/>
                </a:lnTo>
                <a:cubicBezTo>
                  <a:pt x="110109" y="229298"/>
                  <a:pt x="117664" y="229292"/>
                  <a:pt x="124495" y="226675"/>
                </a:cubicBezTo>
                <a:close/>
                <a:moveTo>
                  <a:pt x="171453" y="61950"/>
                </a:moveTo>
                <a:lnTo>
                  <a:pt x="104359" y="142455"/>
                </a:lnTo>
                <a:cubicBezTo>
                  <a:pt x="101930" y="145386"/>
                  <a:pt x="97626" y="145889"/>
                  <a:pt x="94586" y="143598"/>
                </a:cubicBezTo>
                <a:lnTo>
                  <a:pt x="71441" y="126244"/>
                </a:lnTo>
                <a:moveTo>
                  <a:pt x="265617" y="295313"/>
                </a:moveTo>
                <a:lnTo>
                  <a:pt x="296364" y="295313"/>
                </a:lnTo>
                <a:moveTo>
                  <a:pt x="265617" y="228638"/>
                </a:moveTo>
                <a:lnTo>
                  <a:pt x="296364" y="228638"/>
                </a:lnTo>
                <a:moveTo>
                  <a:pt x="265617" y="361988"/>
                </a:moveTo>
                <a:lnTo>
                  <a:pt x="296364" y="361988"/>
                </a:lnTo>
                <a:moveTo>
                  <a:pt x="352428" y="341623"/>
                </a:moveTo>
                <a:lnTo>
                  <a:pt x="383194" y="341623"/>
                </a:lnTo>
                <a:moveTo>
                  <a:pt x="171453" y="341623"/>
                </a:moveTo>
                <a:lnTo>
                  <a:pt x="202219" y="341623"/>
                </a:lnTo>
                <a:moveTo>
                  <a:pt x="352428" y="384924"/>
                </a:moveTo>
                <a:lnTo>
                  <a:pt x="383194" y="384924"/>
                </a:lnTo>
                <a:moveTo>
                  <a:pt x="178787" y="384924"/>
                </a:moveTo>
                <a:lnTo>
                  <a:pt x="209553" y="384924"/>
                </a:lnTo>
              </a:path>
            </a:pathLst>
          </a:custGeom>
          <a:noFill/>
          <a:ln w="14287">
            <a:solidFill>
              <a:srgbClr val="484848"/>
            </a:solidFill>
          </a:ln>
        </p:spPr>
        <p:txBody>
          <a:bodyPr rtlCol="0" anchor="ctr"/>
          <a:lstStyle/>
          <a:p>
            <a:pPr algn="ctr"/>
            <a:endParaRPr/>
          </a:p>
        </p:txBody>
      </p:sp>
      <p:sp>
        <p:nvSpPr>
          <p:cNvPr id="24" name="Rounded Rectangle 20">
            <a:extLst>
              <a:ext uri="{FF2B5EF4-FFF2-40B4-BE49-F238E27FC236}">
                <a16:creationId xmlns="" xmlns:a16="http://schemas.microsoft.com/office/drawing/2014/main" id="{0CC5A44F-44BC-4A0A-A739-C12E4452DBFE}"/>
              </a:ext>
            </a:extLst>
          </p:cNvPr>
          <p:cNvSpPr/>
          <p:nvPr/>
        </p:nvSpPr>
        <p:spPr>
          <a:xfrm>
            <a:off x="1583013" y="3957676"/>
            <a:ext cx="419100" cy="419100"/>
          </a:xfrm>
          <a:custGeom>
            <a:avLst/>
            <a:gdLst/>
            <a:ahLst/>
            <a:cxnLst/>
            <a:rect l="0" t="0" r="0" b="0"/>
            <a:pathLst>
              <a:path w="419100" h="419100">
                <a:moveTo>
                  <a:pt x="209550" y="0"/>
                </a:moveTo>
                <a:lnTo>
                  <a:pt x="209550" y="85725"/>
                </a:lnTo>
                <a:moveTo>
                  <a:pt x="0" y="209549"/>
                </a:moveTo>
                <a:lnTo>
                  <a:pt x="85725" y="209549"/>
                </a:lnTo>
                <a:moveTo>
                  <a:pt x="209550" y="419100"/>
                </a:moveTo>
                <a:lnTo>
                  <a:pt x="209550" y="333375"/>
                </a:lnTo>
                <a:moveTo>
                  <a:pt x="419100" y="209549"/>
                </a:moveTo>
                <a:lnTo>
                  <a:pt x="333375" y="209549"/>
                </a:lnTo>
                <a:moveTo>
                  <a:pt x="57150" y="209549"/>
                </a:moveTo>
                <a:cubicBezTo>
                  <a:pt x="57150" y="293718"/>
                  <a:pt x="125381" y="361950"/>
                  <a:pt x="209550" y="361950"/>
                </a:cubicBezTo>
                <a:cubicBezTo>
                  <a:pt x="293718" y="361950"/>
                  <a:pt x="361950" y="293718"/>
                  <a:pt x="361950" y="209549"/>
                </a:cubicBezTo>
                <a:cubicBezTo>
                  <a:pt x="361950" y="125381"/>
                  <a:pt x="293718" y="57150"/>
                  <a:pt x="209550" y="57150"/>
                </a:cubicBezTo>
                <a:cubicBezTo>
                  <a:pt x="125381" y="57150"/>
                  <a:pt x="57150" y="125381"/>
                  <a:pt x="57150" y="209549"/>
                </a:cubicBezTo>
                <a:close/>
                <a:moveTo>
                  <a:pt x="209550" y="133350"/>
                </a:moveTo>
                <a:lnTo>
                  <a:pt x="209550" y="152400"/>
                </a:lnTo>
                <a:moveTo>
                  <a:pt x="238125" y="152361"/>
                </a:moveTo>
                <a:lnTo>
                  <a:pt x="199396" y="152361"/>
                </a:lnTo>
                <a:cubicBezTo>
                  <a:pt x="187154" y="152370"/>
                  <a:pt x="176636" y="161056"/>
                  <a:pt x="174313" y="173075"/>
                </a:cubicBezTo>
                <a:cubicBezTo>
                  <a:pt x="171990" y="185095"/>
                  <a:pt x="178514" y="197074"/>
                  <a:pt x="189871" y="201644"/>
                </a:cubicBezTo>
                <a:lnTo>
                  <a:pt x="229190" y="217360"/>
                </a:lnTo>
                <a:cubicBezTo>
                  <a:pt x="240574" y="221914"/>
                  <a:pt x="247121" y="233908"/>
                  <a:pt x="244796" y="245946"/>
                </a:cubicBezTo>
                <a:cubicBezTo>
                  <a:pt x="242470" y="257984"/>
                  <a:pt x="231926" y="266676"/>
                  <a:pt x="219665" y="266661"/>
                </a:cubicBezTo>
                <a:lnTo>
                  <a:pt x="180975" y="266661"/>
                </a:lnTo>
                <a:moveTo>
                  <a:pt x="209550" y="266699"/>
                </a:moveTo>
                <a:lnTo>
                  <a:pt x="209550" y="285750"/>
                </a:lnTo>
              </a:path>
            </a:pathLst>
          </a:custGeom>
          <a:noFill/>
          <a:ln w="14287">
            <a:solidFill>
              <a:srgbClr val="484848"/>
            </a:solidFill>
          </a:ln>
        </p:spPr>
        <p:txBody>
          <a:bodyPr rtlCol="0" anchor="ctr"/>
          <a:lstStyle/>
          <a:p>
            <a:pPr algn="ctr"/>
            <a:endParaRPr/>
          </a:p>
        </p:txBody>
      </p:sp>
      <p:sp>
        <p:nvSpPr>
          <p:cNvPr id="25" name="Rounded Rectangle 21">
            <a:extLst>
              <a:ext uri="{FF2B5EF4-FFF2-40B4-BE49-F238E27FC236}">
                <a16:creationId xmlns="" xmlns:a16="http://schemas.microsoft.com/office/drawing/2014/main" id="{3756C0E2-4D3C-4EDF-A0C3-091BA653EAA0}"/>
              </a:ext>
            </a:extLst>
          </p:cNvPr>
          <p:cNvSpPr/>
          <p:nvPr/>
        </p:nvSpPr>
        <p:spPr>
          <a:xfrm>
            <a:off x="7107513" y="3995738"/>
            <a:ext cx="447675" cy="447675"/>
          </a:xfrm>
          <a:custGeom>
            <a:avLst/>
            <a:gdLst/>
            <a:ahLst/>
            <a:cxnLst/>
            <a:rect l="0" t="0" r="0" b="0"/>
            <a:pathLst>
              <a:path w="447675" h="447675">
                <a:moveTo>
                  <a:pt x="47625" y="336804"/>
                </a:moveTo>
                <a:lnTo>
                  <a:pt x="47625" y="447675"/>
                </a:lnTo>
                <a:lnTo>
                  <a:pt x="180975" y="447675"/>
                </a:lnTo>
                <a:lnTo>
                  <a:pt x="180975" y="336804"/>
                </a:lnTo>
                <a:moveTo>
                  <a:pt x="0" y="0"/>
                </a:moveTo>
                <a:moveTo>
                  <a:pt x="9525" y="371475"/>
                </a:moveTo>
                <a:lnTo>
                  <a:pt x="101536" y="287845"/>
                </a:lnTo>
                <a:cubicBezTo>
                  <a:pt x="108787" y="281301"/>
                  <a:pt x="119812" y="281301"/>
                  <a:pt x="127063" y="287845"/>
                </a:cubicBezTo>
                <a:lnTo>
                  <a:pt x="219075" y="371475"/>
                </a:lnTo>
                <a:moveTo>
                  <a:pt x="238125" y="104775"/>
                </a:moveTo>
                <a:lnTo>
                  <a:pt x="238125" y="9525"/>
                </a:lnTo>
                <a:lnTo>
                  <a:pt x="142875" y="9525"/>
                </a:lnTo>
                <a:moveTo>
                  <a:pt x="9525" y="238125"/>
                </a:moveTo>
                <a:lnTo>
                  <a:pt x="238125" y="9525"/>
                </a:lnTo>
                <a:moveTo>
                  <a:pt x="447675" y="447675"/>
                </a:moveTo>
                <a:lnTo>
                  <a:pt x="180975" y="447675"/>
                </a:lnTo>
                <a:moveTo>
                  <a:pt x="200025" y="285750"/>
                </a:moveTo>
                <a:lnTo>
                  <a:pt x="200025" y="161925"/>
                </a:lnTo>
                <a:cubicBezTo>
                  <a:pt x="200025" y="156664"/>
                  <a:pt x="204289" y="152400"/>
                  <a:pt x="209550" y="152400"/>
                </a:cubicBezTo>
                <a:lnTo>
                  <a:pt x="285750" y="152400"/>
                </a:lnTo>
                <a:cubicBezTo>
                  <a:pt x="291010" y="152400"/>
                  <a:pt x="295275" y="156664"/>
                  <a:pt x="295275" y="161925"/>
                </a:cubicBezTo>
                <a:lnTo>
                  <a:pt x="295275" y="447675"/>
                </a:lnTo>
                <a:moveTo>
                  <a:pt x="352425" y="447675"/>
                </a:moveTo>
                <a:lnTo>
                  <a:pt x="352425" y="38100"/>
                </a:lnTo>
                <a:cubicBezTo>
                  <a:pt x="352425" y="32839"/>
                  <a:pt x="356689" y="28575"/>
                  <a:pt x="361950" y="28575"/>
                </a:cubicBezTo>
                <a:lnTo>
                  <a:pt x="438150" y="28575"/>
                </a:lnTo>
                <a:cubicBezTo>
                  <a:pt x="443410" y="28575"/>
                  <a:pt x="447675" y="32839"/>
                  <a:pt x="447675" y="38100"/>
                </a:cubicBezTo>
                <a:lnTo>
                  <a:pt x="447675" y="447675"/>
                </a:lnTo>
              </a:path>
            </a:pathLst>
          </a:custGeom>
          <a:noFill/>
          <a:ln w="14287">
            <a:solidFill>
              <a:srgbClr val="484848"/>
            </a:solidFill>
          </a:ln>
        </p:spPr>
        <p:txBody>
          <a:bodyPr rtlCol="0" anchor="ctr"/>
          <a:lstStyle/>
          <a:p>
            <a:pPr algn="ctr"/>
            <a:endParaRPr/>
          </a:p>
        </p:txBody>
      </p:sp>
    </p:spTree>
    <p:extLst>
      <p:ext uri="{BB962C8B-B14F-4D97-AF65-F5344CB8AC3E}">
        <p14:creationId xmlns:p14="http://schemas.microsoft.com/office/powerpoint/2010/main" val="1708858962"/>
      </p:ext>
    </p:extLst>
  </p:cSld>
  <p:clrMapOvr>
    <a:masterClrMapping/>
  </p:clrMapOvr>
  <p:transition spd="slow" advTm="40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200657" y="4556074"/>
            <a:ext cx="2375015" cy="1625552"/>
          </a:xfrm>
          <a:custGeom>
            <a:avLst/>
            <a:gdLst/>
            <a:ahLst/>
            <a:cxnLst/>
            <a:rect l="0" t="0" r="0" b="0"/>
            <a:pathLst>
              <a:path w="2375015" h="1625552">
                <a:moveTo>
                  <a:pt x="1187507" y="1625552"/>
                </a:moveTo>
                <a:cubicBezTo>
                  <a:pt x="1843351" y="1625552"/>
                  <a:pt x="2375015" y="1317808"/>
                  <a:pt x="2375015" y="938194"/>
                </a:cubicBezTo>
                <a:lnTo>
                  <a:pt x="2375015" y="687365"/>
                </a:lnTo>
                <a:cubicBezTo>
                  <a:pt x="2375015" y="730197"/>
                  <a:pt x="2368251" y="772113"/>
                  <a:pt x="2355299" y="812779"/>
                </a:cubicBezTo>
                <a:cubicBezTo>
                  <a:pt x="2253459" y="1132514"/>
                  <a:pt x="1769352" y="1374723"/>
                  <a:pt x="1187507" y="1374723"/>
                </a:cubicBezTo>
                <a:cubicBezTo>
                  <a:pt x="605663" y="1374723"/>
                  <a:pt x="121555" y="1132514"/>
                  <a:pt x="19723" y="812779"/>
                </a:cubicBezTo>
                <a:cubicBezTo>
                  <a:pt x="6771" y="772113"/>
                  <a:pt x="0" y="730197"/>
                  <a:pt x="0" y="687365"/>
                </a:cubicBezTo>
                <a:lnTo>
                  <a:pt x="0" y="938194"/>
                </a:lnTo>
                <a:cubicBezTo>
                  <a:pt x="0" y="1317808"/>
                  <a:pt x="531663" y="1625552"/>
                  <a:pt x="1187507" y="1625552"/>
                </a:cubicBezTo>
                <a:moveTo>
                  <a:pt x="19723" y="812779"/>
                </a:moveTo>
                <a:cubicBezTo>
                  <a:pt x="121555" y="1132514"/>
                  <a:pt x="605663" y="1374723"/>
                  <a:pt x="1187507" y="1374723"/>
                </a:cubicBezTo>
                <a:cubicBezTo>
                  <a:pt x="1769352" y="1374723"/>
                  <a:pt x="2253459" y="1132514"/>
                  <a:pt x="2355299" y="812779"/>
                </a:cubicBezTo>
                <a:cubicBezTo>
                  <a:pt x="2368251" y="772113"/>
                  <a:pt x="2375015" y="730197"/>
                  <a:pt x="2375015" y="687365"/>
                </a:cubicBezTo>
                <a:cubicBezTo>
                  <a:pt x="2375015" y="542043"/>
                  <a:pt x="2297105" y="407247"/>
                  <a:pt x="2164143" y="296226"/>
                </a:cubicBezTo>
                <a:cubicBezTo>
                  <a:pt x="2146371" y="342954"/>
                  <a:pt x="2118849" y="387561"/>
                  <a:pt x="2082876" y="429299"/>
                </a:cubicBezTo>
                <a:cubicBezTo>
                  <a:pt x="2149845" y="506994"/>
                  <a:pt x="2187518" y="594633"/>
                  <a:pt x="2187518" y="687365"/>
                </a:cubicBezTo>
                <a:cubicBezTo>
                  <a:pt x="2187518" y="730427"/>
                  <a:pt x="2179393" y="772394"/>
                  <a:pt x="2163980" y="812779"/>
                </a:cubicBezTo>
                <a:cubicBezTo>
                  <a:pt x="2064994" y="1072161"/>
                  <a:pt x="1665398" y="1266193"/>
                  <a:pt x="1187507" y="1266193"/>
                </a:cubicBezTo>
                <a:cubicBezTo>
                  <a:pt x="709624" y="1266193"/>
                  <a:pt x="310028" y="1072161"/>
                  <a:pt x="211042" y="812779"/>
                </a:cubicBezTo>
                <a:cubicBezTo>
                  <a:pt x="195628" y="772394"/>
                  <a:pt x="187504" y="730427"/>
                  <a:pt x="187504" y="687365"/>
                </a:cubicBezTo>
                <a:cubicBezTo>
                  <a:pt x="187504" y="594633"/>
                  <a:pt x="225176" y="506994"/>
                  <a:pt x="292145" y="429299"/>
                </a:cubicBezTo>
                <a:cubicBezTo>
                  <a:pt x="256166" y="387561"/>
                  <a:pt x="228643" y="342954"/>
                  <a:pt x="210879" y="296226"/>
                </a:cubicBezTo>
                <a:cubicBezTo>
                  <a:pt x="77909" y="407247"/>
                  <a:pt x="0" y="542043"/>
                  <a:pt x="0" y="687365"/>
                </a:cubicBezTo>
                <a:cubicBezTo>
                  <a:pt x="0" y="730197"/>
                  <a:pt x="6771" y="772113"/>
                  <a:pt x="19723" y="812779"/>
                </a:cubicBezTo>
                <a:moveTo>
                  <a:pt x="187504" y="687365"/>
                </a:moveTo>
                <a:cubicBezTo>
                  <a:pt x="187504" y="594633"/>
                  <a:pt x="225176" y="506994"/>
                  <a:pt x="292145" y="429299"/>
                </a:cubicBezTo>
                <a:cubicBezTo>
                  <a:pt x="331400" y="474844"/>
                  <a:pt x="380730" y="516974"/>
                  <a:pt x="438436" y="554713"/>
                </a:cubicBezTo>
                <a:cubicBezTo>
                  <a:pt x="328006" y="626931"/>
                  <a:pt x="248263" y="715235"/>
                  <a:pt x="211042" y="812779"/>
                </a:cubicBezTo>
                <a:cubicBezTo>
                  <a:pt x="195628" y="772394"/>
                  <a:pt x="187504" y="730427"/>
                  <a:pt x="187504" y="687365"/>
                </a:cubicBezTo>
                <a:moveTo>
                  <a:pt x="1187507" y="108529"/>
                </a:moveTo>
                <a:cubicBezTo>
                  <a:pt x="956882" y="108529"/>
                  <a:pt x="744487" y="153720"/>
                  <a:pt x="575316" y="229641"/>
                </a:cubicBezTo>
                <a:cubicBezTo>
                  <a:pt x="677866" y="297608"/>
                  <a:pt x="813652" y="348336"/>
                  <a:pt x="968001" y="373352"/>
                </a:cubicBezTo>
                <a:cubicBezTo>
                  <a:pt x="1038636" y="364193"/>
                  <a:pt x="1112096" y="359358"/>
                  <a:pt x="1187507" y="359358"/>
                </a:cubicBezTo>
                <a:cubicBezTo>
                  <a:pt x="1262918" y="359358"/>
                  <a:pt x="1336385" y="364193"/>
                  <a:pt x="1407029" y="373352"/>
                </a:cubicBezTo>
                <a:cubicBezTo>
                  <a:pt x="1561377" y="348343"/>
                  <a:pt x="1697156" y="297608"/>
                  <a:pt x="1799713" y="229641"/>
                </a:cubicBezTo>
                <a:cubicBezTo>
                  <a:pt x="1630534" y="153727"/>
                  <a:pt x="1418140" y="108529"/>
                  <a:pt x="1187507" y="108529"/>
                </a:cubicBezTo>
                <a:moveTo>
                  <a:pt x="1187507" y="0"/>
                </a:moveTo>
                <a:cubicBezTo>
                  <a:pt x="917428" y="0"/>
                  <a:pt x="668411" y="52183"/>
                  <a:pt x="468908" y="140088"/>
                </a:cubicBezTo>
                <a:cubicBezTo>
                  <a:pt x="498397" y="172349"/>
                  <a:pt x="534184" y="202378"/>
                  <a:pt x="575316" y="229641"/>
                </a:cubicBezTo>
                <a:cubicBezTo>
                  <a:pt x="744487" y="153720"/>
                  <a:pt x="956882" y="108529"/>
                  <a:pt x="1187507" y="108529"/>
                </a:cubicBezTo>
                <a:cubicBezTo>
                  <a:pt x="1418140" y="108529"/>
                  <a:pt x="1630534" y="153727"/>
                  <a:pt x="1799713" y="229641"/>
                </a:cubicBezTo>
                <a:cubicBezTo>
                  <a:pt x="1840845" y="202385"/>
                  <a:pt x="1876632" y="172349"/>
                  <a:pt x="1906121" y="140095"/>
                </a:cubicBezTo>
                <a:cubicBezTo>
                  <a:pt x="1706618" y="52191"/>
                  <a:pt x="1457593" y="0"/>
                  <a:pt x="1187507" y="0"/>
                </a:cubicBezTo>
                <a:moveTo>
                  <a:pt x="2163980" y="812779"/>
                </a:moveTo>
                <a:cubicBezTo>
                  <a:pt x="2126751" y="715235"/>
                  <a:pt x="2047015" y="626931"/>
                  <a:pt x="1936586" y="554713"/>
                </a:cubicBezTo>
                <a:cubicBezTo>
                  <a:pt x="1994292" y="516974"/>
                  <a:pt x="2043615" y="474844"/>
                  <a:pt x="2082876" y="429299"/>
                </a:cubicBezTo>
                <a:cubicBezTo>
                  <a:pt x="2149845" y="506994"/>
                  <a:pt x="2187518" y="594633"/>
                  <a:pt x="2187518" y="687365"/>
                </a:cubicBezTo>
                <a:cubicBezTo>
                  <a:pt x="2187518" y="730427"/>
                  <a:pt x="2179393" y="772394"/>
                  <a:pt x="2163980" y="812779"/>
                </a:cubicBezTo>
              </a:path>
            </a:pathLst>
          </a:custGeom>
          <a:solidFill>
            <a:srgbClr val="3CC583"/>
          </a:solidFill>
          <a:ln>
            <a:noFill/>
          </a:ln>
        </p:spPr>
        <p:txBody>
          <a:bodyPr rtlCol="0" anchor="ctr"/>
          <a:lstStyle/>
          <a:p>
            <a:pPr algn="ctr"/>
            <a:endParaRPr/>
          </a:p>
        </p:txBody>
      </p:sp>
      <p:sp>
        <p:nvSpPr>
          <p:cNvPr id="3" name="Rounded Rectangle 2"/>
          <p:cNvSpPr/>
          <p:nvPr/>
        </p:nvSpPr>
        <p:spPr>
          <a:xfrm>
            <a:off x="5200657" y="4556074"/>
            <a:ext cx="2375018" cy="1625554"/>
          </a:xfrm>
          <a:custGeom>
            <a:avLst/>
            <a:gdLst/>
            <a:ahLst/>
            <a:cxnLst/>
            <a:rect l="0" t="0" r="0" b="0"/>
            <a:pathLst>
              <a:path w="2375018" h="1625554">
                <a:moveTo>
                  <a:pt x="1187509" y="1625554"/>
                </a:moveTo>
                <a:cubicBezTo>
                  <a:pt x="1843352" y="1625554"/>
                  <a:pt x="2375018" y="1317811"/>
                  <a:pt x="2375018" y="938191"/>
                </a:cubicBezTo>
                <a:lnTo>
                  <a:pt x="2375018" y="687362"/>
                </a:lnTo>
                <a:cubicBezTo>
                  <a:pt x="2375018" y="730195"/>
                  <a:pt x="2368249" y="772113"/>
                  <a:pt x="2355297" y="812776"/>
                </a:cubicBezTo>
                <a:cubicBezTo>
                  <a:pt x="2253461" y="1132510"/>
                  <a:pt x="1769352" y="1374725"/>
                  <a:pt x="1187509" y="1374725"/>
                </a:cubicBezTo>
                <a:cubicBezTo>
                  <a:pt x="605665" y="1374725"/>
                  <a:pt x="121557" y="1132510"/>
                  <a:pt x="19720" y="812776"/>
                </a:cubicBezTo>
                <a:cubicBezTo>
                  <a:pt x="6768" y="772113"/>
                  <a:pt x="0" y="730195"/>
                  <a:pt x="0" y="687362"/>
                </a:cubicBezTo>
                <a:lnTo>
                  <a:pt x="0" y="938191"/>
                </a:lnTo>
                <a:cubicBezTo>
                  <a:pt x="0" y="1317811"/>
                  <a:pt x="531666" y="1625554"/>
                  <a:pt x="1187509" y="1625554"/>
                </a:cubicBezTo>
                <a:close/>
                <a:moveTo>
                  <a:pt x="19720" y="812776"/>
                </a:moveTo>
                <a:cubicBezTo>
                  <a:pt x="121557" y="1132510"/>
                  <a:pt x="605665" y="1374725"/>
                  <a:pt x="1187509" y="1374725"/>
                </a:cubicBezTo>
                <a:cubicBezTo>
                  <a:pt x="1769352" y="1374725"/>
                  <a:pt x="2253461" y="1132510"/>
                  <a:pt x="2355297" y="812776"/>
                </a:cubicBezTo>
                <a:cubicBezTo>
                  <a:pt x="2368249" y="772113"/>
                  <a:pt x="2375018" y="730195"/>
                  <a:pt x="2375018" y="687362"/>
                </a:cubicBezTo>
                <a:cubicBezTo>
                  <a:pt x="2375018" y="542040"/>
                  <a:pt x="2297105" y="407250"/>
                  <a:pt x="2164140" y="296226"/>
                </a:cubicBezTo>
                <a:cubicBezTo>
                  <a:pt x="2146372" y="342951"/>
                  <a:pt x="2118850" y="387559"/>
                  <a:pt x="2082874" y="429299"/>
                </a:cubicBezTo>
                <a:cubicBezTo>
                  <a:pt x="2149842" y="506995"/>
                  <a:pt x="2187515" y="594633"/>
                  <a:pt x="2187515" y="687364"/>
                </a:cubicBezTo>
                <a:cubicBezTo>
                  <a:pt x="2187515" y="730429"/>
                  <a:pt x="2179390" y="772395"/>
                  <a:pt x="2163979" y="812779"/>
                </a:cubicBezTo>
                <a:cubicBezTo>
                  <a:pt x="2064990" y="1072163"/>
                  <a:pt x="1665396" y="1266195"/>
                  <a:pt x="1187509" y="1266195"/>
                </a:cubicBezTo>
                <a:cubicBezTo>
                  <a:pt x="709621" y="1266195"/>
                  <a:pt x="310027" y="1072163"/>
                  <a:pt x="211039" y="812779"/>
                </a:cubicBezTo>
                <a:cubicBezTo>
                  <a:pt x="195627" y="772395"/>
                  <a:pt x="187502" y="730429"/>
                  <a:pt x="187502" y="687364"/>
                </a:cubicBezTo>
                <a:cubicBezTo>
                  <a:pt x="187502" y="594633"/>
                  <a:pt x="225175" y="506995"/>
                  <a:pt x="292144" y="429299"/>
                </a:cubicBezTo>
                <a:cubicBezTo>
                  <a:pt x="256167" y="387559"/>
                  <a:pt x="228646" y="342951"/>
                  <a:pt x="210878" y="296226"/>
                </a:cubicBezTo>
                <a:cubicBezTo>
                  <a:pt x="77912" y="407250"/>
                  <a:pt x="0" y="542040"/>
                  <a:pt x="0" y="687362"/>
                </a:cubicBezTo>
                <a:cubicBezTo>
                  <a:pt x="0" y="730195"/>
                  <a:pt x="6768" y="772113"/>
                  <a:pt x="19720" y="812776"/>
                </a:cubicBezTo>
                <a:close/>
                <a:moveTo>
                  <a:pt x="187502" y="687364"/>
                </a:moveTo>
                <a:cubicBezTo>
                  <a:pt x="187502" y="594633"/>
                  <a:pt x="225175" y="506995"/>
                  <a:pt x="292144" y="429299"/>
                </a:cubicBezTo>
                <a:cubicBezTo>
                  <a:pt x="331401" y="474845"/>
                  <a:pt x="380727" y="516976"/>
                  <a:pt x="438432" y="554713"/>
                </a:cubicBezTo>
                <a:cubicBezTo>
                  <a:pt x="328004" y="626930"/>
                  <a:pt x="248265" y="715233"/>
                  <a:pt x="211039" y="812779"/>
                </a:cubicBezTo>
                <a:cubicBezTo>
                  <a:pt x="195627" y="772395"/>
                  <a:pt x="187502" y="730429"/>
                  <a:pt x="187502" y="687364"/>
                </a:cubicBezTo>
                <a:close/>
                <a:moveTo>
                  <a:pt x="1187509" y="108533"/>
                </a:moveTo>
                <a:cubicBezTo>
                  <a:pt x="956881" y="108533"/>
                  <a:pt x="744488" y="153723"/>
                  <a:pt x="575317" y="229641"/>
                </a:cubicBezTo>
                <a:cubicBezTo>
                  <a:pt x="677868" y="297606"/>
                  <a:pt x="813652" y="348340"/>
                  <a:pt x="968001" y="373351"/>
                </a:cubicBezTo>
                <a:cubicBezTo>
                  <a:pt x="1038638" y="364193"/>
                  <a:pt x="1112099" y="359362"/>
                  <a:pt x="1187509" y="359362"/>
                </a:cubicBezTo>
                <a:cubicBezTo>
                  <a:pt x="1262921" y="359362"/>
                  <a:pt x="1336385" y="364194"/>
                  <a:pt x="1407026" y="373351"/>
                </a:cubicBezTo>
                <a:cubicBezTo>
                  <a:pt x="1561374" y="348342"/>
                  <a:pt x="1697158" y="297610"/>
                  <a:pt x="1799710" y="229644"/>
                </a:cubicBezTo>
                <a:cubicBezTo>
                  <a:pt x="1630537" y="153725"/>
                  <a:pt x="1418141" y="108533"/>
                  <a:pt x="1187509" y="108533"/>
                </a:cubicBezTo>
                <a:close/>
                <a:moveTo>
                  <a:pt x="1187509" y="0"/>
                </a:moveTo>
                <a:cubicBezTo>
                  <a:pt x="917430" y="0"/>
                  <a:pt x="668411" y="52187"/>
                  <a:pt x="468906" y="140090"/>
                </a:cubicBezTo>
                <a:cubicBezTo>
                  <a:pt x="498399" y="172348"/>
                  <a:pt x="534185" y="202380"/>
                  <a:pt x="575317" y="229641"/>
                </a:cubicBezTo>
                <a:cubicBezTo>
                  <a:pt x="744488" y="153723"/>
                  <a:pt x="956881" y="108533"/>
                  <a:pt x="1187509" y="108533"/>
                </a:cubicBezTo>
                <a:cubicBezTo>
                  <a:pt x="1418141" y="108533"/>
                  <a:pt x="1630537" y="153725"/>
                  <a:pt x="1799710" y="229644"/>
                </a:cubicBezTo>
                <a:cubicBezTo>
                  <a:pt x="1840843" y="202384"/>
                  <a:pt x="1876629" y="172352"/>
                  <a:pt x="1906122" y="140095"/>
                </a:cubicBezTo>
                <a:cubicBezTo>
                  <a:pt x="1706616" y="52189"/>
                  <a:pt x="1457592" y="0"/>
                  <a:pt x="1187509" y="0"/>
                </a:cubicBezTo>
                <a:close/>
                <a:moveTo>
                  <a:pt x="2163979" y="812779"/>
                </a:moveTo>
                <a:cubicBezTo>
                  <a:pt x="2126753" y="715233"/>
                  <a:pt x="2047013" y="626930"/>
                  <a:pt x="1936585" y="554713"/>
                </a:cubicBezTo>
                <a:cubicBezTo>
                  <a:pt x="1994290" y="516976"/>
                  <a:pt x="2043616" y="474845"/>
                  <a:pt x="2082874" y="429299"/>
                </a:cubicBezTo>
                <a:cubicBezTo>
                  <a:pt x="2149842" y="506995"/>
                  <a:pt x="2187515" y="594633"/>
                  <a:pt x="2187515" y="687364"/>
                </a:cubicBezTo>
                <a:cubicBezTo>
                  <a:pt x="2187515" y="730429"/>
                  <a:pt x="2179390" y="772395"/>
                  <a:pt x="2163979" y="812779"/>
                </a:cubicBezTo>
                <a:close/>
              </a:path>
            </a:pathLst>
          </a:custGeom>
          <a:noFill/>
          <a:ln w="11088">
            <a:solidFill>
              <a:srgbClr val="FFFFFF"/>
            </a:solidFill>
          </a:ln>
        </p:spPr>
        <p:txBody>
          <a:bodyPr rtlCol="0" anchor="ctr"/>
          <a:lstStyle/>
          <a:p>
            <a:pPr algn="ctr"/>
            <a:endParaRPr/>
          </a:p>
        </p:txBody>
      </p:sp>
      <p:sp>
        <p:nvSpPr>
          <p:cNvPr id="4" name="Rounded Rectangle 3"/>
          <p:cNvSpPr/>
          <p:nvPr/>
        </p:nvSpPr>
        <p:spPr>
          <a:xfrm>
            <a:off x="5389051" y="3898369"/>
            <a:ext cx="2000014" cy="1408492"/>
          </a:xfrm>
          <a:custGeom>
            <a:avLst/>
            <a:gdLst/>
            <a:ahLst/>
            <a:cxnLst/>
            <a:rect l="0" t="0" r="0" b="0"/>
            <a:pathLst>
              <a:path w="2000014" h="1408492">
                <a:moveTo>
                  <a:pt x="1000003" y="1408492"/>
                </a:moveTo>
                <a:cubicBezTo>
                  <a:pt x="1552292" y="1408492"/>
                  <a:pt x="2000014" y="1149339"/>
                  <a:pt x="2000014" y="829664"/>
                </a:cubicBezTo>
                <a:lnTo>
                  <a:pt x="2000014" y="578835"/>
                </a:lnTo>
                <a:cubicBezTo>
                  <a:pt x="2000014" y="621897"/>
                  <a:pt x="1991889" y="663864"/>
                  <a:pt x="1976476" y="704250"/>
                </a:cubicBezTo>
                <a:cubicBezTo>
                  <a:pt x="1877490" y="963632"/>
                  <a:pt x="1477893" y="1157663"/>
                  <a:pt x="1000003" y="1157663"/>
                </a:cubicBezTo>
                <a:cubicBezTo>
                  <a:pt x="522120" y="1157663"/>
                  <a:pt x="122523" y="963632"/>
                  <a:pt x="23537" y="704250"/>
                </a:cubicBezTo>
                <a:cubicBezTo>
                  <a:pt x="8124" y="663864"/>
                  <a:pt x="0" y="621897"/>
                  <a:pt x="0" y="578835"/>
                </a:cubicBezTo>
                <a:lnTo>
                  <a:pt x="0" y="829664"/>
                </a:lnTo>
                <a:cubicBezTo>
                  <a:pt x="0" y="1149339"/>
                  <a:pt x="447714" y="1408492"/>
                  <a:pt x="1000003" y="1408492"/>
                </a:cubicBezTo>
                <a:moveTo>
                  <a:pt x="1000010" y="108537"/>
                </a:moveTo>
                <a:cubicBezTo>
                  <a:pt x="902968" y="108537"/>
                  <a:pt x="809896" y="118384"/>
                  <a:pt x="723618" y="136444"/>
                </a:cubicBezTo>
                <a:cubicBezTo>
                  <a:pt x="806954" y="160270"/>
                  <a:pt x="900780" y="173650"/>
                  <a:pt x="1000010" y="173650"/>
                </a:cubicBezTo>
                <a:cubicBezTo>
                  <a:pt x="1099248" y="173650"/>
                  <a:pt x="1193074" y="160270"/>
                  <a:pt x="1276410" y="136444"/>
                </a:cubicBezTo>
                <a:cubicBezTo>
                  <a:pt x="1190131" y="118384"/>
                  <a:pt x="1097059" y="108537"/>
                  <a:pt x="1000010" y="108537"/>
                </a:cubicBezTo>
                <a:moveTo>
                  <a:pt x="1783316" y="704250"/>
                </a:moveTo>
                <a:cubicBezTo>
                  <a:pt x="1732988" y="598706"/>
                  <a:pt x="1620688" y="508037"/>
                  <a:pt x="1470501" y="446191"/>
                </a:cubicBezTo>
                <a:cubicBezTo>
                  <a:pt x="1552839" y="412281"/>
                  <a:pt x="1623792" y="369708"/>
                  <a:pt x="1679384" y="320776"/>
                </a:cubicBezTo>
                <a:cubicBezTo>
                  <a:pt x="1763556" y="394857"/>
                  <a:pt x="1812524" y="483538"/>
                  <a:pt x="1812524" y="578835"/>
                </a:cubicBezTo>
                <a:cubicBezTo>
                  <a:pt x="1812524" y="622266"/>
                  <a:pt x="1802352" y="664322"/>
                  <a:pt x="1783316" y="704250"/>
                </a:cubicBezTo>
                <a:moveTo>
                  <a:pt x="187504" y="578835"/>
                </a:moveTo>
                <a:cubicBezTo>
                  <a:pt x="187504" y="483538"/>
                  <a:pt x="236472" y="394857"/>
                  <a:pt x="320643" y="320769"/>
                </a:cubicBezTo>
                <a:cubicBezTo>
                  <a:pt x="376235" y="369708"/>
                  <a:pt x="447189" y="412281"/>
                  <a:pt x="529527" y="446191"/>
                </a:cubicBezTo>
                <a:cubicBezTo>
                  <a:pt x="379340" y="508037"/>
                  <a:pt x="267040" y="598706"/>
                  <a:pt x="216712" y="704250"/>
                </a:cubicBezTo>
                <a:cubicBezTo>
                  <a:pt x="197676" y="664322"/>
                  <a:pt x="187504" y="622266"/>
                  <a:pt x="187504" y="578835"/>
                </a:cubicBezTo>
                <a:moveTo>
                  <a:pt x="723618" y="136444"/>
                </a:moveTo>
                <a:cubicBezTo>
                  <a:pt x="809896" y="118384"/>
                  <a:pt x="902968" y="108529"/>
                  <a:pt x="1000010" y="108529"/>
                </a:cubicBezTo>
                <a:cubicBezTo>
                  <a:pt x="1097059" y="108529"/>
                  <a:pt x="1190131" y="118384"/>
                  <a:pt x="1276410" y="136444"/>
                </a:cubicBezTo>
                <a:cubicBezTo>
                  <a:pt x="1342056" y="117681"/>
                  <a:pt x="1401188" y="92436"/>
                  <a:pt x="1451317" y="62163"/>
                </a:cubicBezTo>
                <a:cubicBezTo>
                  <a:pt x="1315731" y="22406"/>
                  <a:pt x="1162387" y="0"/>
                  <a:pt x="1000003" y="0"/>
                </a:cubicBezTo>
                <a:cubicBezTo>
                  <a:pt x="837626" y="0"/>
                  <a:pt x="684290" y="22399"/>
                  <a:pt x="548711" y="62156"/>
                </a:cubicBezTo>
                <a:cubicBezTo>
                  <a:pt x="598839" y="92436"/>
                  <a:pt x="657972" y="117681"/>
                  <a:pt x="723618" y="136444"/>
                </a:cubicBezTo>
                <a:moveTo>
                  <a:pt x="23537" y="704242"/>
                </a:moveTo>
                <a:cubicBezTo>
                  <a:pt x="122523" y="963632"/>
                  <a:pt x="522120" y="1157663"/>
                  <a:pt x="1000003" y="1157663"/>
                </a:cubicBezTo>
                <a:cubicBezTo>
                  <a:pt x="1477893" y="1157663"/>
                  <a:pt x="1877490" y="963632"/>
                  <a:pt x="1976476" y="704242"/>
                </a:cubicBezTo>
                <a:cubicBezTo>
                  <a:pt x="1991889" y="663864"/>
                  <a:pt x="2000014" y="621897"/>
                  <a:pt x="2000014" y="578828"/>
                </a:cubicBezTo>
                <a:cubicBezTo>
                  <a:pt x="2000014" y="438939"/>
                  <a:pt x="1914275" y="310634"/>
                  <a:pt x="1771555" y="210569"/>
                </a:cubicBezTo>
                <a:cubicBezTo>
                  <a:pt x="1749096" y="249852"/>
                  <a:pt x="1717936" y="286845"/>
                  <a:pt x="1679384" y="320769"/>
                </a:cubicBezTo>
                <a:cubicBezTo>
                  <a:pt x="1763556" y="394857"/>
                  <a:pt x="1812524" y="483538"/>
                  <a:pt x="1812524" y="578835"/>
                </a:cubicBezTo>
                <a:cubicBezTo>
                  <a:pt x="1812524" y="622266"/>
                  <a:pt x="1802352" y="664322"/>
                  <a:pt x="1783316" y="704250"/>
                </a:cubicBezTo>
                <a:cubicBezTo>
                  <a:pt x="1688499" y="903109"/>
                  <a:pt x="1373718" y="1049141"/>
                  <a:pt x="1000010" y="1049141"/>
                </a:cubicBezTo>
                <a:cubicBezTo>
                  <a:pt x="626310" y="1049141"/>
                  <a:pt x="311528" y="903109"/>
                  <a:pt x="216712" y="704250"/>
                </a:cubicBezTo>
                <a:cubicBezTo>
                  <a:pt x="197676" y="664322"/>
                  <a:pt x="187504" y="622266"/>
                  <a:pt x="187504" y="578835"/>
                </a:cubicBezTo>
                <a:cubicBezTo>
                  <a:pt x="187504" y="483538"/>
                  <a:pt x="236472" y="394857"/>
                  <a:pt x="320643" y="320769"/>
                </a:cubicBezTo>
                <a:cubicBezTo>
                  <a:pt x="282091" y="286837"/>
                  <a:pt x="250924" y="249845"/>
                  <a:pt x="228466" y="210561"/>
                </a:cubicBezTo>
                <a:cubicBezTo>
                  <a:pt x="85738" y="310627"/>
                  <a:pt x="0" y="438931"/>
                  <a:pt x="0" y="578828"/>
                </a:cubicBezTo>
                <a:cubicBezTo>
                  <a:pt x="0" y="621897"/>
                  <a:pt x="8124" y="663864"/>
                  <a:pt x="23537" y="704242"/>
                </a:cubicBezTo>
              </a:path>
            </a:pathLst>
          </a:custGeom>
          <a:solidFill>
            <a:srgbClr val="4E88E7"/>
          </a:solidFill>
          <a:ln>
            <a:noFill/>
          </a:ln>
        </p:spPr>
        <p:txBody>
          <a:bodyPr rtlCol="0" anchor="ctr"/>
          <a:lstStyle/>
          <a:p>
            <a:pPr algn="ctr"/>
            <a:endParaRPr/>
          </a:p>
        </p:txBody>
      </p:sp>
      <p:sp>
        <p:nvSpPr>
          <p:cNvPr id="5" name="Rounded Rectangle 4"/>
          <p:cNvSpPr/>
          <p:nvPr/>
        </p:nvSpPr>
        <p:spPr>
          <a:xfrm>
            <a:off x="5389051" y="3898369"/>
            <a:ext cx="2000013" cy="1408492"/>
          </a:xfrm>
          <a:custGeom>
            <a:avLst/>
            <a:gdLst/>
            <a:ahLst/>
            <a:cxnLst/>
            <a:rect l="0" t="0" r="0" b="0"/>
            <a:pathLst>
              <a:path w="2000013" h="1408492">
                <a:moveTo>
                  <a:pt x="1000006" y="1408492"/>
                </a:moveTo>
                <a:cubicBezTo>
                  <a:pt x="1552294" y="1408492"/>
                  <a:pt x="2000013" y="1149340"/>
                  <a:pt x="2000013" y="829661"/>
                </a:cubicBezTo>
                <a:lnTo>
                  <a:pt x="2000013" y="578832"/>
                </a:lnTo>
                <a:cubicBezTo>
                  <a:pt x="2000013" y="621897"/>
                  <a:pt x="1991888" y="663864"/>
                  <a:pt x="1976476" y="704246"/>
                </a:cubicBezTo>
                <a:cubicBezTo>
                  <a:pt x="1877487" y="963631"/>
                  <a:pt x="1477893" y="1157663"/>
                  <a:pt x="1000006" y="1157663"/>
                </a:cubicBezTo>
                <a:cubicBezTo>
                  <a:pt x="522118" y="1157663"/>
                  <a:pt x="122524" y="963631"/>
                  <a:pt x="23536" y="704246"/>
                </a:cubicBezTo>
                <a:cubicBezTo>
                  <a:pt x="8125" y="663864"/>
                  <a:pt x="0" y="621897"/>
                  <a:pt x="0" y="578832"/>
                </a:cubicBezTo>
                <a:lnTo>
                  <a:pt x="0" y="829661"/>
                </a:lnTo>
                <a:cubicBezTo>
                  <a:pt x="0" y="1149340"/>
                  <a:pt x="447717" y="1408492"/>
                  <a:pt x="1000006" y="1408492"/>
                </a:cubicBezTo>
                <a:close/>
                <a:moveTo>
                  <a:pt x="1000014" y="108534"/>
                </a:moveTo>
                <a:cubicBezTo>
                  <a:pt x="902969" y="108534"/>
                  <a:pt x="809898" y="118382"/>
                  <a:pt x="723619" y="136445"/>
                </a:cubicBezTo>
                <a:cubicBezTo>
                  <a:pt x="806953" y="160267"/>
                  <a:pt x="900783" y="173653"/>
                  <a:pt x="1000014" y="173653"/>
                </a:cubicBezTo>
                <a:cubicBezTo>
                  <a:pt x="1099245" y="173653"/>
                  <a:pt x="1193074" y="160267"/>
                  <a:pt x="1276408" y="136445"/>
                </a:cubicBezTo>
                <a:cubicBezTo>
                  <a:pt x="1190131" y="118382"/>
                  <a:pt x="1097059" y="108534"/>
                  <a:pt x="1000014" y="108534"/>
                </a:cubicBezTo>
                <a:close/>
                <a:moveTo>
                  <a:pt x="1783317" y="704253"/>
                </a:moveTo>
                <a:cubicBezTo>
                  <a:pt x="1732988" y="598703"/>
                  <a:pt x="1620690" y="508035"/>
                  <a:pt x="1470502" y="446187"/>
                </a:cubicBezTo>
                <a:cubicBezTo>
                  <a:pt x="1552842" y="412279"/>
                  <a:pt x="1623793" y="369709"/>
                  <a:pt x="1679388" y="320773"/>
                </a:cubicBezTo>
                <a:cubicBezTo>
                  <a:pt x="1763557" y="394860"/>
                  <a:pt x="1812526" y="483539"/>
                  <a:pt x="1812526" y="578838"/>
                </a:cubicBezTo>
                <a:cubicBezTo>
                  <a:pt x="1812526" y="622270"/>
                  <a:pt x="1802355" y="664326"/>
                  <a:pt x="1783317" y="704253"/>
                </a:cubicBezTo>
                <a:close/>
                <a:moveTo>
                  <a:pt x="187502" y="578838"/>
                </a:moveTo>
                <a:cubicBezTo>
                  <a:pt x="187502" y="483539"/>
                  <a:pt x="236472" y="394860"/>
                  <a:pt x="320640" y="320772"/>
                </a:cubicBezTo>
                <a:cubicBezTo>
                  <a:pt x="376235" y="369709"/>
                  <a:pt x="447186" y="412279"/>
                  <a:pt x="529526" y="446187"/>
                </a:cubicBezTo>
                <a:cubicBezTo>
                  <a:pt x="379339" y="508034"/>
                  <a:pt x="267040" y="598703"/>
                  <a:pt x="216711" y="704253"/>
                </a:cubicBezTo>
                <a:cubicBezTo>
                  <a:pt x="197673" y="664326"/>
                  <a:pt x="187502" y="622270"/>
                  <a:pt x="187502" y="578838"/>
                </a:cubicBezTo>
                <a:close/>
                <a:moveTo>
                  <a:pt x="723619" y="136444"/>
                </a:moveTo>
                <a:cubicBezTo>
                  <a:pt x="809898" y="118381"/>
                  <a:pt x="902969" y="108533"/>
                  <a:pt x="1000014" y="108533"/>
                </a:cubicBezTo>
                <a:cubicBezTo>
                  <a:pt x="1097059" y="108533"/>
                  <a:pt x="1190131" y="118381"/>
                  <a:pt x="1276408" y="136444"/>
                </a:cubicBezTo>
                <a:cubicBezTo>
                  <a:pt x="1342055" y="117678"/>
                  <a:pt x="1401187" y="92437"/>
                  <a:pt x="1451316" y="62160"/>
                </a:cubicBezTo>
                <a:cubicBezTo>
                  <a:pt x="1315734" y="22403"/>
                  <a:pt x="1162389" y="0"/>
                  <a:pt x="1000006" y="0"/>
                </a:cubicBezTo>
                <a:cubicBezTo>
                  <a:pt x="837626" y="0"/>
                  <a:pt x="684287" y="22401"/>
                  <a:pt x="548707" y="62157"/>
                </a:cubicBezTo>
                <a:cubicBezTo>
                  <a:pt x="598836" y="92435"/>
                  <a:pt x="657972" y="117678"/>
                  <a:pt x="723619" y="136444"/>
                </a:cubicBezTo>
                <a:close/>
                <a:moveTo>
                  <a:pt x="23536" y="704245"/>
                </a:moveTo>
                <a:cubicBezTo>
                  <a:pt x="122524" y="963629"/>
                  <a:pt x="522118" y="1157662"/>
                  <a:pt x="1000006" y="1157662"/>
                </a:cubicBezTo>
                <a:cubicBezTo>
                  <a:pt x="1477893" y="1157662"/>
                  <a:pt x="1877487" y="963629"/>
                  <a:pt x="1976476" y="704245"/>
                </a:cubicBezTo>
                <a:cubicBezTo>
                  <a:pt x="1991888" y="663863"/>
                  <a:pt x="2000013" y="621896"/>
                  <a:pt x="2000013" y="578831"/>
                </a:cubicBezTo>
                <a:cubicBezTo>
                  <a:pt x="2000013" y="438937"/>
                  <a:pt x="1914275" y="310635"/>
                  <a:pt x="1771557" y="210568"/>
                </a:cubicBezTo>
                <a:cubicBezTo>
                  <a:pt x="1749098" y="249852"/>
                  <a:pt x="1717934" y="286842"/>
                  <a:pt x="1679388" y="320771"/>
                </a:cubicBezTo>
                <a:cubicBezTo>
                  <a:pt x="1763557" y="394859"/>
                  <a:pt x="1812526" y="483538"/>
                  <a:pt x="1812526" y="578837"/>
                </a:cubicBezTo>
                <a:cubicBezTo>
                  <a:pt x="1812526" y="622269"/>
                  <a:pt x="1802355" y="664325"/>
                  <a:pt x="1783317" y="704251"/>
                </a:cubicBezTo>
                <a:cubicBezTo>
                  <a:pt x="1688497" y="903107"/>
                  <a:pt x="1373718" y="1049141"/>
                  <a:pt x="1000014" y="1049141"/>
                </a:cubicBezTo>
                <a:cubicBezTo>
                  <a:pt x="626309" y="1049141"/>
                  <a:pt x="311531" y="903107"/>
                  <a:pt x="216711" y="704251"/>
                </a:cubicBezTo>
                <a:cubicBezTo>
                  <a:pt x="197673" y="664325"/>
                  <a:pt x="187502" y="622269"/>
                  <a:pt x="187502" y="578837"/>
                </a:cubicBezTo>
                <a:cubicBezTo>
                  <a:pt x="187502" y="483538"/>
                  <a:pt x="236472" y="394859"/>
                  <a:pt x="320640" y="320771"/>
                </a:cubicBezTo>
                <a:cubicBezTo>
                  <a:pt x="282091" y="286840"/>
                  <a:pt x="250926" y="249847"/>
                  <a:pt x="228467" y="210560"/>
                </a:cubicBezTo>
                <a:cubicBezTo>
                  <a:pt x="85741" y="310628"/>
                  <a:pt x="0" y="438934"/>
                  <a:pt x="0" y="578831"/>
                </a:cubicBezTo>
                <a:cubicBezTo>
                  <a:pt x="0" y="621896"/>
                  <a:pt x="8125" y="663863"/>
                  <a:pt x="23536" y="704245"/>
                </a:cubicBezTo>
                <a:close/>
              </a:path>
            </a:pathLst>
          </a:custGeom>
          <a:noFill/>
          <a:ln w="11088">
            <a:solidFill>
              <a:srgbClr val="FFFFFF"/>
            </a:solidFill>
          </a:ln>
        </p:spPr>
        <p:txBody>
          <a:bodyPr rtlCol="0" anchor="ctr"/>
          <a:lstStyle/>
          <a:p>
            <a:pPr algn="ctr"/>
            <a:endParaRPr/>
          </a:p>
        </p:txBody>
      </p:sp>
      <p:sp>
        <p:nvSpPr>
          <p:cNvPr id="6" name="Rounded Rectangle 5"/>
          <p:cNvSpPr/>
          <p:nvPr/>
        </p:nvSpPr>
        <p:spPr>
          <a:xfrm>
            <a:off x="5576550" y="3364749"/>
            <a:ext cx="1625027" cy="1066639"/>
          </a:xfrm>
          <a:custGeom>
            <a:avLst/>
            <a:gdLst/>
            <a:ahLst/>
            <a:cxnLst/>
            <a:rect l="0" t="0" r="0" b="0"/>
            <a:pathLst>
              <a:path w="1625027" h="1066639">
                <a:moveTo>
                  <a:pt x="812513" y="1066639"/>
                </a:moveTo>
                <a:cubicBezTo>
                  <a:pt x="1261248" y="1066639"/>
                  <a:pt x="1625027" y="856070"/>
                  <a:pt x="1625027" y="596333"/>
                </a:cubicBezTo>
                <a:lnTo>
                  <a:pt x="1625027" y="345505"/>
                </a:lnTo>
                <a:cubicBezTo>
                  <a:pt x="1625027" y="388936"/>
                  <a:pt x="1614855" y="430992"/>
                  <a:pt x="1595812" y="470919"/>
                </a:cubicBezTo>
                <a:cubicBezTo>
                  <a:pt x="1500995" y="669771"/>
                  <a:pt x="1186213" y="815810"/>
                  <a:pt x="812513" y="815810"/>
                </a:cubicBezTo>
                <a:cubicBezTo>
                  <a:pt x="438806" y="815810"/>
                  <a:pt x="124031" y="669771"/>
                  <a:pt x="29207" y="470919"/>
                </a:cubicBezTo>
                <a:cubicBezTo>
                  <a:pt x="10172" y="430992"/>
                  <a:pt x="0" y="388936"/>
                  <a:pt x="0" y="345505"/>
                </a:cubicBezTo>
                <a:lnTo>
                  <a:pt x="0" y="596333"/>
                </a:lnTo>
                <a:cubicBezTo>
                  <a:pt x="0" y="856070"/>
                  <a:pt x="363771" y="1066639"/>
                  <a:pt x="812513" y="1066639"/>
                </a:cubicBezTo>
                <a:moveTo>
                  <a:pt x="1398941" y="470919"/>
                </a:moveTo>
                <a:cubicBezTo>
                  <a:pt x="1310837" y="332930"/>
                  <a:pt x="1081520" y="234565"/>
                  <a:pt x="812513" y="234565"/>
                </a:cubicBezTo>
                <a:cubicBezTo>
                  <a:pt x="543506" y="234565"/>
                  <a:pt x="314190" y="332930"/>
                  <a:pt x="226078" y="470919"/>
                </a:cubicBezTo>
                <a:cubicBezTo>
                  <a:pt x="201128" y="431849"/>
                  <a:pt x="187504" y="389594"/>
                  <a:pt x="187504" y="345505"/>
                </a:cubicBezTo>
                <a:cubicBezTo>
                  <a:pt x="187504" y="244456"/>
                  <a:pt x="259078" y="153077"/>
                  <a:pt x="374491" y="87438"/>
                </a:cubicBezTo>
                <a:cubicBezTo>
                  <a:pt x="487271" y="151583"/>
                  <a:pt x="641908" y="191148"/>
                  <a:pt x="812513" y="191148"/>
                </a:cubicBezTo>
                <a:cubicBezTo>
                  <a:pt x="983111" y="191148"/>
                  <a:pt x="1137755" y="151583"/>
                  <a:pt x="1250529" y="87438"/>
                </a:cubicBezTo>
                <a:cubicBezTo>
                  <a:pt x="1365941" y="153077"/>
                  <a:pt x="1437523" y="244456"/>
                  <a:pt x="1437523" y="345505"/>
                </a:cubicBezTo>
                <a:cubicBezTo>
                  <a:pt x="1437523" y="389594"/>
                  <a:pt x="1423891" y="431849"/>
                  <a:pt x="1398941" y="470919"/>
                </a:cubicBezTo>
                <a:moveTo>
                  <a:pt x="1595812" y="470912"/>
                </a:moveTo>
                <a:cubicBezTo>
                  <a:pt x="1614855" y="430992"/>
                  <a:pt x="1625027" y="388928"/>
                  <a:pt x="1625027" y="345497"/>
                </a:cubicBezTo>
                <a:cubicBezTo>
                  <a:pt x="1625027" y="208913"/>
                  <a:pt x="1524429" y="85923"/>
                  <a:pt x="1363775" y="0"/>
                </a:cubicBezTo>
                <a:cubicBezTo>
                  <a:pt x="1333768" y="32416"/>
                  <a:pt x="1295475" y="61875"/>
                  <a:pt x="1250529" y="87438"/>
                </a:cubicBezTo>
                <a:cubicBezTo>
                  <a:pt x="1365941" y="153077"/>
                  <a:pt x="1437523" y="244449"/>
                  <a:pt x="1437523" y="345505"/>
                </a:cubicBezTo>
                <a:cubicBezTo>
                  <a:pt x="1437523" y="389594"/>
                  <a:pt x="1423891" y="431842"/>
                  <a:pt x="1398941" y="470919"/>
                </a:cubicBezTo>
                <a:cubicBezTo>
                  <a:pt x="1310837" y="608901"/>
                  <a:pt x="1081520" y="707273"/>
                  <a:pt x="812513" y="707273"/>
                </a:cubicBezTo>
                <a:cubicBezTo>
                  <a:pt x="543506" y="707273"/>
                  <a:pt x="314190" y="608901"/>
                  <a:pt x="226078" y="470919"/>
                </a:cubicBezTo>
                <a:cubicBezTo>
                  <a:pt x="201128" y="431842"/>
                  <a:pt x="187504" y="389594"/>
                  <a:pt x="187504" y="345505"/>
                </a:cubicBezTo>
                <a:cubicBezTo>
                  <a:pt x="187504" y="244449"/>
                  <a:pt x="259078" y="153077"/>
                  <a:pt x="374491" y="87438"/>
                </a:cubicBezTo>
                <a:cubicBezTo>
                  <a:pt x="329551" y="61875"/>
                  <a:pt x="291258" y="32416"/>
                  <a:pt x="261244" y="0"/>
                </a:cubicBezTo>
                <a:cubicBezTo>
                  <a:pt x="100597" y="85923"/>
                  <a:pt x="0" y="208913"/>
                  <a:pt x="0" y="345497"/>
                </a:cubicBezTo>
                <a:cubicBezTo>
                  <a:pt x="0" y="388928"/>
                  <a:pt x="10172" y="430992"/>
                  <a:pt x="29207" y="470912"/>
                </a:cubicBezTo>
                <a:cubicBezTo>
                  <a:pt x="124031" y="669771"/>
                  <a:pt x="438806" y="815803"/>
                  <a:pt x="812513" y="815803"/>
                </a:cubicBezTo>
                <a:cubicBezTo>
                  <a:pt x="1186213" y="815803"/>
                  <a:pt x="1500995" y="669771"/>
                  <a:pt x="1595812" y="470912"/>
                </a:cubicBezTo>
              </a:path>
            </a:pathLst>
          </a:custGeom>
          <a:solidFill>
            <a:srgbClr val="1EABDA"/>
          </a:solidFill>
          <a:ln>
            <a:noFill/>
          </a:ln>
        </p:spPr>
        <p:txBody>
          <a:bodyPr rtlCol="0" anchor="ctr"/>
          <a:lstStyle/>
          <a:p>
            <a:pPr algn="ctr"/>
            <a:endParaRPr/>
          </a:p>
        </p:txBody>
      </p:sp>
      <p:sp>
        <p:nvSpPr>
          <p:cNvPr id="7" name="Rounded Rectangle 6"/>
          <p:cNvSpPr/>
          <p:nvPr/>
        </p:nvSpPr>
        <p:spPr>
          <a:xfrm>
            <a:off x="5576550" y="3364749"/>
            <a:ext cx="1625023" cy="1066636"/>
          </a:xfrm>
          <a:custGeom>
            <a:avLst/>
            <a:gdLst/>
            <a:ahLst/>
            <a:cxnLst/>
            <a:rect l="0" t="0" r="0" b="0"/>
            <a:pathLst>
              <a:path w="1625023" h="1066636">
                <a:moveTo>
                  <a:pt x="812511" y="1066636"/>
                </a:moveTo>
                <a:cubicBezTo>
                  <a:pt x="1261249" y="1066636"/>
                  <a:pt x="1625023" y="856073"/>
                  <a:pt x="1625023" y="596332"/>
                </a:cubicBezTo>
                <a:lnTo>
                  <a:pt x="1625023" y="345503"/>
                </a:lnTo>
                <a:cubicBezTo>
                  <a:pt x="1625023" y="388934"/>
                  <a:pt x="1614853" y="430991"/>
                  <a:pt x="1595814" y="470918"/>
                </a:cubicBezTo>
                <a:cubicBezTo>
                  <a:pt x="1500995" y="669774"/>
                  <a:pt x="1186216" y="815807"/>
                  <a:pt x="812511" y="815807"/>
                </a:cubicBezTo>
                <a:cubicBezTo>
                  <a:pt x="438806" y="815807"/>
                  <a:pt x="124028" y="669774"/>
                  <a:pt x="29208" y="470918"/>
                </a:cubicBezTo>
                <a:cubicBezTo>
                  <a:pt x="10170" y="430991"/>
                  <a:pt x="0" y="388934"/>
                  <a:pt x="0" y="345503"/>
                </a:cubicBezTo>
                <a:lnTo>
                  <a:pt x="0" y="596332"/>
                </a:lnTo>
                <a:cubicBezTo>
                  <a:pt x="0" y="856073"/>
                  <a:pt x="363774" y="1066636"/>
                  <a:pt x="812511" y="1066636"/>
                </a:cubicBezTo>
                <a:close/>
                <a:moveTo>
                  <a:pt x="1398943" y="470919"/>
                </a:moveTo>
                <a:cubicBezTo>
                  <a:pt x="1310835" y="332933"/>
                  <a:pt x="1081520" y="234561"/>
                  <a:pt x="812511" y="234561"/>
                </a:cubicBezTo>
                <a:cubicBezTo>
                  <a:pt x="543503" y="234561"/>
                  <a:pt x="314188" y="332933"/>
                  <a:pt x="226079" y="470919"/>
                </a:cubicBezTo>
                <a:cubicBezTo>
                  <a:pt x="201130" y="431846"/>
                  <a:pt x="187502" y="389596"/>
                  <a:pt x="187502" y="345505"/>
                </a:cubicBezTo>
                <a:cubicBezTo>
                  <a:pt x="187502" y="244452"/>
                  <a:pt x="259081" y="153078"/>
                  <a:pt x="374491" y="87439"/>
                </a:cubicBezTo>
                <a:cubicBezTo>
                  <a:pt x="487271" y="151581"/>
                  <a:pt x="641909" y="191146"/>
                  <a:pt x="812511" y="191146"/>
                </a:cubicBezTo>
                <a:cubicBezTo>
                  <a:pt x="983114" y="191146"/>
                  <a:pt x="1137752" y="151581"/>
                  <a:pt x="1250532" y="87439"/>
                </a:cubicBezTo>
                <a:cubicBezTo>
                  <a:pt x="1365942" y="153078"/>
                  <a:pt x="1437521" y="244452"/>
                  <a:pt x="1437521" y="345505"/>
                </a:cubicBezTo>
                <a:cubicBezTo>
                  <a:pt x="1437521" y="389596"/>
                  <a:pt x="1423893" y="431846"/>
                  <a:pt x="1398943" y="470919"/>
                </a:cubicBezTo>
                <a:close/>
                <a:moveTo>
                  <a:pt x="1595814" y="470915"/>
                </a:moveTo>
                <a:cubicBezTo>
                  <a:pt x="1614853" y="430989"/>
                  <a:pt x="1625023" y="388932"/>
                  <a:pt x="1625023" y="345501"/>
                </a:cubicBezTo>
                <a:cubicBezTo>
                  <a:pt x="1625023" y="208911"/>
                  <a:pt x="1524426" y="85921"/>
                  <a:pt x="1363777" y="0"/>
                </a:cubicBezTo>
                <a:cubicBezTo>
                  <a:pt x="1333767" y="32416"/>
                  <a:pt x="1295473" y="61878"/>
                  <a:pt x="1250532" y="87438"/>
                </a:cubicBezTo>
                <a:cubicBezTo>
                  <a:pt x="1365942" y="153075"/>
                  <a:pt x="1437521" y="244451"/>
                  <a:pt x="1437521" y="345502"/>
                </a:cubicBezTo>
                <a:cubicBezTo>
                  <a:pt x="1437521" y="389594"/>
                  <a:pt x="1423893" y="431843"/>
                  <a:pt x="1398943" y="470917"/>
                </a:cubicBezTo>
                <a:cubicBezTo>
                  <a:pt x="1310835" y="608903"/>
                  <a:pt x="1081520" y="707275"/>
                  <a:pt x="812511" y="707275"/>
                </a:cubicBezTo>
                <a:cubicBezTo>
                  <a:pt x="543503" y="707275"/>
                  <a:pt x="314188" y="608903"/>
                  <a:pt x="226079" y="470917"/>
                </a:cubicBezTo>
                <a:cubicBezTo>
                  <a:pt x="201130" y="431843"/>
                  <a:pt x="187502" y="389594"/>
                  <a:pt x="187502" y="345502"/>
                </a:cubicBezTo>
                <a:cubicBezTo>
                  <a:pt x="187502" y="244451"/>
                  <a:pt x="259081" y="153075"/>
                  <a:pt x="374491" y="87438"/>
                </a:cubicBezTo>
                <a:cubicBezTo>
                  <a:pt x="329550" y="61878"/>
                  <a:pt x="291255" y="32416"/>
                  <a:pt x="261246" y="0"/>
                </a:cubicBezTo>
                <a:cubicBezTo>
                  <a:pt x="100596" y="85921"/>
                  <a:pt x="0" y="208911"/>
                  <a:pt x="0" y="345501"/>
                </a:cubicBezTo>
                <a:cubicBezTo>
                  <a:pt x="0" y="388932"/>
                  <a:pt x="10170" y="430989"/>
                  <a:pt x="29208" y="470915"/>
                </a:cubicBezTo>
                <a:cubicBezTo>
                  <a:pt x="124028" y="669772"/>
                  <a:pt x="438806" y="815805"/>
                  <a:pt x="812511" y="815805"/>
                </a:cubicBezTo>
                <a:cubicBezTo>
                  <a:pt x="1186216" y="815805"/>
                  <a:pt x="1500995" y="669772"/>
                  <a:pt x="1595814" y="470915"/>
                </a:cubicBezTo>
                <a:close/>
              </a:path>
            </a:pathLst>
          </a:custGeom>
          <a:noFill/>
          <a:ln w="11088">
            <a:solidFill>
              <a:srgbClr val="FFFFFF"/>
            </a:solidFill>
          </a:ln>
        </p:spPr>
        <p:txBody>
          <a:bodyPr rtlCol="0" anchor="ctr"/>
          <a:lstStyle/>
          <a:p>
            <a:pPr algn="ctr"/>
            <a:endParaRPr/>
          </a:p>
        </p:txBody>
      </p:sp>
      <p:sp>
        <p:nvSpPr>
          <p:cNvPr id="8" name="Rounded Rectangle 7"/>
          <p:cNvSpPr/>
          <p:nvPr/>
        </p:nvSpPr>
        <p:spPr>
          <a:xfrm>
            <a:off x="5764020" y="2620514"/>
            <a:ext cx="1250018" cy="935377"/>
          </a:xfrm>
          <a:custGeom>
            <a:avLst/>
            <a:gdLst/>
            <a:ahLst/>
            <a:cxnLst/>
            <a:rect l="0" t="0" r="0" b="0"/>
            <a:pathLst>
              <a:path w="1250018" h="935377">
                <a:moveTo>
                  <a:pt x="625009" y="935377"/>
                </a:moveTo>
                <a:cubicBezTo>
                  <a:pt x="970189" y="935377"/>
                  <a:pt x="1250018" y="773407"/>
                  <a:pt x="1250018" y="573601"/>
                </a:cubicBezTo>
                <a:lnTo>
                  <a:pt x="1250018" y="322772"/>
                </a:lnTo>
                <a:cubicBezTo>
                  <a:pt x="1250018" y="366869"/>
                  <a:pt x="1236394" y="409117"/>
                  <a:pt x="1211444" y="448187"/>
                </a:cubicBezTo>
                <a:cubicBezTo>
                  <a:pt x="1123333" y="586176"/>
                  <a:pt x="894016" y="684548"/>
                  <a:pt x="625009" y="684548"/>
                </a:cubicBezTo>
                <a:cubicBezTo>
                  <a:pt x="356002" y="684548"/>
                  <a:pt x="126685" y="586176"/>
                  <a:pt x="38574" y="448187"/>
                </a:cubicBezTo>
                <a:cubicBezTo>
                  <a:pt x="13624" y="409117"/>
                  <a:pt x="0" y="366869"/>
                  <a:pt x="0" y="322772"/>
                </a:cubicBezTo>
                <a:lnTo>
                  <a:pt x="0" y="573601"/>
                </a:lnTo>
                <a:cubicBezTo>
                  <a:pt x="0" y="773407"/>
                  <a:pt x="279829" y="935377"/>
                  <a:pt x="625009" y="935377"/>
                </a:cubicBezTo>
                <a:moveTo>
                  <a:pt x="625009" y="69534"/>
                </a:moveTo>
                <a:cubicBezTo>
                  <a:pt x="866634" y="69534"/>
                  <a:pt x="1062514" y="182913"/>
                  <a:pt x="1062514" y="322780"/>
                </a:cubicBezTo>
                <a:cubicBezTo>
                  <a:pt x="1062514" y="368407"/>
                  <a:pt x="1041667" y="411217"/>
                  <a:pt x="1005185" y="448194"/>
                </a:cubicBezTo>
                <a:cubicBezTo>
                  <a:pt x="929833" y="371829"/>
                  <a:pt x="787807" y="320362"/>
                  <a:pt x="625009" y="320362"/>
                </a:cubicBezTo>
                <a:cubicBezTo>
                  <a:pt x="462211" y="320362"/>
                  <a:pt x="320185" y="371829"/>
                  <a:pt x="244833" y="448194"/>
                </a:cubicBezTo>
                <a:cubicBezTo>
                  <a:pt x="208351" y="411217"/>
                  <a:pt x="187504" y="368407"/>
                  <a:pt x="187504" y="322780"/>
                </a:cubicBezTo>
                <a:cubicBezTo>
                  <a:pt x="187504" y="182913"/>
                  <a:pt x="383384" y="69534"/>
                  <a:pt x="625009" y="69534"/>
                </a:cubicBezTo>
                <a:moveTo>
                  <a:pt x="1211444" y="448194"/>
                </a:moveTo>
                <a:cubicBezTo>
                  <a:pt x="1236394" y="409117"/>
                  <a:pt x="1250018" y="366869"/>
                  <a:pt x="1250018" y="322780"/>
                </a:cubicBezTo>
                <a:cubicBezTo>
                  <a:pt x="1250018" y="181834"/>
                  <a:pt x="1110773" y="59716"/>
                  <a:pt x="907567" y="0"/>
                </a:cubicBezTo>
                <a:cubicBezTo>
                  <a:pt x="831335" y="37361"/>
                  <a:pt x="732718" y="59886"/>
                  <a:pt x="625009" y="59886"/>
                </a:cubicBezTo>
                <a:cubicBezTo>
                  <a:pt x="517300" y="59886"/>
                  <a:pt x="418683" y="37361"/>
                  <a:pt x="342451" y="0"/>
                </a:cubicBezTo>
                <a:cubicBezTo>
                  <a:pt x="139245" y="59716"/>
                  <a:pt x="0" y="181834"/>
                  <a:pt x="0" y="322780"/>
                </a:cubicBezTo>
                <a:cubicBezTo>
                  <a:pt x="0" y="366869"/>
                  <a:pt x="13624" y="409117"/>
                  <a:pt x="38574" y="448194"/>
                </a:cubicBezTo>
                <a:cubicBezTo>
                  <a:pt x="126685" y="586176"/>
                  <a:pt x="356002" y="684548"/>
                  <a:pt x="625009" y="684548"/>
                </a:cubicBezTo>
                <a:cubicBezTo>
                  <a:pt x="894016" y="684548"/>
                  <a:pt x="1123333" y="586176"/>
                  <a:pt x="1211444" y="448194"/>
                </a:cubicBezTo>
                <a:moveTo>
                  <a:pt x="187504" y="322780"/>
                </a:moveTo>
                <a:cubicBezTo>
                  <a:pt x="187504" y="182920"/>
                  <a:pt x="383384" y="69541"/>
                  <a:pt x="625009" y="69541"/>
                </a:cubicBezTo>
                <a:cubicBezTo>
                  <a:pt x="866634" y="69541"/>
                  <a:pt x="1062514" y="182920"/>
                  <a:pt x="1062514" y="322780"/>
                </a:cubicBezTo>
                <a:cubicBezTo>
                  <a:pt x="1062514" y="368407"/>
                  <a:pt x="1041667" y="411217"/>
                  <a:pt x="1005185" y="448194"/>
                </a:cubicBezTo>
                <a:cubicBezTo>
                  <a:pt x="929833" y="524552"/>
                  <a:pt x="787807" y="576019"/>
                  <a:pt x="625009" y="576019"/>
                </a:cubicBezTo>
                <a:cubicBezTo>
                  <a:pt x="462211" y="576019"/>
                  <a:pt x="320185" y="524552"/>
                  <a:pt x="244833" y="448194"/>
                </a:cubicBezTo>
                <a:cubicBezTo>
                  <a:pt x="208351" y="411217"/>
                  <a:pt x="187504" y="368407"/>
                  <a:pt x="187504" y="322780"/>
                </a:cubicBezTo>
              </a:path>
            </a:pathLst>
          </a:custGeom>
          <a:solidFill>
            <a:srgbClr val="92BD39"/>
          </a:solidFill>
          <a:ln>
            <a:noFill/>
          </a:ln>
        </p:spPr>
        <p:txBody>
          <a:bodyPr rtlCol="0" anchor="ctr"/>
          <a:lstStyle/>
          <a:p>
            <a:pPr algn="ctr"/>
            <a:endParaRPr/>
          </a:p>
        </p:txBody>
      </p:sp>
      <p:sp>
        <p:nvSpPr>
          <p:cNvPr id="9" name="Rounded Rectangle 8"/>
          <p:cNvSpPr/>
          <p:nvPr/>
        </p:nvSpPr>
        <p:spPr>
          <a:xfrm>
            <a:off x="5764020" y="2620514"/>
            <a:ext cx="1250018" cy="935376"/>
          </a:xfrm>
          <a:custGeom>
            <a:avLst/>
            <a:gdLst/>
            <a:ahLst/>
            <a:cxnLst/>
            <a:rect l="0" t="0" r="0" b="0"/>
            <a:pathLst>
              <a:path w="1250018" h="935376">
                <a:moveTo>
                  <a:pt x="625009" y="935376"/>
                </a:moveTo>
                <a:cubicBezTo>
                  <a:pt x="970192" y="935376"/>
                  <a:pt x="1250018" y="773405"/>
                  <a:pt x="1250018" y="573604"/>
                </a:cubicBezTo>
                <a:lnTo>
                  <a:pt x="1250018" y="322775"/>
                </a:lnTo>
                <a:cubicBezTo>
                  <a:pt x="1250018" y="366866"/>
                  <a:pt x="1236390" y="409116"/>
                  <a:pt x="1211441" y="448189"/>
                </a:cubicBezTo>
                <a:cubicBezTo>
                  <a:pt x="1123332" y="586175"/>
                  <a:pt x="894017" y="684547"/>
                  <a:pt x="625009" y="684547"/>
                </a:cubicBezTo>
                <a:cubicBezTo>
                  <a:pt x="356000" y="684547"/>
                  <a:pt x="126685" y="586175"/>
                  <a:pt x="38576" y="448189"/>
                </a:cubicBezTo>
                <a:cubicBezTo>
                  <a:pt x="13627" y="409116"/>
                  <a:pt x="0" y="366866"/>
                  <a:pt x="0" y="322775"/>
                </a:cubicBezTo>
                <a:lnTo>
                  <a:pt x="0" y="573604"/>
                </a:lnTo>
                <a:cubicBezTo>
                  <a:pt x="0" y="773405"/>
                  <a:pt x="279826" y="935376"/>
                  <a:pt x="625009" y="935376"/>
                </a:cubicBezTo>
                <a:close/>
                <a:moveTo>
                  <a:pt x="625009" y="69536"/>
                </a:moveTo>
                <a:cubicBezTo>
                  <a:pt x="866637" y="69536"/>
                  <a:pt x="1062515" y="182915"/>
                  <a:pt x="1062515" y="322777"/>
                </a:cubicBezTo>
                <a:cubicBezTo>
                  <a:pt x="1062515" y="368405"/>
                  <a:pt x="1041666" y="411216"/>
                  <a:pt x="1005182" y="448191"/>
                </a:cubicBezTo>
                <a:cubicBezTo>
                  <a:pt x="929836" y="371833"/>
                  <a:pt x="787806" y="320364"/>
                  <a:pt x="625009" y="320364"/>
                </a:cubicBezTo>
                <a:cubicBezTo>
                  <a:pt x="462211" y="320364"/>
                  <a:pt x="320181" y="371833"/>
                  <a:pt x="244835" y="448191"/>
                </a:cubicBezTo>
                <a:cubicBezTo>
                  <a:pt x="208351" y="411216"/>
                  <a:pt x="187502" y="368405"/>
                  <a:pt x="187502" y="322777"/>
                </a:cubicBezTo>
                <a:cubicBezTo>
                  <a:pt x="187502" y="182915"/>
                  <a:pt x="383380" y="69536"/>
                  <a:pt x="625009" y="69536"/>
                </a:cubicBezTo>
                <a:close/>
                <a:moveTo>
                  <a:pt x="1211441" y="448193"/>
                </a:moveTo>
                <a:cubicBezTo>
                  <a:pt x="1236390" y="409120"/>
                  <a:pt x="1250018" y="366870"/>
                  <a:pt x="1250018" y="322778"/>
                </a:cubicBezTo>
                <a:cubicBezTo>
                  <a:pt x="1250018" y="181835"/>
                  <a:pt x="1110773" y="59716"/>
                  <a:pt x="907567" y="0"/>
                </a:cubicBezTo>
                <a:cubicBezTo>
                  <a:pt x="831337" y="37361"/>
                  <a:pt x="732718" y="59890"/>
                  <a:pt x="625009" y="59890"/>
                </a:cubicBezTo>
                <a:cubicBezTo>
                  <a:pt x="517299" y="59890"/>
                  <a:pt x="418680" y="37361"/>
                  <a:pt x="342451" y="0"/>
                </a:cubicBezTo>
                <a:cubicBezTo>
                  <a:pt x="139245" y="59716"/>
                  <a:pt x="0" y="181835"/>
                  <a:pt x="0" y="322778"/>
                </a:cubicBezTo>
                <a:cubicBezTo>
                  <a:pt x="0" y="366870"/>
                  <a:pt x="13627" y="409120"/>
                  <a:pt x="38576" y="448193"/>
                </a:cubicBezTo>
                <a:cubicBezTo>
                  <a:pt x="126685" y="586179"/>
                  <a:pt x="356000" y="684551"/>
                  <a:pt x="625009" y="684551"/>
                </a:cubicBezTo>
                <a:cubicBezTo>
                  <a:pt x="894017" y="684551"/>
                  <a:pt x="1123332" y="586179"/>
                  <a:pt x="1211441" y="448193"/>
                </a:cubicBezTo>
                <a:close/>
                <a:moveTo>
                  <a:pt x="187502" y="322780"/>
                </a:moveTo>
                <a:cubicBezTo>
                  <a:pt x="187502" y="182919"/>
                  <a:pt x="383380" y="69539"/>
                  <a:pt x="625009" y="69539"/>
                </a:cubicBezTo>
                <a:cubicBezTo>
                  <a:pt x="866637" y="69539"/>
                  <a:pt x="1062515" y="182919"/>
                  <a:pt x="1062515" y="322780"/>
                </a:cubicBezTo>
                <a:cubicBezTo>
                  <a:pt x="1062515" y="368409"/>
                  <a:pt x="1041666" y="411220"/>
                  <a:pt x="1005182" y="448194"/>
                </a:cubicBezTo>
                <a:cubicBezTo>
                  <a:pt x="929836" y="524553"/>
                  <a:pt x="787806" y="576021"/>
                  <a:pt x="625009" y="576021"/>
                </a:cubicBezTo>
                <a:cubicBezTo>
                  <a:pt x="462211" y="576021"/>
                  <a:pt x="320181" y="524553"/>
                  <a:pt x="244835" y="448194"/>
                </a:cubicBezTo>
                <a:cubicBezTo>
                  <a:pt x="208351" y="411220"/>
                  <a:pt x="187502" y="368409"/>
                  <a:pt x="187502" y="322780"/>
                </a:cubicBezTo>
                <a:close/>
              </a:path>
            </a:pathLst>
          </a:custGeom>
          <a:noFill/>
          <a:ln w="11088">
            <a:solidFill>
              <a:srgbClr val="FFFFFF"/>
            </a:solidFill>
          </a:ln>
        </p:spPr>
        <p:txBody>
          <a:bodyPr rtlCol="0" anchor="ctr"/>
          <a:lstStyle/>
          <a:p>
            <a:pPr algn="ctr"/>
            <a:endParaRPr/>
          </a:p>
        </p:txBody>
      </p:sp>
      <p:sp>
        <p:nvSpPr>
          <p:cNvPr id="10" name="Rounded Rectangle 9"/>
          <p:cNvSpPr/>
          <p:nvPr/>
        </p:nvSpPr>
        <p:spPr>
          <a:xfrm>
            <a:off x="5951519" y="1923089"/>
            <a:ext cx="875010" cy="757313"/>
          </a:xfrm>
          <a:custGeom>
            <a:avLst/>
            <a:gdLst/>
            <a:ahLst/>
            <a:cxnLst/>
            <a:rect l="0" t="0" r="0" b="0"/>
            <a:pathLst>
              <a:path w="875010" h="757313">
                <a:moveTo>
                  <a:pt x="437505" y="757313"/>
                </a:moveTo>
                <a:cubicBezTo>
                  <a:pt x="679137" y="757313"/>
                  <a:pt x="875010" y="643934"/>
                  <a:pt x="875010" y="504067"/>
                </a:cubicBezTo>
                <a:lnTo>
                  <a:pt x="875010" y="253238"/>
                </a:lnTo>
                <a:cubicBezTo>
                  <a:pt x="875010" y="298872"/>
                  <a:pt x="854163" y="341683"/>
                  <a:pt x="817681" y="378653"/>
                </a:cubicBezTo>
                <a:cubicBezTo>
                  <a:pt x="742336" y="455018"/>
                  <a:pt x="600303" y="506484"/>
                  <a:pt x="437505" y="506484"/>
                </a:cubicBezTo>
                <a:cubicBezTo>
                  <a:pt x="274706" y="506484"/>
                  <a:pt x="132681" y="455018"/>
                  <a:pt x="57336" y="378653"/>
                </a:cubicBezTo>
                <a:cubicBezTo>
                  <a:pt x="20846" y="341683"/>
                  <a:pt x="0" y="298872"/>
                  <a:pt x="0" y="253238"/>
                </a:cubicBezTo>
                <a:lnTo>
                  <a:pt x="0" y="504067"/>
                </a:lnTo>
                <a:cubicBezTo>
                  <a:pt x="0" y="643934"/>
                  <a:pt x="195880" y="757313"/>
                  <a:pt x="437505" y="757313"/>
                </a:cubicBezTo>
                <a:moveTo>
                  <a:pt x="187504" y="253246"/>
                </a:moveTo>
                <a:cubicBezTo>
                  <a:pt x="187504" y="173325"/>
                  <a:pt x="299434" y="108537"/>
                  <a:pt x="437505" y="108537"/>
                </a:cubicBezTo>
                <a:cubicBezTo>
                  <a:pt x="575575" y="108537"/>
                  <a:pt x="687513" y="173325"/>
                  <a:pt x="687513" y="253246"/>
                </a:cubicBezTo>
                <a:cubicBezTo>
                  <a:pt x="687513" y="306849"/>
                  <a:pt x="637148" y="353651"/>
                  <a:pt x="562313" y="378660"/>
                </a:cubicBezTo>
                <a:cubicBezTo>
                  <a:pt x="525587" y="366388"/>
                  <a:pt x="482961" y="359366"/>
                  <a:pt x="437505" y="359366"/>
                </a:cubicBezTo>
                <a:cubicBezTo>
                  <a:pt x="392048" y="359366"/>
                  <a:pt x="349430" y="366388"/>
                  <a:pt x="312696" y="378660"/>
                </a:cubicBezTo>
                <a:cubicBezTo>
                  <a:pt x="237862" y="353651"/>
                  <a:pt x="187504" y="306849"/>
                  <a:pt x="187504" y="253246"/>
                </a:cubicBezTo>
                <a:moveTo>
                  <a:pt x="875010" y="253238"/>
                </a:moveTo>
                <a:cubicBezTo>
                  <a:pt x="875010" y="298872"/>
                  <a:pt x="854163" y="341683"/>
                  <a:pt x="817681" y="378653"/>
                </a:cubicBezTo>
                <a:cubicBezTo>
                  <a:pt x="742336" y="455010"/>
                  <a:pt x="600303" y="506477"/>
                  <a:pt x="437505" y="506477"/>
                </a:cubicBezTo>
                <a:cubicBezTo>
                  <a:pt x="274706" y="506477"/>
                  <a:pt x="132681" y="455010"/>
                  <a:pt x="57336" y="378653"/>
                </a:cubicBezTo>
                <a:cubicBezTo>
                  <a:pt x="20846" y="341683"/>
                  <a:pt x="0" y="298872"/>
                  <a:pt x="0" y="253238"/>
                </a:cubicBezTo>
                <a:cubicBezTo>
                  <a:pt x="0" y="113379"/>
                  <a:pt x="195880" y="0"/>
                  <a:pt x="437505" y="0"/>
                </a:cubicBezTo>
                <a:cubicBezTo>
                  <a:pt x="679137" y="0"/>
                  <a:pt x="875010" y="113379"/>
                  <a:pt x="875010" y="253238"/>
                </a:cubicBezTo>
                <a:moveTo>
                  <a:pt x="437505" y="108529"/>
                </a:moveTo>
                <a:cubicBezTo>
                  <a:pt x="299434" y="108529"/>
                  <a:pt x="187504" y="173318"/>
                  <a:pt x="187504" y="253246"/>
                </a:cubicBezTo>
                <a:cubicBezTo>
                  <a:pt x="187504" y="306849"/>
                  <a:pt x="237862" y="353651"/>
                  <a:pt x="312696" y="378660"/>
                </a:cubicBezTo>
                <a:cubicBezTo>
                  <a:pt x="349430" y="390932"/>
                  <a:pt x="392048" y="397955"/>
                  <a:pt x="437505" y="397955"/>
                </a:cubicBezTo>
                <a:cubicBezTo>
                  <a:pt x="482961" y="397955"/>
                  <a:pt x="525587" y="390932"/>
                  <a:pt x="562313" y="378660"/>
                </a:cubicBezTo>
                <a:cubicBezTo>
                  <a:pt x="637148" y="353651"/>
                  <a:pt x="687513" y="306849"/>
                  <a:pt x="687513" y="253246"/>
                </a:cubicBezTo>
                <a:cubicBezTo>
                  <a:pt x="687513" y="173318"/>
                  <a:pt x="575575" y="108529"/>
                  <a:pt x="437505" y="108529"/>
                </a:cubicBezTo>
              </a:path>
            </a:pathLst>
          </a:custGeom>
          <a:solidFill>
            <a:srgbClr val="E0CB15"/>
          </a:solidFill>
          <a:ln>
            <a:noFill/>
          </a:ln>
        </p:spPr>
        <p:txBody>
          <a:bodyPr rtlCol="0" anchor="ctr"/>
          <a:lstStyle/>
          <a:p>
            <a:pPr algn="ctr"/>
            <a:endParaRPr/>
          </a:p>
        </p:txBody>
      </p:sp>
      <p:sp>
        <p:nvSpPr>
          <p:cNvPr id="11" name="Rounded Rectangle 10"/>
          <p:cNvSpPr/>
          <p:nvPr/>
        </p:nvSpPr>
        <p:spPr>
          <a:xfrm>
            <a:off x="5951519" y="1923089"/>
            <a:ext cx="875012" cy="757311"/>
          </a:xfrm>
          <a:custGeom>
            <a:avLst/>
            <a:gdLst/>
            <a:ahLst/>
            <a:cxnLst/>
            <a:rect l="0" t="0" r="0" b="0"/>
            <a:pathLst>
              <a:path w="875012" h="757311">
                <a:moveTo>
                  <a:pt x="437506" y="757311"/>
                </a:moveTo>
                <a:cubicBezTo>
                  <a:pt x="679134" y="757311"/>
                  <a:pt x="875012" y="643931"/>
                  <a:pt x="875012" y="504070"/>
                </a:cubicBezTo>
                <a:lnTo>
                  <a:pt x="875012" y="253242"/>
                </a:lnTo>
                <a:cubicBezTo>
                  <a:pt x="875012" y="298870"/>
                  <a:pt x="854164" y="341681"/>
                  <a:pt x="817679" y="378656"/>
                </a:cubicBezTo>
                <a:cubicBezTo>
                  <a:pt x="742333" y="455014"/>
                  <a:pt x="600303" y="506482"/>
                  <a:pt x="437506" y="506482"/>
                </a:cubicBezTo>
                <a:cubicBezTo>
                  <a:pt x="274708" y="506482"/>
                  <a:pt x="132679" y="455014"/>
                  <a:pt x="57332" y="378656"/>
                </a:cubicBezTo>
                <a:cubicBezTo>
                  <a:pt x="20848" y="341681"/>
                  <a:pt x="0" y="298870"/>
                  <a:pt x="0" y="253242"/>
                </a:cubicBezTo>
                <a:lnTo>
                  <a:pt x="0" y="504070"/>
                </a:lnTo>
                <a:cubicBezTo>
                  <a:pt x="0" y="643931"/>
                  <a:pt x="195878" y="757311"/>
                  <a:pt x="437506" y="757311"/>
                </a:cubicBezTo>
                <a:close/>
                <a:moveTo>
                  <a:pt x="187502" y="253243"/>
                </a:moveTo>
                <a:cubicBezTo>
                  <a:pt x="187502" y="173322"/>
                  <a:pt x="299433" y="108534"/>
                  <a:pt x="437506" y="108534"/>
                </a:cubicBezTo>
                <a:cubicBezTo>
                  <a:pt x="575579" y="108534"/>
                  <a:pt x="687509" y="173322"/>
                  <a:pt x="687509" y="253243"/>
                </a:cubicBezTo>
                <a:cubicBezTo>
                  <a:pt x="687509" y="306852"/>
                  <a:pt x="637147" y="353653"/>
                  <a:pt x="562314" y="378657"/>
                </a:cubicBezTo>
                <a:cubicBezTo>
                  <a:pt x="525585" y="366385"/>
                  <a:pt x="482962" y="359363"/>
                  <a:pt x="437506" y="359363"/>
                </a:cubicBezTo>
                <a:cubicBezTo>
                  <a:pt x="392049" y="359363"/>
                  <a:pt x="349426" y="366385"/>
                  <a:pt x="312698" y="378657"/>
                </a:cubicBezTo>
                <a:cubicBezTo>
                  <a:pt x="237865" y="353653"/>
                  <a:pt x="187502" y="306852"/>
                  <a:pt x="187502" y="253243"/>
                </a:cubicBezTo>
                <a:close/>
                <a:moveTo>
                  <a:pt x="875012" y="253240"/>
                </a:moveTo>
                <a:cubicBezTo>
                  <a:pt x="875012" y="298869"/>
                  <a:pt x="854164" y="341680"/>
                  <a:pt x="817679" y="378655"/>
                </a:cubicBezTo>
                <a:cubicBezTo>
                  <a:pt x="742333" y="455013"/>
                  <a:pt x="600303" y="506481"/>
                  <a:pt x="437506" y="506481"/>
                </a:cubicBezTo>
                <a:cubicBezTo>
                  <a:pt x="274708" y="506481"/>
                  <a:pt x="132679" y="455013"/>
                  <a:pt x="57332" y="378655"/>
                </a:cubicBezTo>
                <a:cubicBezTo>
                  <a:pt x="20848" y="341680"/>
                  <a:pt x="0" y="298869"/>
                  <a:pt x="0" y="253240"/>
                </a:cubicBezTo>
                <a:cubicBezTo>
                  <a:pt x="0" y="113380"/>
                  <a:pt x="195878" y="0"/>
                  <a:pt x="437506" y="0"/>
                </a:cubicBezTo>
                <a:cubicBezTo>
                  <a:pt x="679134" y="0"/>
                  <a:pt x="875012" y="113380"/>
                  <a:pt x="875012" y="253240"/>
                </a:cubicBezTo>
                <a:close/>
                <a:moveTo>
                  <a:pt x="437506" y="108533"/>
                </a:moveTo>
                <a:cubicBezTo>
                  <a:pt x="299433" y="108533"/>
                  <a:pt x="187502" y="173321"/>
                  <a:pt x="187502" y="253242"/>
                </a:cubicBezTo>
                <a:cubicBezTo>
                  <a:pt x="187502" y="306851"/>
                  <a:pt x="237865" y="353651"/>
                  <a:pt x="312698" y="378656"/>
                </a:cubicBezTo>
                <a:cubicBezTo>
                  <a:pt x="349426" y="390929"/>
                  <a:pt x="392049" y="397951"/>
                  <a:pt x="437506" y="397951"/>
                </a:cubicBezTo>
                <a:cubicBezTo>
                  <a:pt x="482962" y="397951"/>
                  <a:pt x="525585" y="390929"/>
                  <a:pt x="562314" y="378656"/>
                </a:cubicBezTo>
                <a:cubicBezTo>
                  <a:pt x="637147" y="353651"/>
                  <a:pt x="687509" y="306851"/>
                  <a:pt x="687509" y="253242"/>
                </a:cubicBezTo>
                <a:cubicBezTo>
                  <a:pt x="687509" y="173321"/>
                  <a:pt x="575579" y="108533"/>
                  <a:pt x="437506" y="108533"/>
                </a:cubicBezTo>
                <a:close/>
              </a:path>
            </a:pathLst>
          </a:custGeom>
          <a:noFill/>
          <a:ln w="11088">
            <a:solidFill>
              <a:srgbClr val="FFFFFF"/>
            </a:solidFill>
          </a:ln>
        </p:spPr>
        <p:txBody>
          <a:bodyPr rtlCol="0" anchor="ctr"/>
          <a:lstStyle/>
          <a:p>
            <a:pPr algn="ctr"/>
            <a:endParaRPr/>
          </a:p>
        </p:txBody>
      </p:sp>
      <p:sp>
        <p:nvSpPr>
          <p:cNvPr id="12" name="TextBox 11"/>
          <p:cNvSpPr txBox="1"/>
          <p:nvPr/>
        </p:nvSpPr>
        <p:spPr>
          <a:xfrm>
            <a:off x="3158080" y="363541"/>
            <a:ext cx="2847446" cy="307777"/>
          </a:xfrm>
          <a:prstGeom prst="rect">
            <a:avLst/>
          </a:prstGeom>
          <a:noFill/>
          <a:ln>
            <a:noFill/>
          </a:ln>
        </p:spPr>
        <p:txBody>
          <a:bodyPr wrap="none" lIns="0" tIns="0" rIns="0" bIns="0" anchor="t">
            <a:spAutoFit/>
          </a:bodyPr>
          <a:lstStyle/>
          <a:p>
            <a:pPr algn="ctr"/>
            <a:r>
              <a:rPr lang="en-US" sz="2000" b="1" dirty="0" smtClean="0"/>
              <a:t> </a:t>
            </a:r>
            <a:r>
              <a:rPr lang="en-US" sz="2000" b="1" dirty="0"/>
              <a:t>Health </a:t>
            </a:r>
            <a:r>
              <a:rPr lang="en-US" sz="2000" b="1" dirty="0" smtClean="0"/>
              <a:t>Insurance Benefits</a:t>
            </a:r>
            <a:endParaRPr sz="2000" b="1" dirty="0">
              <a:solidFill>
                <a:srgbClr val="484848"/>
              </a:solidFill>
            </a:endParaRPr>
          </a:p>
        </p:txBody>
      </p:sp>
      <p:sp>
        <p:nvSpPr>
          <p:cNvPr id="13" name="TextBox 12"/>
          <p:cNvSpPr txBox="1"/>
          <p:nvPr/>
        </p:nvSpPr>
        <p:spPr>
          <a:xfrm>
            <a:off x="3000826" y="1939115"/>
            <a:ext cx="1475340" cy="215444"/>
          </a:xfrm>
          <a:prstGeom prst="rect">
            <a:avLst/>
          </a:prstGeom>
          <a:noFill/>
          <a:ln>
            <a:noFill/>
          </a:ln>
        </p:spPr>
        <p:txBody>
          <a:bodyPr wrap="none" lIns="0" tIns="0" rIns="0" bIns="0" anchor="t">
            <a:spAutoFit/>
          </a:bodyPr>
          <a:lstStyle/>
          <a:p>
            <a:pPr algn="r"/>
            <a:r>
              <a:rPr sz="1400" b="1" dirty="0">
                <a:solidFill>
                  <a:srgbClr val="E0CB15"/>
                </a:solidFill>
                <a:ea typeface="Roboto" panose="02000000000000000000" pitchFamily="2" charset="0"/>
              </a:rPr>
              <a:t>Reduced Disparities</a:t>
            </a:r>
          </a:p>
        </p:txBody>
      </p:sp>
      <p:sp>
        <p:nvSpPr>
          <p:cNvPr id="14" name="TextBox 13"/>
          <p:cNvSpPr txBox="1"/>
          <p:nvPr/>
        </p:nvSpPr>
        <p:spPr>
          <a:xfrm>
            <a:off x="2026863" y="2225461"/>
            <a:ext cx="2449580" cy="215444"/>
          </a:xfrm>
          <a:prstGeom prst="rect">
            <a:avLst/>
          </a:prstGeom>
          <a:noFill/>
          <a:ln>
            <a:noFill/>
          </a:ln>
        </p:spPr>
        <p:txBody>
          <a:bodyPr wrap="none" lIns="0" tIns="0" rIns="0" bIns="0" anchor="t">
            <a:spAutoFit/>
          </a:bodyPr>
          <a:lstStyle/>
          <a:p>
            <a:pPr algn="r"/>
            <a:r>
              <a:rPr sz="1400" b="0" dirty="0">
                <a:solidFill>
                  <a:srgbClr val="FF0000"/>
                </a:solidFill>
              </a:rPr>
              <a:t>Decreases healthcare inequalities</a:t>
            </a:r>
          </a:p>
        </p:txBody>
      </p:sp>
      <p:sp>
        <p:nvSpPr>
          <p:cNvPr id="15" name="TextBox 14"/>
          <p:cNvSpPr txBox="1"/>
          <p:nvPr/>
        </p:nvSpPr>
        <p:spPr>
          <a:xfrm>
            <a:off x="3184261" y="2826220"/>
            <a:ext cx="1291957" cy="215444"/>
          </a:xfrm>
          <a:prstGeom prst="rect">
            <a:avLst/>
          </a:prstGeom>
          <a:noFill/>
          <a:ln>
            <a:noFill/>
          </a:ln>
        </p:spPr>
        <p:txBody>
          <a:bodyPr wrap="none" lIns="0" tIns="0" rIns="0" bIns="0" anchor="t">
            <a:spAutoFit/>
          </a:bodyPr>
          <a:lstStyle/>
          <a:p>
            <a:pPr algn="r"/>
            <a:r>
              <a:rPr sz="1400" b="1" dirty="0">
                <a:solidFill>
                  <a:srgbClr val="92BD39"/>
                </a:solidFill>
              </a:rPr>
              <a:t>Health Outcomes</a:t>
            </a:r>
          </a:p>
        </p:txBody>
      </p:sp>
      <p:sp>
        <p:nvSpPr>
          <p:cNvPr id="16" name="TextBox 15"/>
          <p:cNvSpPr txBox="1"/>
          <p:nvPr/>
        </p:nvSpPr>
        <p:spPr>
          <a:xfrm>
            <a:off x="2336377" y="3112565"/>
            <a:ext cx="2140074" cy="215444"/>
          </a:xfrm>
          <a:prstGeom prst="rect">
            <a:avLst/>
          </a:prstGeom>
          <a:noFill/>
          <a:ln>
            <a:noFill/>
          </a:ln>
        </p:spPr>
        <p:txBody>
          <a:bodyPr wrap="none" lIns="0" tIns="0" rIns="0" bIns="0" anchor="t">
            <a:spAutoFit/>
          </a:bodyPr>
          <a:lstStyle/>
          <a:p>
            <a:pPr algn="r"/>
            <a:r>
              <a:rPr sz="1400" b="0" dirty="0">
                <a:solidFill>
                  <a:srgbClr val="484848"/>
                </a:solidFill>
              </a:rPr>
              <a:t>Leads to better health results</a:t>
            </a:r>
          </a:p>
        </p:txBody>
      </p:sp>
      <p:sp>
        <p:nvSpPr>
          <p:cNvPr id="17" name="TextBox 16"/>
          <p:cNvSpPr txBox="1"/>
          <p:nvPr/>
        </p:nvSpPr>
        <p:spPr>
          <a:xfrm>
            <a:off x="3602972" y="3713324"/>
            <a:ext cx="873252" cy="215444"/>
          </a:xfrm>
          <a:prstGeom prst="rect">
            <a:avLst/>
          </a:prstGeom>
          <a:noFill/>
          <a:ln>
            <a:noFill/>
          </a:ln>
        </p:spPr>
        <p:txBody>
          <a:bodyPr wrap="none" lIns="0" tIns="0" rIns="0" bIns="0" anchor="t">
            <a:spAutoFit/>
          </a:bodyPr>
          <a:lstStyle/>
          <a:p>
            <a:pPr algn="r"/>
            <a:r>
              <a:rPr sz="1400" b="1" dirty="0">
                <a:solidFill>
                  <a:srgbClr val="1EABDA"/>
                </a:solidFill>
              </a:rPr>
              <a:t>Timely Care</a:t>
            </a:r>
          </a:p>
        </p:txBody>
      </p:sp>
      <p:sp>
        <p:nvSpPr>
          <p:cNvPr id="18" name="TextBox 17"/>
          <p:cNvSpPr txBox="1"/>
          <p:nvPr/>
        </p:nvSpPr>
        <p:spPr>
          <a:xfrm>
            <a:off x="1377396" y="3999670"/>
            <a:ext cx="3099055" cy="215444"/>
          </a:xfrm>
          <a:prstGeom prst="rect">
            <a:avLst/>
          </a:prstGeom>
          <a:noFill/>
          <a:ln>
            <a:noFill/>
          </a:ln>
        </p:spPr>
        <p:txBody>
          <a:bodyPr wrap="none" lIns="0" tIns="0" rIns="0" bIns="0" anchor="t">
            <a:spAutoFit/>
          </a:bodyPr>
          <a:lstStyle/>
          <a:p>
            <a:pPr algn="r"/>
            <a:r>
              <a:rPr sz="1400" b="0" dirty="0">
                <a:solidFill>
                  <a:srgbClr val="484848"/>
                </a:solidFill>
              </a:rPr>
              <a:t>Encourages seeking medical care promptly</a:t>
            </a:r>
          </a:p>
        </p:txBody>
      </p:sp>
      <p:sp>
        <p:nvSpPr>
          <p:cNvPr id="19" name="TextBox 18"/>
          <p:cNvSpPr txBox="1"/>
          <p:nvPr/>
        </p:nvSpPr>
        <p:spPr>
          <a:xfrm>
            <a:off x="3559278" y="4600429"/>
            <a:ext cx="916918" cy="215444"/>
          </a:xfrm>
          <a:prstGeom prst="rect">
            <a:avLst/>
          </a:prstGeom>
          <a:noFill/>
          <a:ln>
            <a:noFill/>
          </a:ln>
        </p:spPr>
        <p:txBody>
          <a:bodyPr wrap="none" lIns="0" tIns="0" rIns="0" bIns="0" anchor="t">
            <a:spAutoFit/>
          </a:bodyPr>
          <a:lstStyle/>
          <a:p>
            <a:pPr algn="r"/>
            <a:r>
              <a:rPr sz="1400" b="1" dirty="0">
                <a:solidFill>
                  <a:srgbClr val="4E88E7"/>
                </a:solidFill>
              </a:rPr>
              <a:t>Accessibility</a:t>
            </a:r>
          </a:p>
        </p:txBody>
      </p:sp>
      <p:sp>
        <p:nvSpPr>
          <p:cNvPr id="20" name="TextBox 19"/>
          <p:cNvSpPr txBox="1"/>
          <p:nvPr/>
        </p:nvSpPr>
        <p:spPr>
          <a:xfrm>
            <a:off x="1857879" y="4886774"/>
            <a:ext cx="2618602" cy="215444"/>
          </a:xfrm>
          <a:prstGeom prst="rect">
            <a:avLst/>
          </a:prstGeom>
          <a:noFill/>
          <a:ln>
            <a:noFill/>
          </a:ln>
        </p:spPr>
        <p:txBody>
          <a:bodyPr wrap="none" lIns="0" tIns="0" rIns="0" bIns="0" anchor="t">
            <a:spAutoFit/>
          </a:bodyPr>
          <a:lstStyle/>
          <a:p>
            <a:pPr algn="r"/>
            <a:r>
              <a:rPr sz="1400" b="0" dirty="0">
                <a:solidFill>
                  <a:srgbClr val="484848"/>
                </a:solidFill>
              </a:rPr>
              <a:t>Increases access to medical services</a:t>
            </a:r>
          </a:p>
        </p:txBody>
      </p:sp>
      <p:sp>
        <p:nvSpPr>
          <p:cNvPr id="21" name="TextBox 20"/>
          <p:cNvSpPr txBox="1"/>
          <p:nvPr/>
        </p:nvSpPr>
        <p:spPr>
          <a:xfrm>
            <a:off x="3467891" y="5487533"/>
            <a:ext cx="1008289" cy="215444"/>
          </a:xfrm>
          <a:prstGeom prst="rect">
            <a:avLst/>
          </a:prstGeom>
          <a:noFill/>
          <a:ln>
            <a:noFill/>
          </a:ln>
        </p:spPr>
        <p:txBody>
          <a:bodyPr wrap="none" lIns="0" tIns="0" rIns="0" bIns="0" anchor="t">
            <a:spAutoFit/>
          </a:bodyPr>
          <a:lstStyle/>
          <a:p>
            <a:pPr algn="r"/>
            <a:r>
              <a:rPr sz="1400" b="1" dirty="0">
                <a:solidFill>
                  <a:srgbClr val="3CC583"/>
                </a:solidFill>
                <a:latin typeface="Roboto"/>
              </a:rPr>
              <a:t>Affordability</a:t>
            </a:r>
          </a:p>
        </p:txBody>
      </p:sp>
      <p:sp>
        <p:nvSpPr>
          <p:cNvPr id="22" name="TextBox 21"/>
          <p:cNvSpPr txBox="1"/>
          <p:nvPr/>
        </p:nvSpPr>
        <p:spPr>
          <a:xfrm>
            <a:off x="1547103" y="5773879"/>
            <a:ext cx="2929392" cy="215444"/>
          </a:xfrm>
          <a:prstGeom prst="rect">
            <a:avLst/>
          </a:prstGeom>
          <a:noFill/>
          <a:ln>
            <a:noFill/>
          </a:ln>
        </p:spPr>
        <p:txBody>
          <a:bodyPr wrap="none" lIns="0" tIns="0" rIns="0" bIns="0" anchor="t">
            <a:spAutoFit/>
          </a:bodyPr>
          <a:lstStyle/>
          <a:p>
            <a:pPr algn="r"/>
            <a:r>
              <a:rPr sz="1400" b="0" dirty="0">
                <a:solidFill>
                  <a:srgbClr val="484848"/>
                </a:solidFill>
              </a:rPr>
              <a:t>Makes medical services more affordable</a:t>
            </a:r>
          </a:p>
        </p:txBody>
      </p:sp>
      <p:sp>
        <p:nvSpPr>
          <p:cNvPr id="23" name="Rounded Rectangle 22"/>
          <p:cNvSpPr/>
          <p:nvPr/>
        </p:nvSpPr>
        <p:spPr>
          <a:xfrm>
            <a:off x="4690570" y="1842558"/>
            <a:ext cx="310455" cy="341496"/>
          </a:xfrm>
          <a:custGeom>
            <a:avLst/>
            <a:gdLst/>
            <a:ahLst/>
            <a:cxnLst/>
            <a:rect l="0" t="0" r="0" b="0"/>
            <a:pathLst>
              <a:path w="310455" h="341496">
                <a:moveTo>
                  <a:pt x="236537" y="126114"/>
                </a:moveTo>
                <a:lnTo>
                  <a:pt x="236537" y="185248"/>
                </a:lnTo>
                <a:cubicBezTo>
                  <a:pt x="236537" y="189330"/>
                  <a:pt x="233228" y="192640"/>
                  <a:pt x="229145" y="192640"/>
                </a:cubicBezTo>
                <a:lnTo>
                  <a:pt x="192186" y="192640"/>
                </a:lnTo>
                <a:lnTo>
                  <a:pt x="192186" y="229599"/>
                </a:lnTo>
                <a:cubicBezTo>
                  <a:pt x="192186" y="233681"/>
                  <a:pt x="188877" y="236991"/>
                  <a:pt x="184794" y="236991"/>
                </a:cubicBezTo>
                <a:lnTo>
                  <a:pt x="125660" y="236991"/>
                </a:lnTo>
                <a:cubicBezTo>
                  <a:pt x="121578" y="236991"/>
                  <a:pt x="118268" y="233681"/>
                  <a:pt x="118268" y="229599"/>
                </a:cubicBezTo>
                <a:lnTo>
                  <a:pt x="118268" y="192640"/>
                </a:lnTo>
                <a:lnTo>
                  <a:pt x="81309" y="192640"/>
                </a:lnTo>
                <a:cubicBezTo>
                  <a:pt x="77227" y="192640"/>
                  <a:pt x="73917" y="189330"/>
                  <a:pt x="73917" y="185248"/>
                </a:cubicBezTo>
                <a:lnTo>
                  <a:pt x="73917" y="126114"/>
                </a:lnTo>
                <a:cubicBezTo>
                  <a:pt x="73917" y="122031"/>
                  <a:pt x="77227" y="118722"/>
                  <a:pt x="81309" y="118722"/>
                </a:cubicBezTo>
                <a:lnTo>
                  <a:pt x="118268" y="118722"/>
                </a:lnTo>
                <a:lnTo>
                  <a:pt x="118268" y="81763"/>
                </a:lnTo>
                <a:cubicBezTo>
                  <a:pt x="118268" y="77680"/>
                  <a:pt x="121578" y="74371"/>
                  <a:pt x="125660" y="74371"/>
                </a:cubicBezTo>
                <a:lnTo>
                  <a:pt x="184794" y="74371"/>
                </a:lnTo>
                <a:cubicBezTo>
                  <a:pt x="188877" y="74371"/>
                  <a:pt x="192186" y="77680"/>
                  <a:pt x="192186" y="81763"/>
                </a:cubicBezTo>
                <a:lnTo>
                  <a:pt x="192186" y="118722"/>
                </a:lnTo>
                <a:lnTo>
                  <a:pt x="229145" y="118722"/>
                </a:lnTo>
                <a:cubicBezTo>
                  <a:pt x="233228" y="118722"/>
                  <a:pt x="236537" y="122031"/>
                  <a:pt x="236537" y="126114"/>
                </a:cubicBezTo>
                <a:close/>
                <a:moveTo>
                  <a:pt x="0" y="48869"/>
                </a:moveTo>
                <a:lnTo>
                  <a:pt x="0" y="161772"/>
                </a:lnTo>
                <a:cubicBezTo>
                  <a:pt x="889" y="238190"/>
                  <a:pt x="49426" y="305913"/>
                  <a:pt x="121506" y="331310"/>
                </a:cubicBezTo>
                <a:lnTo>
                  <a:pt x="138078" y="337430"/>
                </a:lnTo>
                <a:cubicBezTo>
                  <a:pt x="149149" y="341496"/>
                  <a:pt x="161305" y="341496"/>
                  <a:pt x="172376" y="337430"/>
                </a:cubicBezTo>
                <a:lnTo>
                  <a:pt x="188949" y="331310"/>
                </a:lnTo>
                <a:cubicBezTo>
                  <a:pt x="261029" y="305913"/>
                  <a:pt x="309565" y="238190"/>
                  <a:pt x="310455" y="161772"/>
                </a:cubicBezTo>
                <a:lnTo>
                  <a:pt x="310455" y="48869"/>
                </a:lnTo>
                <a:cubicBezTo>
                  <a:pt x="310425" y="39802"/>
                  <a:pt x="304993" y="31626"/>
                  <a:pt x="296647" y="28084"/>
                </a:cubicBezTo>
                <a:cubicBezTo>
                  <a:pt x="251862" y="9399"/>
                  <a:pt x="203751" y="0"/>
                  <a:pt x="155227" y="453"/>
                </a:cubicBezTo>
                <a:cubicBezTo>
                  <a:pt x="106703" y="0"/>
                  <a:pt x="58592" y="9399"/>
                  <a:pt x="13807" y="28084"/>
                </a:cubicBezTo>
                <a:cubicBezTo>
                  <a:pt x="5461" y="31626"/>
                  <a:pt x="30" y="39802"/>
                  <a:pt x="0" y="48869"/>
                </a:cubicBezTo>
                <a:close/>
              </a:path>
            </a:pathLst>
          </a:custGeom>
          <a:noFill/>
          <a:ln w="11088">
            <a:solidFill>
              <a:srgbClr val="484848"/>
            </a:solidFill>
          </a:ln>
        </p:spPr>
        <p:txBody>
          <a:bodyPr rtlCol="0" anchor="ctr"/>
          <a:lstStyle/>
          <a:p>
            <a:pPr algn="ctr"/>
            <a:endParaRPr/>
          </a:p>
        </p:txBody>
      </p:sp>
      <p:sp>
        <p:nvSpPr>
          <p:cNvPr id="24" name="Rounded Rectangle 23"/>
          <p:cNvSpPr/>
          <p:nvPr/>
        </p:nvSpPr>
        <p:spPr>
          <a:xfrm>
            <a:off x="4675786" y="2730087"/>
            <a:ext cx="340022" cy="340022"/>
          </a:xfrm>
          <a:custGeom>
            <a:avLst/>
            <a:gdLst/>
            <a:ahLst/>
            <a:cxnLst/>
            <a:rect l="0" t="0" r="0" b="0"/>
            <a:pathLst>
              <a:path w="340022" h="340022">
                <a:moveTo>
                  <a:pt x="0" y="59134"/>
                </a:moveTo>
                <a:cubicBezTo>
                  <a:pt x="0" y="91793"/>
                  <a:pt x="19856" y="118268"/>
                  <a:pt x="44350" y="118268"/>
                </a:cubicBezTo>
                <a:cubicBezTo>
                  <a:pt x="68845" y="118268"/>
                  <a:pt x="88701" y="91793"/>
                  <a:pt x="88701" y="59134"/>
                </a:cubicBezTo>
                <a:cubicBezTo>
                  <a:pt x="88701" y="26475"/>
                  <a:pt x="68845" y="0"/>
                  <a:pt x="44350" y="0"/>
                </a:cubicBezTo>
                <a:cubicBezTo>
                  <a:pt x="19856" y="0"/>
                  <a:pt x="0" y="26475"/>
                  <a:pt x="0" y="59134"/>
                </a:cubicBezTo>
                <a:close/>
                <a:moveTo>
                  <a:pt x="44350" y="118268"/>
                </a:moveTo>
                <a:lnTo>
                  <a:pt x="44350" y="340022"/>
                </a:lnTo>
                <a:moveTo>
                  <a:pt x="221753" y="931"/>
                </a:moveTo>
                <a:lnTo>
                  <a:pt x="221753" y="60065"/>
                </a:lnTo>
                <a:cubicBezTo>
                  <a:pt x="221753" y="92724"/>
                  <a:pt x="248229" y="119200"/>
                  <a:pt x="280888" y="119200"/>
                </a:cubicBezTo>
                <a:cubicBezTo>
                  <a:pt x="313547" y="119200"/>
                  <a:pt x="340022" y="92724"/>
                  <a:pt x="340022" y="60065"/>
                </a:cubicBezTo>
                <a:lnTo>
                  <a:pt x="340022" y="931"/>
                </a:lnTo>
                <a:moveTo>
                  <a:pt x="280888" y="0"/>
                </a:moveTo>
                <a:lnTo>
                  <a:pt x="280888" y="340022"/>
                </a:lnTo>
                <a:moveTo>
                  <a:pt x="236537" y="184794"/>
                </a:moveTo>
                <a:cubicBezTo>
                  <a:pt x="236537" y="180712"/>
                  <a:pt x="233228" y="177403"/>
                  <a:pt x="229145" y="177403"/>
                </a:cubicBezTo>
                <a:lnTo>
                  <a:pt x="192186" y="177403"/>
                </a:lnTo>
                <a:lnTo>
                  <a:pt x="192186" y="140444"/>
                </a:lnTo>
                <a:cubicBezTo>
                  <a:pt x="192186" y="136361"/>
                  <a:pt x="188877" y="133052"/>
                  <a:pt x="184794" y="133052"/>
                </a:cubicBezTo>
                <a:lnTo>
                  <a:pt x="140444" y="133052"/>
                </a:lnTo>
                <a:cubicBezTo>
                  <a:pt x="136361" y="133052"/>
                  <a:pt x="133052" y="136361"/>
                  <a:pt x="133052" y="140444"/>
                </a:cubicBezTo>
                <a:lnTo>
                  <a:pt x="133052" y="177403"/>
                </a:lnTo>
                <a:lnTo>
                  <a:pt x="96093" y="177403"/>
                </a:lnTo>
                <a:cubicBezTo>
                  <a:pt x="92011" y="177403"/>
                  <a:pt x="88701" y="180712"/>
                  <a:pt x="88701" y="184794"/>
                </a:cubicBezTo>
                <a:lnTo>
                  <a:pt x="88701" y="229145"/>
                </a:lnTo>
                <a:cubicBezTo>
                  <a:pt x="88701" y="233228"/>
                  <a:pt x="92011" y="236537"/>
                  <a:pt x="96093" y="236537"/>
                </a:cubicBezTo>
                <a:lnTo>
                  <a:pt x="133052" y="236537"/>
                </a:lnTo>
                <a:lnTo>
                  <a:pt x="133052" y="273496"/>
                </a:lnTo>
                <a:cubicBezTo>
                  <a:pt x="133052" y="277578"/>
                  <a:pt x="136361" y="280888"/>
                  <a:pt x="140444" y="280888"/>
                </a:cubicBezTo>
                <a:lnTo>
                  <a:pt x="184794" y="280888"/>
                </a:lnTo>
                <a:cubicBezTo>
                  <a:pt x="188877" y="280888"/>
                  <a:pt x="192186" y="277578"/>
                  <a:pt x="192186" y="273496"/>
                </a:cubicBezTo>
                <a:lnTo>
                  <a:pt x="192186" y="236537"/>
                </a:lnTo>
                <a:lnTo>
                  <a:pt x="229145" y="236537"/>
                </a:lnTo>
                <a:cubicBezTo>
                  <a:pt x="233228" y="236537"/>
                  <a:pt x="236537" y="233228"/>
                  <a:pt x="236537" y="229145"/>
                </a:cubicBezTo>
                <a:close/>
              </a:path>
            </a:pathLst>
          </a:custGeom>
          <a:noFill/>
          <a:ln w="11088">
            <a:solidFill>
              <a:srgbClr val="484848"/>
            </a:solidFill>
          </a:ln>
        </p:spPr>
        <p:txBody>
          <a:bodyPr rtlCol="0" anchor="ctr"/>
          <a:lstStyle/>
          <a:p>
            <a:pPr algn="ctr"/>
            <a:endParaRPr/>
          </a:p>
        </p:txBody>
      </p:sp>
      <p:sp>
        <p:nvSpPr>
          <p:cNvPr id="25" name="Rounded Rectangle 24"/>
          <p:cNvSpPr/>
          <p:nvPr/>
        </p:nvSpPr>
        <p:spPr>
          <a:xfrm>
            <a:off x="4683178" y="3617148"/>
            <a:ext cx="325239" cy="340022"/>
          </a:xfrm>
          <a:custGeom>
            <a:avLst/>
            <a:gdLst/>
            <a:ahLst/>
            <a:cxnLst/>
            <a:rect l="0" t="0" r="0" b="0"/>
            <a:pathLst>
              <a:path w="325239" h="340022">
                <a:moveTo>
                  <a:pt x="147835" y="280888"/>
                </a:moveTo>
                <a:lnTo>
                  <a:pt x="84414" y="280888"/>
                </a:lnTo>
                <a:cubicBezTo>
                  <a:pt x="77323" y="280890"/>
                  <a:pt x="70666" y="277478"/>
                  <a:pt x="66526" y="271722"/>
                </a:cubicBezTo>
                <a:lnTo>
                  <a:pt x="19070" y="205196"/>
                </a:lnTo>
                <a:cubicBezTo>
                  <a:pt x="13720" y="198848"/>
                  <a:pt x="12363" y="190044"/>
                  <a:pt x="15554" y="182380"/>
                </a:cubicBezTo>
                <a:cubicBezTo>
                  <a:pt x="18745" y="174716"/>
                  <a:pt x="25950" y="169477"/>
                  <a:pt x="34224" y="168802"/>
                </a:cubicBezTo>
                <a:cubicBezTo>
                  <a:pt x="42498" y="168128"/>
                  <a:pt x="50456" y="172131"/>
                  <a:pt x="54847" y="179177"/>
                </a:cubicBezTo>
                <a:lnTo>
                  <a:pt x="95797" y="236537"/>
                </a:lnTo>
                <a:lnTo>
                  <a:pt x="147835" y="236537"/>
                </a:lnTo>
                <a:moveTo>
                  <a:pt x="84414" y="280888"/>
                </a:moveTo>
                <a:lnTo>
                  <a:pt x="7391" y="280888"/>
                </a:lnTo>
                <a:cubicBezTo>
                  <a:pt x="3309" y="280888"/>
                  <a:pt x="0" y="284197"/>
                  <a:pt x="0" y="288280"/>
                </a:cubicBezTo>
                <a:lnTo>
                  <a:pt x="0" y="340022"/>
                </a:lnTo>
                <a:moveTo>
                  <a:pt x="325239" y="340022"/>
                </a:moveTo>
                <a:lnTo>
                  <a:pt x="325239" y="310455"/>
                </a:lnTo>
                <a:moveTo>
                  <a:pt x="0" y="59134"/>
                </a:moveTo>
                <a:cubicBezTo>
                  <a:pt x="0" y="91793"/>
                  <a:pt x="26475" y="118268"/>
                  <a:pt x="59134" y="118268"/>
                </a:cubicBezTo>
                <a:cubicBezTo>
                  <a:pt x="91793" y="118268"/>
                  <a:pt x="118268" y="91793"/>
                  <a:pt x="118268" y="59134"/>
                </a:cubicBezTo>
                <a:cubicBezTo>
                  <a:pt x="118268" y="26475"/>
                  <a:pt x="91793" y="0"/>
                  <a:pt x="59134" y="0"/>
                </a:cubicBezTo>
                <a:cubicBezTo>
                  <a:pt x="26475" y="0"/>
                  <a:pt x="0" y="26475"/>
                  <a:pt x="0" y="59134"/>
                </a:cubicBezTo>
                <a:moveTo>
                  <a:pt x="85301" y="59134"/>
                </a:moveTo>
                <a:lnTo>
                  <a:pt x="59134" y="59134"/>
                </a:lnTo>
                <a:lnTo>
                  <a:pt x="59134" y="32967"/>
                </a:lnTo>
                <a:moveTo>
                  <a:pt x="214657" y="36958"/>
                </a:moveTo>
                <a:cubicBezTo>
                  <a:pt x="214657" y="57370"/>
                  <a:pt x="231204" y="73917"/>
                  <a:pt x="251616" y="73917"/>
                </a:cubicBezTo>
                <a:cubicBezTo>
                  <a:pt x="272028" y="73917"/>
                  <a:pt x="288575" y="57370"/>
                  <a:pt x="288575" y="36958"/>
                </a:cubicBezTo>
                <a:cubicBezTo>
                  <a:pt x="288575" y="16547"/>
                  <a:pt x="272028" y="0"/>
                  <a:pt x="251616" y="0"/>
                </a:cubicBezTo>
                <a:cubicBezTo>
                  <a:pt x="231204" y="0"/>
                  <a:pt x="214657" y="16547"/>
                  <a:pt x="214657" y="36958"/>
                </a:cubicBezTo>
                <a:moveTo>
                  <a:pt x="296411" y="139557"/>
                </a:moveTo>
                <a:cubicBezTo>
                  <a:pt x="291569" y="118557"/>
                  <a:pt x="272872" y="103679"/>
                  <a:pt x="251321" y="103679"/>
                </a:cubicBezTo>
                <a:cubicBezTo>
                  <a:pt x="229770" y="103679"/>
                  <a:pt x="211072" y="118557"/>
                  <a:pt x="206231" y="139557"/>
                </a:cubicBezTo>
                <a:lnTo>
                  <a:pt x="177403" y="266104"/>
                </a:lnTo>
                <a:lnTo>
                  <a:pt x="221753" y="266104"/>
                </a:lnTo>
                <a:lnTo>
                  <a:pt x="221753" y="325239"/>
                </a:lnTo>
                <a:cubicBezTo>
                  <a:pt x="221753" y="333403"/>
                  <a:pt x="228372" y="340022"/>
                  <a:pt x="236537" y="340022"/>
                </a:cubicBezTo>
                <a:lnTo>
                  <a:pt x="266104" y="340022"/>
                </a:lnTo>
                <a:cubicBezTo>
                  <a:pt x="274269" y="340022"/>
                  <a:pt x="280888" y="333403"/>
                  <a:pt x="280888" y="325239"/>
                </a:cubicBezTo>
                <a:lnTo>
                  <a:pt x="280888" y="266104"/>
                </a:lnTo>
                <a:lnTo>
                  <a:pt x="325239" y="266104"/>
                </a:lnTo>
                <a:close/>
              </a:path>
            </a:pathLst>
          </a:custGeom>
          <a:noFill/>
          <a:ln w="11088">
            <a:solidFill>
              <a:srgbClr val="484848"/>
            </a:solidFill>
          </a:ln>
        </p:spPr>
        <p:txBody>
          <a:bodyPr rtlCol="0" anchor="ctr"/>
          <a:lstStyle/>
          <a:p>
            <a:pPr algn="ctr"/>
            <a:endParaRPr/>
          </a:p>
        </p:txBody>
      </p:sp>
      <p:sp>
        <p:nvSpPr>
          <p:cNvPr id="26" name="Rounded Rectangle 25"/>
          <p:cNvSpPr/>
          <p:nvPr/>
        </p:nvSpPr>
        <p:spPr>
          <a:xfrm>
            <a:off x="4675786" y="4504209"/>
            <a:ext cx="340022" cy="340022"/>
          </a:xfrm>
          <a:custGeom>
            <a:avLst/>
            <a:gdLst/>
            <a:ahLst/>
            <a:cxnLst/>
            <a:rect l="0" t="0" r="0" b="0"/>
            <a:pathLst>
              <a:path w="340022" h="340022">
                <a:moveTo>
                  <a:pt x="73917" y="96093"/>
                </a:moveTo>
                <a:cubicBezTo>
                  <a:pt x="73917" y="149164"/>
                  <a:pt x="116940" y="192186"/>
                  <a:pt x="170011" y="192186"/>
                </a:cubicBezTo>
                <a:cubicBezTo>
                  <a:pt x="223082" y="192186"/>
                  <a:pt x="266104" y="149164"/>
                  <a:pt x="266104" y="96093"/>
                </a:cubicBezTo>
                <a:cubicBezTo>
                  <a:pt x="266104" y="43022"/>
                  <a:pt x="223082" y="0"/>
                  <a:pt x="170011" y="0"/>
                </a:cubicBezTo>
                <a:cubicBezTo>
                  <a:pt x="116940" y="0"/>
                  <a:pt x="73917" y="43022"/>
                  <a:pt x="73917" y="96093"/>
                </a:cubicBezTo>
                <a:close/>
                <a:moveTo>
                  <a:pt x="221753" y="44395"/>
                </a:moveTo>
                <a:lnTo>
                  <a:pt x="221753" y="44395"/>
                </a:lnTo>
                <a:cubicBezTo>
                  <a:pt x="212289" y="53860"/>
                  <a:pt x="206972" y="66697"/>
                  <a:pt x="206970" y="80082"/>
                </a:cubicBezTo>
                <a:lnTo>
                  <a:pt x="206970" y="85996"/>
                </a:lnTo>
                <a:cubicBezTo>
                  <a:pt x="206970" y="99737"/>
                  <a:pt x="195830" y="110876"/>
                  <a:pt x="182089" y="110876"/>
                </a:cubicBezTo>
                <a:lnTo>
                  <a:pt x="157933" y="110876"/>
                </a:lnTo>
                <a:cubicBezTo>
                  <a:pt x="151326" y="110876"/>
                  <a:pt x="144991" y="108249"/>
                  <a:pt x="140324" y="103573"/>
                </a:cubicBezTo>
                <a:cubicBezTo>
                  <a:pt x="135656" y="98898"/>
                  <a:pt x="133040" y="92558"/>
                  <a:pt x="133052" y="85951"/>
                </a:cubicBezTo>
                <a:lnTo>
                  <a:pt x="133052" y="80038"/>
                </a:lnTo>
                <a:cubicBezTo>
                  <a:pt x="133050" y="66653"/>
                  <a:pt x="127732" y="53816"/>
                  <a:pt x="118268" y="44350"/>
                </a:cubicBezTo>
                <a:lnTo>
                  <a:pt x="118268" y="44350"/>
                </a:lnTo>
                <a:moveTo>
                  <a:pt x="170011" y="155227"/>
                </a:moveTo>
                <a:lnTo>
                  <a:pt x="170011" y="44350"/>
                </a:lnTo>
                <a:moveTo>
                  <a:pt x="192186" y="155227"/>
                </a:moveTo>
                <a:lnTo>
                  <a:pt x="147835" y="155227"/>
                </a:lnTo>
                <a:moveTo>
                  <a:pt x="184794" y="44350"/>
                </a:moveTo>
                <a:lnTo>
                  <a:pt x="155227" y="44350"/>
                </a:lnTo>
                <a:moveTo>
                  <a:pt x="0" y="340022"/>
                </a:moveTo>
                <a:lnTo>
                  <a:pt x="73917" y="340022"/>
                </a:lnTo>
                <a:cubicBezTo>
                  <a:pt x="90247" y="340022"/>
                  <a:pt x="103485" y="326784"/>
                  <a:pt x="103485" y="310455"/>
                </a:cubicBezTo>
                <a:lnTo>
                  <a:pt x="103485" y="280888"/>
                </a:lnTo>
                <a:cubicBezTo>
                  <a:pt x="103485" y="264558"/>
                  <a:pt x="90247" y="251321"/>
                  <a:pt x="73917" y="251321"/>
                </a:cubicBezTo>
                <a:lnTo>
                  <a:pt x="0" y="251321"/>
                </a:lnTo>
                <a:moveTo>
                  <a:pt x="73917" y="340022"/>
                </a:moveTo>
                <a:lnTo>
                  <a:pt x="317847" y="340022"/>
                </a:lnTo>
                <a:cubicBezTo>
                  <a:pt x="334109" y="340022"/>
                  <a:pt x="340022" y="326791"/>
                  <a:pt x="340022" y="310455"/>
                </a:cubicBezTo>
                <a:lnTo>
                  <a:pt x="340022" y="280888"/>
                </a:lnTo>
                <a:cubicBezTo>
                  <a:pt x="340022" y="264626"/>
                  <a:pt x="334109" y="251321"/>
                  <a:pt x="317847" y="251321"/>
                </a:cubicBezTo>
                <a:lnTo>
                  <a:pt x="73917" y="251321"/>
                </a:lnTo>
                <a:moveTo>
                  <a:pt x="280888" y="340022"/>
                </a:moveTo>
                <a:lnTo>
                  <a:pt x="280888" y="251321"/>
                </a:lnTo>
                <a:moveTo>
                  <a:pt x="251321" y="340022"/>
                </a:moveTo>
                <a:lnTo>
                  <a:pt x="251321" y="251321"/>
                </a:lnTo>
                <a:moveTo>
                  <a:pt x="192186" y="340022"/>
                </a:moveTo>
                <a:lnTo>
                  <a:pt x="192186" y="251321"/>
                </a:lnTo>
                <a:moveTo>
                  <a:pt x="162619" y="340022"/>
                </a:moveTo>
                <a:lnTo>
                  <a:pt x="162619" y="251321"/>
                </a:lnTo>
                <a:moveTo>
                  <a:pt x="73917" y="310455"/>
                </a:moveTo>
                <a:lnTo>
                  <a:pt x="14783" y="310455"/>
                </a:lnTo>
                <a:moveTo>
                  <a:pt x="73917" y="280888"/>
                </a:moveTo>
                <a:lnTo>
                  <a:pt x="14783" y="280888"/>
                </a:lnTo>
              </a:path>
            </a:pathLst>
          </a:custGeom>
          <a:noFill/>
          <a:ln w="11088">
            <a:solidFill>
              <a:srgbClr val="484848"/>
            </a:solidFill>
          </a:ln>
        </p:spPr>
        <p:txBody>
          <a:bodyPr rtlCol="0" anchor="ctr"/>
          <a:lstStyle/>
          <a:p>
            <a:pPr algn="ctr"/>
            <a:endParaRPr/>
          </a:p>
        </p:txBody>
      </p:sp>
      <p:sp>
        <p:nvSpPr>
          <p:cNvPr id="27" name="Rounded Rectangle 26"/>
          <p:cNvSpPr/>
          <p:nvPr/>
        </p:nvSpPr>
        <p:spPr>
          <a:xfrm>
            <a:off x="4675786" y="5413460"/>
            <a:ext cx="340022" cy="295675"/>
          </a:xfrm>
          <a:custGeom>
            <a:avLst/>
            <a:gdLst/>
            <a:ahLst/>
            <a:cxnLst/>
            <a:rect l="0" t="0" r="0" b="0"/>
            <a:pathLst>
              <a:path w="340022" h="295675">
                <a:moveTo>
                  <a:pt x="164260" y="224961"/>
                </a:moveTo>
                <a:cubicBezTo>
                  <a:pt x="165663" y="223224"/>
                  <a:pt x="167777" y="222214"/>
                  <a:pt x="170011" y="222214"/>
                </a:cubicBezTo>
                <a:cubicBezTo>
                  <a:pt x="172244" y="222214"/>
                  <a:pt x="174358" y="223224"/>
                  <a:pt x="175762" y="224961"/>
                </a:cubicBezTo>
                <a:lnTo>
                  <a:pt x="223069" y="283623"/>
                </a:lnTo>
                <a:cubicBezTo>
                  <a:pt x="224866" y="285838"/>
                  <a:pt x="225228" y="288889"/>
                  <a:pt x="224000" y="291464"/>
                </a:cubicBezTo>
                <a:cubicBezTo>
                  <a:pt x="222771" y="294038"/>
                  <a:pt x="220171" y="295675"/>
                  <a:pt x="217318" y="295671"/>
                </a:cubicBezTo>
                <a:lnTo>
                  <a:pt x="122703" y="295671"/>
                </a:lnTo>
                <a:cubicBezTo>
                  <a:pt x="119851" y="295675"/>
                  <a:pt x="117251" y="294038"/>
                  <a:pt x="116022" y="291464"/>
                </a:cubicBezTo>
                <a:cubicBezTo>
                  <a:pt x="114793" y="288889"/>
                  <a:pt x="115155" y="285838"/>
                  <a:pt x="116952" y="283623"/>
                </a:cubicBezTo>
                <a:close/>
                <a:moveTo>
                  <a:pt x="340022" y="162619"/>
                </a:moveTo>
                <a:lnTo>
                  <a:pt x="0" y="280888"/>
                </a:lnTo>
                <a:moveTo>
                  <a:pt x="340022" y="51742"/>
                </a:moveTo>
                <a:cubicBezTo>
                  <a:pt x="340022" y="47660"/>
                  <a:pt x="336713" y="44350"/>
                  <a:pt x="332630" y="44350"/>
                </a:cubicBezTo>
                <a:lnTo>
                  <a:pt x="303063" y="44350"/>
                </a:lnTo>
                <a:cubicBezTo>
                  <a:pt x="298981" y="44350"/>
                  <a:pt x="295671" y="41041"/>
                  <a:pt x="295671" y="36958"/>
                </a:cubicBezTo>
                <a:lnTo>
                  <a:pt x="295671" y="7391"/>
                </a:lnTo>
                <a:cubicBezTo>
                  <a:pt x="295671" y="3309"/>
                  <a:pt x="292362" y="0"/>
                  <a:pt x="288279" y="0"/>
                </a:cubicBezTo>
                <a:lnTo>
                  <a:pt x="243929" y="0"/>
                </a:lnTo>
                <a:cubicBezTo>
                  <a:pt x="239846" y="0"/>
                  <a:pt x="236537" y="3309"/>
                  <a:pt x="236537" y="7391"/>
                </a:cubicBezTo>
                <a:lnTo>
                  <a:pt x="236537" y="36958"/>
                </a:lnTo>
                <a:cubicBezTo>
                  <a:pt x="236537" y="41041"/>
                  <a:pt x="233228" y="44350"/>
                  <a:pt x="229145" y="44350"/>
                </a:cubicBezTo>
                <a:lnTo>
                  <a:pt x="199578" y="44350"/>
                </a:lnTo>
                <a:cubicBezTo>
                  <a:pt x="195496" y="44350"/>
                  <a:pt x="192186" y="47660"/>
                  <a:pt x="192186" y="51742"/>
                </a:cubicBezTo>
                <a:lnTo>
                  <a:pt x="192186" y="96093"/>
                </a:lnTo>
                <a:cubicBezTo>
                  <a:pt x="192186" y="100175"/>
                  <a:pt x="195496" y="103485"/>
                  <a:pt x="199578" y="103485"/>
                </a:cubicBezTo>
                <a:lnTo>
                  <a:pt x="236537" y="103485"/>
                </a:lnTo>
                <a:lnTo>
                  <a:pt x="236537" y="140444"/>
                </a:lnTo>
                <a:cubicBezTo>
                  <a:pt x="236537" y="144526"/>
                  <a:pt x="239846" y="147835"/>
                  <a:pt x="243929" y="147835"/>
                </a:cubicBezTo>
                <a:lnTo>
                  <a:pt x="288279" y="147835"/>
                </a:lnTo>
                <a:cubicBezTo>
                  <a:pt x="292362" y="147835"/>
                  <a:pt x="295671" y="144526"/>
                  <a:pt x="295671" y="140444"/>
                </a:cubicBezTo>
                <a:lnTo>
                  <a:pt x="295671" y="103485"/>
                </a:lnTo>
                <a:lnTo>
                  <a:pt x="332630" y="103485"/>
                </a:lnTo>
                <a:cubicBezTo>
                  <a:pt x="336713" y="103485"/>
                  <a:pt x="340022" y="100175"/>
                  <a:pt x="340022" y="96093"/>
                </a:cubicBezTo>
                <a:close/>
                <a:moveTo>
                  <a:pt x="0" y="140444"/>
                </a:moveTo>
                <a:cubicBezTo>
                  <a:pt x="0" y="181267"/>
                  <a:pt x="33094" y="214362"/>
                  <a:pt x="73917" y="214362"/>
                </a:cubicBezTo>
                <a:cubicBezTo>
                  <a:pt x="114741" y="214362"/>
                  <a:pt x="147835" y="181267"/>
                  <a:pt x="147835" y="140444"/>
                </a:cubicBezTo>
                <a:cubicBezTo>
                  <a:pt x="147835" y="99620"/>
                  <a:pt x="114741" y="66526"/>
                  <a:pt x="73917" y="66526"/>
                </a:cubicBezTo>
                <a:cubicBezTo>
                  <a:pt x="33094" y="66526"/>
                  <a:pt x="0" y="99620"/>
                  <a:pt x="0" y="140444"/>
                </a:cubicBezTo>
                <a:close/>
                <a:moveTo>
                  <a:pt x="73917" y="184794"/>
                </a:moveTo>
                <a:lnTo>
                  <a:pt x="73917" y="170011"/>
                </a:lnTo>
                <a:moveTo>
                  <a:pt x="73917" y="110876"/>
                </a:moveTo>
                <a:lnTo>
                  <a:pt x="73917" y="96093"/>
                </a:lnTo>
                <a:moveTo>
                  <a:pt x="103485" y="110876"/>
                </a:moveTo>
                <a:lnTo>
                  <a:pt x="59134" y="110876"/>
                </a:lnTo>
                <a:cubicBezTo>
                  <a:pt x="50969" y="110876"/>
                  <a:pt x="44350" y="117495"/>
                  <a:pt x="44350" y="125660"/>
                </a:cubicBezTo>
                <a:cubicBezTo>
                  <a:pt x="44350" y="133825"/>
                  <a:pt x="50969" y="140444"/>
                  <a:pt x="59134" y="140444"/>
                </a:cubicBezTo>
                <a:lnTo>
                  <a:pt x="88701" y="140444"/>
                </a:lnTo>
                <a:cubicBezTo>
                  <a:pt x="96866" y="140444"/>
                  <a:pt x="103485" y="147062"/>
                  <a:pt x="103485" y="155227"/>
                </a:cubicBezTo>
                <a:cubicBezTo>
                  <a:pt x="103485" y="163392"/>
                  <a:pt x="96866" y="170011"/>
                  <a:pt x="88701" y="170011"/>
                </a:cubicBezTo>
                <a:lnTo>
                  <a:pt x="44350" y="170011"/>
                </a:lnTo>
              </a:path>
            </a:pathLst>
          </a:custGeom>
          <a:noFill/>
          <a:ln w="11088">
            <a:solidFill>
              <a:srgbClr val="484848"/>
            </a:solidFill>
          </a:ln>
        </p:spPr>
        <p:txBody>
          <a:bodyPr rtlCol="0" anchor="ctr"/>
          <a:lstStyle/>
          <a:p>
            <a:pPr algn="ctr"/>
            <a:endParaRPr/>
          </a:p>
        </p:txBody>
      </p:sp>
      <p:sp>
        <p:nvSpPr>
          <p:cNvPr id="31" name="TextBox 30">
            <a:extLst>
              <a:ext uri="{FF2B5EF4-FFF2-40B4-BE49-F238E27FC236}">
                <a16:creationId xmlns="" xmlns:a16="http://schemas.microsoft.com/office/drawing/2014/main" id="{E71BEBA0-721A-4295-B107-4CAF1A89C025}"/>
              </a:ext>
            </a:extLst>
          </p:cNvPr>
          <p:cNvSpPr txBox="1"/>
          <p:nvPr/>
        </p:nvSpPr>
        <p:spPr>
          <a:xfrm>
            <a:off x="986589" y="861538"/>
            <a:ext cx="7988969" cy="830997"/>
          </a:xfrm>
          <a:prstGeom prst="rect">
            <a:avLst/>
          </a:prstGeom>
          <a:noFill/>
        </p:spPr>
        <p:txBody>
          <a:bodyPr wrap="square">
            <a:spAutoFit/>
          </a:bodyPr>
          <a:lstStyle/>
          <a:p>
            <a:r>
              <a:rPr lang="en-US" sz="1600" dirty="0"/>
              <a:t>Health insurance makes medical care cheaper and easier to get. It helps people visit doctors and hospitals on time, which leads to better health and fewer gaps in treatment between different people.</a:t>
            </a:r>
            <a:endParaRPr lang="en-IN" sz="1600" dirty="0"/>
          </a:p>
        </p:txBody>
      </p:sp>
    </p:spTree>
  </p:cSld>
  <p:clrMapOvr>
    <a:masterClrMapping/>
  </p:clrMapOvr>
  <p:transition spd="slow" advTm="40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0724AE-0D6C-4BA3-B06F-7921B656F515}"/>
              </a:ext>
            </a:extLst>
          </p:cNvPr>
          <p:cNvSpPr>
            <a:spLocks noGrp="1"/>
          </p:cNvSpPr>
          <p:nvPr>
            <p:ph type="title"/>
          </p:nvPr>
        </p:nvSpPr>
        <p:spPr>
          <a:xfrm>
            <a:off x="457200" y="274637"/>
            <a:ext cx="8229600" cy="796174"/>
          </a:xfrm>
        </p:spPr>
        <p:txBody>
          <a:bodyPr>
            <a:normAutofit fontScale="90000"/>
          </a:bodyPr>
          <a:lstStyle/>
          <a:p>
            <a:r>
              <a:rPr lang="en-US" sz="2200" b="1" dirty="0"/>
              <a:t>Common Challenges in Health Insurance</a:t>
            </a:r>
            <a:r>
              <a:rPr lang="en-US" b="1" dirty="0"/>
              <a:t/>
            </a:r>
            <a:br>
              <a:rPr lang="en-US" b="1" dirty="0"/>
            </a:br>
            <a:endParaRPr lang="en-IN" dirty="0"/>
          </a:p>
        </p:txBody>
      </p:sp>
      <p:sp>
        <p:nvSpPr>
          <p:cNvPr id="3" name="Content Placeholder 2">
            <a:extLst>
              <a:ext uri="{FF2B5EF4-FFF2-40B4-BE49-F238E27FC236}">
                <a16:creationId xmlns="" xmlns:a16="http://schemas.microsoft.com/office/drawing/2014/main" id="{B37BFD0E-57F0-4977-BBD1-71E0FE50A77D}"/>
              </a:ext>
            </a:extLst>
          </p:cNvPr>
          <p:cNvSpPr>
            <a:spLocks noGrp="1"/>
          </p:cNvSpPr>
          <p:nvPr>
            <p:ph idx="1"/>
          </p:nvPr>
        </p:nvSpPr>
        <p:spPr>
          <a:xfrm>
            <a:off x="5269832" y="1198877"/>
            <a:ext cx="3416968" cy="3615843"/>
          </a:xfrm>
        </p:spPr>
        <p:txBody>
          <a:bodyPr>
            <a:normAutofit lnSpcReduction="10000"/>
          </a:bodyPr>
          <a:lstStyle/>
          <a:p>
            <a:pPr marL="0" indent="0" rtl="0">
              <a:buNone/>
            </a:pPr>
            <a:r>
              <a:rPr lang="en-US" sz="1600" b="1" dirty="0"/>
              <a:t>1 High Premiums</a:t>
            </a:r>
          </a:p>
          <a:p>
            <a:pPr marL="0" indent="0" rtl="0">
              <a:buNone/>
            </a:pPr>
            <a:endParaRPr lang="en-US" sz="1600" b="1" dirty="0"/>
          </a:p>
          <a:p>
            <a:pPr rtl="0"/>
            <a:r>
              <a:rPr lang="en-US" sz="1600" dirty="0"/>
              <a:t>High premiums can be a barrier to accessing health insurance, particularly for low-income individuals and families.</a:t>
            </a:r>
          </a:p>
          <a:p>
            <a:pPr rtl="0"/>
            <a:endParaRPr lang="en-US" sz="1600" dirty="0"/>
          </a:p>
          <a:p>
            <a:pPr marL="0" indent="0" rtl="0">
              <a:buNone/>
            </a:pPr>
            <a:r>
              <a:rPr lang="en-US" sz="1600" b="1" dirty="0"/>
              <a:t>2 Claim Rejection</a:t>
            </a:r>
          </a:p>
          <a:p>
            <a:pPr marL="0" indent="0" rtl="0">
              <a:buNone/>
            </a:pPr>
            <a:endParaRPr lang="en-US" sz="1600" b="1" dirty="0"/>
          </a:p>
          <a:p>
            <a:pPr rtl="0"/>
            <a:r>
              <a:rPr lang="en-US" sz="1600" dirty="0"/>
              <a:t>Claim rejection can occur due to various reasons, such as incomplete documentation, non-disclosure of pre-existing conditions, or policy exclusions.</a:t>
            </a:r>
          </a:p>
          <a:p>
            <a:endParaRPr lang="en-IN" dirty="0"/>
          </a:p>
        </p:txBody>
      </p:sp>
      <p:sp>
        <p:nvSpPr>
          <p:cNvPr id="30" name="Rounded Rectangle 1">
            <a:extLst>
              <a:ext uri="{FF2B5EF4-FFF2-40B4-BE49-F238E27FC236}">
                <a16:creationId xmlns="" xmlns:a16="http://schemas.microsoft.com/office/drawing/2014/main" id="{7B5A58BF-2C53-434C-98EF-2A6A1529E8B7}"/>
              </a:ext>
            </a:extLst>
          </p:cNvPr>
          <p:cNvSpPr/>
          <p:nvPr/>
        </p:nvSpPr>
        <p:spPr>
          <a:xfrm>
            <a:off x="594549" y="2444674"/>
            <a:ext cx="4108206" cy="1616659"/>
          </a:xfrm>
          <a:custGeom>
            <a:avLst/>
            <a:gdLst/>
            <a:ahLst/>
            <a:cxnLst/>
            <a:rect l="0" t="0" r="0" b="0"/>
            <a:pathLst>
              <a:path w="4108206" h="1616659">
                <a:moveTo>
                  <a:pt x="0" y="1264798"/>
                </a:moveTo>
                <a:lnTo>
                  <a:pt x="0" y="351861"/>
                </a:lnTo>
                <a:lnTo>
                  <a:pt x="542046" y="351861"/>
                </a:lnTo>
                <a:lnTo>
                  <a:pt x="570576" y="465978"/>
                </a:lnTo>
                <a:lnTo>
                  <a:pt x="2967035" y="465978"/>
                </a:lnTo>
                <a:lnTo>
                  <a:pt x="2938506" y="351861"/>
                </a:lnTo>
                <a:lnTo>
                  <a:pt x="3195269" y="351861"/>
                </a:lnTo>
                <a:lnTo>
                  <a:pt x="3195269" y="0"/>
                </a:lnTo>
                <a:lnTo>
                  <a:pt x="4108206" y="808329"/>
                </a:lnTo>
                <a:lnTo>
                  <a:pt x="3195288" y="1616659"/>
                </a:lnTo>
                <a:lnTo>
                  <a:pt x="3195288" y="1264798"/>
                </a:lnTo>
                <a:lnTo>
                  <a:pt x="2938515" y="1264798"/>
                </a:lnTo>
                <a:lnTo>
                  <a:pt x="2967045" y="1150680"/>
                </a:lnTo>
                <a:lnTo>
                  <a:pt x="570585" y="1150680"/>
                </a:lnTo>
                <a:lnTo>
                  <a:pt x="542056" y="1264798"/>
                </a:lnTo>
                <a:lnTo>
                  <a:pt x="0" y="1264798"/>
                </a:lnTo>
              </a:path>
            </a:pathLst>
          </a:custGeom>
          <a:solidFill>
            <a:srgbClr val="969696"/>
          </a:solidFill>
          <a:ln>
            <a:noFill/>
          </a:ln>
        </p:spPr>
        <p:txBody>
          <a:bodyPr rtlCol="0" anchor="ctr"/>
          <a:lstStyle/>
          <a:p>
            <a:pPr algn="ctr"/>
            <a:endParaRPr/>
          </a:p>
        </p:txBody>
      </p:sp>
      <p:sp>
        <p:nvSpPr>
          <p:cNvPr id="31" name="Rounded Rectangle 2">
            <a:extLst>
              <a:ext uri="{FF2B5EF4-FFF2-40B4-BE49-F238E27FC236}">
                <a16:creationId xmlns="" xmlns:a16="http://schemas.microsoft.com/office/drawing/2014/main" id="{A4FDEA9A-2D65-471B-8ABA-B6FAE3852E50}"/>
              </a:ext>
            </a:extLst>
          </p:cNvPr>
          <p:cNvSpPr/>
          <p:nvPr/>
        </p:nvSpPr>
        <p:spPr>
          <a:xfrm>
            <a:off x="594539" y="2444674"/>
            <a:ext cx="4108216" cy="1616659"/>
          </a:xfrm>
          <a:custGeom>
            <a:avLst/>
            <a:gdLst/>
            <a:ahLst/>
            <a:cxnLst/>
            <a:rect l="0" t="0" r="0" b="0"/>
            <a:pathLst>
              <a:path w="4108216" h="1616659">
                <a:moveTo>
                  <a:pt x="9" y="1264798"/>
                </a:moveTo>
                <a:lnTo>
                  <a:pt x="0" y="351861"/>
                </a:lnTo>
                <a:lnTo>
                  <a:pt x="542056" y="351861"/>
                </a:lnTo>
                <a:lnTo>
                  <a:pt x="570585" y="465978"/>
                </a:lnTo>
                <a:lnTo>
                  <a:pt x="2967045" y="465978"/>
                </a:lnTo>
                <a:lnTo>
                  <a:pt x="2938515" y="351861"/>
                </a:lnTo>
                <a:lnTo>
                  <a:pt x="3195279" y="351861"/>
                </a:lnTo>
                <a:lnTo>
                  <a:pt x="3195279" y="0"/>
                </a:lnTo>
                <a:lnTo>
                  <a:pt x="4108216" y="808329"/>
                </a:lnTo>
                <a:lnTo>
                  <a:pt x="3195295" y="1616659"/>
                </a:lnTo>
                <a:lnTo>
                  <a:pt x="3195279" y="1264798"/>
                </a:lnTo>
                <a:lnTo>
                  <a:pt x="2938525" y="1264798"/>
                </a:lnTo>
                <a:lnTo>
                  <a:pt x="2967054" y="1150680"/>
                </a:lnTo>
                <a:lnTo>
                  <a:pt x="570595" y="1150680"/>
                </a:lnTo>
                <a:lnTo>
                  <a:pt x="542065" y="1264798"/>
                </a:lnTo>
                <a:lnTo>
                  <a:pt x="9" y="1264798"/>
                </a:lnTo>
                <a:close/>
              </a:path>
            </a:pathLst>
          </a:custGeom>
          <a:noFill/>
          <a:ln w="14264">
            <a:solidFill>
              <a:srgbClr val="FFFFFF"/>
            </a:solidFill>
          </a:ln>
        </p:spPr>
        <p:txBody>
          <a:bodyPr rtlCol="0" anchor="ctr"/>
          <a:lstStyle/>
          <a:p>
            <a:pPr algn="ctr"/>
            <a:endParaRPr/>
          </a:p>
        </p:txBody>
      </p:sp>
      <p:sp>
        <p:nvSpPr>
          <p:cNvPr id="32" name="Rounded Rectangle 3">
            <a:extLst>
              <a:ext uri="{FF2B5EF4-FFF2-40B4-BE49-F238E27FC236}">
                <a16:creationId xmlns="" xmlns:a16="http://schemas.microsoft.com/office/drawing/2014/main" id="{D3FF323D-ECB4-419D-BE10-7CAD9BA1B569}"/>
              </a:ext>
            </a:extLst>
          </p:cNvPr>
          <p:cNvSpPr/>
          <p:nvPr/>
        </p:nvSpPr>
        <p:spPr>
          <a:xfrm>
            <a:off x="734892" y="3595318"/>
            <a:ext cx="2826700" cy="1721266"/>
          </a:xfrm>
          <a:custGeom>
            <a:avLst/>
            <a:gdLst/>
            <a:ahLst/>
            <a:cxnLst/>
            <a:rect l="0" t="0" r="0" b="0"/>
            <a:pathLst>
              <a:path w="2826700" h="1721266">
                <a:moveTo>
                  <a:pt x="2826700" y="0"/>
                </a:moveTo>
                <a:lnTo>
                  <a:pt x="2712582" y="456468"/>
                </a:lnTo>
                <a:lnTo>
                  <a:pt x="316123" y="456468"/>
                </a:lnTo>
                <a:lnTo>
                  <a:pt x="430240" y="0"/>
                </a:lnTo>
                <a:lnTo>
                  <a:pt x="2826700" y="0"/>
                </a:lnTo>
                <a:moveTo>
                  <a:pt x="2683977" y="570585"/>
                </a:moveTo>
                <a:lnTo>
                  <a:pt x="2569860" y="1027054"/>
                </a:lnTo>
                <a:lnTo>
                  <a:pt x="173400" y="1027054"/>
                </a:lnTo>
                <a:lnTo>
                  <a:pt x="287518" y="570585"/>
                </a:lnTo>
                <a:lnTo>
                  <a:pt x="2683977" y="570585"/>
                </a:lnTo>
                <a:moveTo>
                  <a:pt x="2510500" y="1264798"/>
                </a:moveTo>
                <a:lnTo>
                  <a:pt x="2541407" y="1141171"/>
                </a:lnTo>
                <a:lnTo>
                  <a:pt x="144947" y="1141171"/>
                </a:lnTo>
                <a:lnTo>
                  <a:pt x="30830" y="1597639"/>
                </a:lnTo>
                <a:lnTo>
                  <a:pt x="0" y="1721266"/>
                </a:lnTo>
                <a:lnTo>
                  <a:pt x="2396459" y="1721266"/>
                </a:lnTo>
                <a:lnTo>
                  <a:pt x="2510576" y="1264798"/>
                </a:lnTo>
              </a:path>
            </a:pathLst>
          </a:custGeom>
          <a:solidFill>
            <a:srgbClr val="E0CB15"/>
          </a:solidFill>
          <a:ln>
            <a:noFill/>
          </a:ln>
        </p:spPr>
        <p:txBody>
          <a:bodyPr rtlCol="0" anchor="ctr"/>
          <a:lstStyle/>
          <a:p>
            <a:pPr algn="ctr"/>
            <a:endParaRPr/>
          </a:p>
        </p:txBody>
      </p:sp>
      <p:sp>
        <p:nvSpPr>
          <p:cNvPr id="33" name="Rounded Rectangle 4">
            <a:extLst>
              <a:ext uri="{FF2B5EF4-FFF2-40B4-BE49-F238E27FC236}">
                <a16:creationId xmlns="" xmlns:a16="http://schemas.microsoft.com/office/drawing/2014/main" id="{7A5DEA27-A205-4E2D-AAE1-E5A0A30CE1D7}"/>
              </a:ext>
            </a:extLst>
          </p:cNvPr>
          <p:cNvSpPr/>
          <p:nvPr/>
        </p:nvSpPr>
        <p:spPr>
          <a:xfrm>
            <a:off x="734892" y="3595318"/>
            <a:ext cx="2826701" cy="1721266"/>
          </a:xfrm>
          <a:custGeom>
            <a:avLst/>
            <a:gdLst/>
            <a:ahLst/>
            <a:cxnLst/>
            <a:rect l="0" t="0" r="0" b="0"/>
            <a:pathLst>
              <a:path w="2826701" h="1721266">
                <a:moveTo>
                  <a:pt x="2826701" y="0"/>
                </a:moveTo>
                <a:lnTo>
                  <a:pt x="2712584" y="456468"/>
                </a:lnTo>
                <a:lnTo>
                  <a:pt x="316124" y="456468"/>
                </a:lnTo>
                <a:lnTo>
                  <a:pt x="430241" y="0"/>
                </a:lnTo>
                <a:lnTo>
                  <a:pt x="2826701" y="0"/>
                </a:lnTo>
                <a:close/>
                <a:moveTo>
                  <a:pt x="2683980" y="570585"/>
                </a:moveTo>
                <a:lnTo>
                  <a:pt x="2569863" y="1027054"/>
                </a:lnTo>
                <a:lnTo>
                  <a:pt x="173404" y="1027054"/>
                </a:lnTo>
                <a:lnTo>
                  <a:pt x="287521" y="570585"/>
                </a:lnTo>
                <a:lnTo>
                  <a:pt x="2683980" y="570585"/>
                </a:lnTo>
                <a:close/>
                <a:moveTo>
                  <a:pt x="2510497" y="1264798"/>
                </a:moveTo>
                <a:lnTo>
                  <a:pt x="2541404" y="1141171"/>
                </a:lnTo>
                <a:lnTo>
                  <a:pt x="144944" y="1141171"/>
                </a:lnTo>
                <a:lnTo>
                  <a:pt x="30827" y="1597639"/>
                </a:lnTo>
                <a:lnTo>
                  <a:pt x="30906" y="1597639"/>
                </a:lnTo>
                <a:lnTo>
                  <a:pt x="0" y="1721266"/>
                </a:lnTo>
                <a:lnTo>
                  <a:pt x="2396459" y="1721266"/>
                </a:lnTo>
                <a:lnTo>
                  <a:pt x="2510576" y="1264798"/>
                </a:lnTo>
                <a:lnTo>
                  <a:pt x="2510497" y="1264798"/>
                </a:lnTo>
                <a:close/>
              </a:path>
            </a:pathLst>
          </a:custGeom>
          <a:noFill/>
          <a:ln w="14264">
            <a:solidFill>
              <a:srgbClr val="FFFFFF"/>
            </a:solidFill>
          </a:ln>
        </p:spPr>
        <p:txBody>
          <a:bodyPr rtlCol="0" anchor="ctr"/>
          <a:lstStyle/>
          <a:p>
            <a:pPr algn="ctr"/>
            <a:endParaRPr/>
          </a:p>
        </p:txBody>
      </p:sp>
      <p:sp>
        <p:nvSpPr>
          <p:cNvPr id="34" name="Rounded Rectangle 5">
            <a:extLst>
              <a:ext uri="{FF2B5EF4-FFF2-40B4-BE49-F238E27FC236}">
                <a16:creationId xmlns="" xmlns:a16="http://schemas.microsoft.com/office/drawing/2014/main" id="{364DC9A6-4621-4A15-8C68-8466BF949DB3}"/>
              </a:ext>
            </a:extLst>
          </p:cNvPr>
          <p:cNvSpPr/>
          <p:nvPr/>
        </p:nvSpPr>
        <p:spPr>
          <a:xfrm>
            <a:off x="737186" y="1198877"/>
            <a:ext cx="2824398" cy="1711737"/>
          </a:xfrm>
          <a:custGeom>
            <a:avLst/>
            <a:gdLst/>
            <a:ahLst/>
            <a:cxnLst/>
            <a:rect l="0" t="0" r="0" b="0"/>
            <a:pathLst>
              <a:path w="2824398" h="1711737">
                <a:moveTo>
                  <a:pt x="2710281" y="1255269"/>
                </a:moveTo>
                <a:lnTo>
                  <a:pt x="2824398" y="1711737"/>
                </a:lnTo>
                <a:lnTo>
                  <a:pt x="427939" y="1711737"/>
                </a:lnTo>
                <a:lnTo>
                  <a:pt x="313822" y="1255269"/>
                </a:lnTo>
                <a:lnTo>
                  <a:pt x="2710281" y="1255269"/>
                </a:lnTo>
                <a:moveTo>
                  <a:pt x="2567559" y="684683"/>
                </a:moveTo>
                <a:lnTo>
                  <a:pt x="2681676" y="1141152"/>
                </a:lnTo>
                <a:lnTo>
                  <a:pt x="285216" y="1141152"/>
                </a:lnTo>
                <a:lnTo>
                  <a:pt x="171099" y="684683"/>
                </a:lnTo>
                <a:lnTo>
                  <a:pt x="2567559" y="684683"/>
                </a:lnTo>
                <a:moveTo>
                  <a:pt x="2539105" y="570585"/>
                </a:moveTo>
                <a:lnTo>
                  <a:pt x="142646" y="570585"/>
                </a:lnTo>
                <a:lnTo>
                  <a:pt x="0" y="0"/>
                </a:lnTo>
                <a:lnTo>
                  <a:pt x="2396459" y="0"/>
                </a:lnTo>
                <a:lnTo>
                  <a:pt x="2539105" y="570585"/>
                </a:lnTo>
              </a:path>
            </a:pathLst>
          </a:custGeom>
          <a:solidFill>
            <a:srgbClr val="DE8431"/>
          </a:solidFill>
          <a:ln>
            <a:noFill/>
          </a:ln>
        </p:spPr>
        <p:txBody>
          <a:bodyPr rtlCol="0" anchor="ctr"/>
          <a:lstStyle/>
          <a:p>
            <a:pPr algn="ctr"/>
            <a:endParaRPr/>
          </a:p>
        </p:txBody>
      </p:sp>
      <p:sp>
        <p:nvSpPr>
          <p:cNvPr id="35" name="Rounded Rectangle 6">
            <a:extLst>
              <a:ext uri="{FF2B5EF4-FFF2-40B4-BE49-F238E27FC236}">
                <a16:creationId xmlns="" xmlns:a16="http://schemas.microsoft.com/office/drawing/2014/main" id="{EFF849A1-5EA5-440D-AB3D-8F5E257580A1}"/>
              </a:ext>
            </a:extLst>
          </p:cNvPr>
          <p:cNvSpPr/>
          <p:nvPr/>
        </p:nvSpPr>
        <p:spPr>
          <a:xfrm>
            <a:off x="737186" y="1198877"/>
            <a:ext cx="2824398" cy="1711738"/>
          </a:xfrm>
          <a:custGeom>
            <a:avLst/>
            <a:gdLst/>
            <a:ahLst/>
            <a:cxnLst/>
            <a:rect l="0" t="0" r="0" b="0"/>
            <a:pathLst>
              <a:path w="2824398" h="1711738">
                <a:moveTo>
                  <a:pt x="2710281" y="1255270"/>
                </a:moveTo>
                <a:lnTo>
                  <a:pt x="2824398" y="1711738"/>
                </a:lnTo>
                <a:lnTo>
                  <a:pt x="427939" y="1711738"/>
                </a:lnTo>
                <a:lnTo>
                  <a:pt x="313822" y="1255270"/>
                </a:lnTo>
                <a:lnTo>
                  <a:pt x="2710281" y="1255270"/>
                </a:lnTo>
                <a:close/>
                <a:moveTo>
                  <a:pt x="2567561" y="684684"/>
                </a:moveTo>
                <a:lnTo>
                  <a:pt x="2681678" y="1141153"/>
                </a:lnTo>
                <a:lnTo>
                  <a:pt x="285218" y="1141153"/>
                </a:lnTo>
                <a:lnTo>
                  <a:pt x="171101" y="684684"/>
                </a:lnTo>
                <a:lnTo>
                  <a:pt x="2567561" y="684684"/>
                </a:lnTo>
                <a:close/>
                <a:moveTo>
                  <a:pt x="2539105" y="570585"/>
                </a:moveTo>
                <a:lnTo>
                  <a:pt x="142646" y="570585"/>
                </a:lnTo>
                <a:lnTo>
                  <a:pt x="0" y="0"/>
                </a:lnTo>
                <a:lnTo>
                  <a:pt x="2396459" y="0"/>
                </a:lnTo>
                <a:lnTo>
                  <a:pt x="2539105" y="570585"/>
                </a:lnTo>
                <a:close/>
              </a:path>
            </a:pathLst>
          </a:custGeom>
          <a:noFill/>
          <a:ln w="14264">
            <a:solidFill>
              <a:srgbClr val="FFFFFF"/>
            </a:solidFill>
          </a:ln>
        </p:spPr>
        <p:txBody>
          <a:bodyPr rtlCol="0" anchor="ctr"/>
          <a:lstStyle/>
          <a:p>
            <a:pPr algn="ctr"/>
            <a:endParaRPr/>
          </a:p>
        </p:txBody>
      </p:sp>
      <p:sp>
        <p:nvSpPr>
          <p:cNvPr id="36" name="TextBox 35">
            <a:extLst>
              <a:ext uri="{FF2B5EF4-FFF2-40B4-BE49-F238E27FC236}">
                <a16:creationId xmlns="" xmlns:a16="http://schemas.microsoft.com/office/drawing/2014/main" id="{9E8B92D0-AA30-46C6-9974-30EF77C95250}"/>
              </a:ext>
            </a:extLst>
          </p:cNvPr>
          <p:cNvSpPr txBox="1"/>
          <p:nvPr/>
        </p:nvSpPr>
        <p:spPr>
          <a:xfrm>
            <a:off x="1704613" y="1389072"/>
            <a:ext cx="1324386" cy="279586"/>
          </a:xfrm>
          <a:prstGeom prst="rect">
            <a:avLst/>
          </a:prstGeom>
          <a:noFill/>
          <a:ln>
            <a:noFill/>
          </a:ln>
        </p:spPr>
        <p:txBody>
          <a:bodyPr wrap="none" lIns="0" tIns="0" rIns="0" bIns="0" anchor="t">
            <a:spAutoFit/>
          </a:bodyPr>
          <a:lstStyle/>
          <a:p>
            <a:pPr algn="r"/>
            <a:r>
              <a:rPr sz="1400" b="1" dirty="0">
                <a:solidFill>
                  <a:srgbClr val="FFFFFF"/>
                </a:solidFill>
                <a:latin typeface="Roboto"/>
              </a:rPr>
              <a:t>High Premiums</a:t>
            </a:r>
          </a:p>
        </p:txBody>
      </p:sp>
      <p:sp>
        <p:nvSpPr>
          <p:cNvPr id="37" name="TextBox 36">
            <a:extLst>
              <a:ext uri="{FF2B5EF4-FFF2-40B4-BE49-F238E27FC236}">
                <a16:creationId xmlns="" xmlns:a16="http://schemas.microsoft.com/office/drawing/2014/main" id="{FB070AD3-BD35-455B-8E3E-E899792BD29B}"/>
              </a:ext>
            </a:extLst>
          </p:cNvPr>
          <p:cNvSpPr txBox="1"/>
          <p:nvPr/>
        </p:nvSpPr>
        <p:spPr>
          <a:xfrm>
            <a:off x="1945401" y="2040491"/>
            <a:ext cx="1226312" cy="199704"/>
          </a:xfrm>
          <a:prstGeom prst="rect">
            <a:avLst/>
          </a:prstGeom>
          <a:noFill/>
          <a:ln>
            <a:noFill/>
          </a:ln>
        </p:spPr>
        <p:txBody>
          <a:bodyPr wrap="none" lIns="0" tIns="0" rIns="0" bIns="0" anchor="t">
            <a:spAutoFit/>
          </a:bodyPr>
          <a:lstStyle/>
          <a:p>
            <a:pPr algn="r"/>
            <a:r>
              <a:rPr sz="1000" b="0" dirty="0">
                <a:solidFill>
                  <a:srgbClr val="FFFFFF"/>
                </a:solidFill>
                <a:latin typeface="Roboto"/>
              </a:rPr>
              <a:t>Affordability Issues</a:t>
            </a:r>
          </a:p>
        </p:txBody>
      </p:sp>
      <p:sp>
        <p:nvSpPr>
          <p:cNvPr id="38" name="TextBox 37">
            <a:extLst>
              <a:ext uri="{FF2B5EF4-FFF2-40B4-BE49-F238E27FC236}">
                <a16:creationId xmlns="" xmlns:a16="http://schemas.microsoft.com/office/drawing/2014/main" id="{E48D44B3-D5FA-48A5-AB07-B093C3B1F957}"/>
              </a:ext>
            </a:extLst>
          </p:cNvPr>
          <p:cNvSpPr txBox="1"/>
          <p:nvPr/>
        </p:nvSpPr>
        <p:spPr>
          <a:xfrm>
            <a:off x="1967178" y="2611076"/>
            <a:ext cx="1347114" cy="199704"/>
          </a:xfrm>
          <a:prstGeom prst="rect">
            <a:avLst/>
          </a:prstGeom>
          <a:noFill/>
          <a:ln>
            <a:noFill/>
          </a:ln>
        </p:spPr>
        <p:txBody>
          <a:bodyPr wrap="none" lIns="0" tIns="0" rIns="0" bIns="0" anchor="t">
            <a:spAutoFit/>
          </a:bodyPr>
          <a:lstStyle/>
          <a:p>
            <a:pPr algn="r"/>
            <a:r>
              <a:rPr sz="1000" b="0">
                <a:solidFill>
                  <a:srgbClr val="FFFFFF"/>
                </a:solidFill>
                <a:latin typeface="Roboto"/>
              </a:rPr>
              <a:t>Low-Income Families</a:t>
            </a:r>
          </a:p>
        </p:txBody>
      </p:sp>
      <p:sp>
        <p:nvSpPr>
          <p:cNvPr id="39" name="TextBox 38">
            <a:extLst>
              <a:ext uri="{FF2B5EF4-FFF2-40B4-BE49-F238E27FC236}">
                <a16:creationId xmlns="" xmlns:a16="http://schemas.microsoft.com/office/drawing/2014/main" id="{EAFF6577-B46F-4A2E-AC90-B96AFEE527C2}"/>
              </a:ext>
            </a:extLst>
          </p:cNvPr>
          <p:cNvSpPr txBox="1"/>
          <p:nvPr/>
        </p:nvSpPr>
        <p:spPr>
          <a:xfrm>
            <a:off x="1116720" y="2991467"/>
            <a:ext cx="2996468" cy="665683"/>
          </a:xfrm>
          <a:prstGeom prst="rect">
            <a:avLst/>
          </a:prstGeom>
          <a:noFill/>
          <a:ln>
            <a:noFill/>
          </a:ln>
        </p:spPr>
        <p:txBody>
          <a:bodyPr wrap="none" lIns="0" tIns="0" rIns="0" bIns="0" anchor="t">
            <a:spAutoFit/>
          </a:bodyPr>
          <a:lstStyle/>
          <a:p>
            <a:pPr algn="r"/>
            <a:r>
              <a:rPr sz="1800" b="1">
                <a:solidFill>
                  <a:srgbClr val="FFFFFF"/>
                </a:solidFill>
                <a:latin typeface="Roboto"/>
              </a:rPr>
              <a:t>Barriers to Health Insurance
Access</a:t>
            </a:r>
          </a:p>
        </p:txBody>
      </p:sp>
      <p:sp>
        <p:nvSpPr>
          <p:cNvPr id="40" name="TextBox 39">
            <a:extLst>
              <a:ext uri="{FF2B5EF4-FFF2-40B4-BE49-F238E27FC236}">
                <a16:creationId xmlns="" xmlns:a16="http://schemas.microsoft.com/office/drawing/2014/main" id="{D29A22D9-31D2-47F9-9965-5C04BC32DF2C}"/>
              </a:ext>
            </a:extLst>
          </p:cNvPr>
          <p:cNvSpPr txBox="1"/>
          <p:nvPr/>
        </p:nvSpPr>
        <p:spPr>
          <a:xfrm>
            <a:off x="2216429" y="3752248"/>
            <a:ext cx="1097930" cy="199704"/>
          </a:xfrm>
          <a:prstGeom prst="rect">
            <a:avLst/>
          </a:prstGeom>
          <a:noFill/>
          <a:ln>
            <a:noFill/>
          </a:ln>
        </p:spPr>
        <p:txBody>
          <a:bodyPr wrap="none" lIns="0" tIns="0" rIns="0" bIns="0" anchor="t">
            <a:spAutoFit/>
          </a:bodyPr>
          <a:lstStyle/>
          <a:p>
            <a:pPr algn="r"/>
            <a:r>
              <a:rPr sz="1000" b="0">
                <a:solidFill>
                  <a:srgbClr val="FFFFFF"/>
                </a:solidFill>
                <a:latin typeface="Roboto"/>
              </a:rPr>
              <a:t>Policy Exclusions</a:t>
            </a:r>
          </a:p>
        </p:txBody>
      </p:sp>
      <p:sp>
        <p:nvSpPr>
          <p:cNvPr id="41" name="TextBox 40">
            <a:extLst>
              <a:ext uri="{FF2B5EF4-FFF2-40B4-BE49-F238E27FC236}">
                <a16:creationId xmlns="" xmlns:a16="http://schemas.microsoft.com/office/drawing/2014/main" id="{7C1B819C-BDAD-46ED-B576-C4674EFD2DD8}"/>
              </a:ext>
            </a:extLst>
          </p:cNvPr>
          <p:cNvSpPr txBox="1"/>
          <p:nvPr/>
        </p:nvSpPr>
        <p:spPr>
          <a:xfrm>
            <a:off x="1451273" y="4322833"/>
            <a:ext cx="1720372" cy="199704"/>
          </a:xfrm>
          <a:prstGeom prst="rect">
            <a:avLst/>
          </a:prstGeom>
          <a:noFill/>
          <a:ln>
            <a:noFill/>
          </a:ln>
        </p:spPr>
        <p:txBody>
          <a:bodyPr wrap="none" lIns="0" tIns="0" rIns="0" bIns="0" anchor="t">
            <a:spAutoFit/>
          </a:bodyPr>
          <a:lstStyle/>
          <a:p>
            <a:pPr algn="r"/>
            <a:r>
              <a:rPr sz="1000" b="0">
                <a:solidFill>
                  <a:srgbClr val="FFFFFF"/>
                </a:solidFill>
                <a:latin typeface="Roboto"/>
              </a:rPr>
              <a:t>Incomplete Documentation</a:t>
            </a:r>
          </a:p>
        </p:txBody>
      </p:sp>
      <p:sp>
        <p:nvSpPr>
          <p:cNvPr id="42" name="TextBox 41">
            <a:extLst>
              <a:ext uri="{FF2B5EF4-FFF2-40B4-BE49-F238E27FC236}">
                <a16:creationId xmlns="" xmlns:a16="http://schemas.microsoft.com/office/drawing/2014/main" id="{97022553-999D-4F3B-AADE-0DBA5334FA53}"/>
              </a:ext>
            </a:extLst>
          </p:cNvPr>
          <p:cNvSpPr txBox="1"/>
          <p:nvPr/>
        </p:nvSpPr>
        <p:spPr>
          <a:xfrm>
            <a:off x="1685499" y="4926703"/>
            <a:ext cx="1343548" cy="279586"/>
          </a:xfrm>
          <a:prstGeom prst="rect">
            <a:avLst/>
          </a:prstGeom>
          <a:noFill/>
          <a:ln>
            <a:noFill/>
          </a:ln>
        </p:spPr>
        <p:txBody>
          <a:bodyPr wrap="none" lIns="0" tIns="0" rIns="0" bIns="0" anchor="t">
            <a:spAutoFit/>
          </a:bodyPr>
          <a:lstStyle/>
          <a:p>
            <a:pPr algn="r"/>
            <a:r>
              <a:rPr sz="1400" b="1">
                <a:solidFill>
                  <a:srgbClr val="FFFFFF"/>
                </a:solidFill>
                <a:latin typeface="Roboto"/>
              </a:rPr>
              <a:t>Claim Rejection</a:t>
            </a:r>
          </a:p>
        </p:txBody>
      </p:sp>
    </p:spTree>
    <p:extLst>
      <p:ext uri="{BB962C8B-B14F-4D97-AF65-F5344CB8AC3E}">
        <p14:creationId xmlns:p14="http://schemas.microsoft.com/office/powerpoint/2010/main" val="813687103"/>
      </p:ext>
    </p:extLst>
  </p:cSld>
  <p:clrMapOvr>
    <a:masterClrMapping/>
  </p:clrMapOvr>
  <p:transition spd="slow" advTm="40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409914" y="405196"/>
            <a:ext cx="4319066" cy="307777"/>
          </a:xfrm>
          <a:prstGeom prst="rect">
            <a:avLst/>
          </a:prstGeom>
          <a:noFill/>
          <a:ln>
            <a:noFill/>
          </a:ln>
        </p:spPr>
        <p:txBody>
          <a:bodyPr wrap="none" lIns="0" tIns="0" rIns="0" bIns="0" anchor="t">
            <a:spAutoFit/>
          </a:bodyPr>
          <a:lstStyle/>
          <a:p>
            <a:pPr algn="ctr"/>
            <a:r>
              <a:rPr lang="en-US" sz="2000" b="1" dirty="0" smtClean="0"/>
              <a:t>Digitalization in Health Insurance Cycle </a:t>
            </a:r>
            <a:endParaRPr sz="2000" b="1" dirty="0">
              <a:solidFill>
                <a:srgbClr val="484848"/>
              </a:solidFill>
            </a:endParaRPr>
          </a:p>
        </p:txBody>
      </p:sp>
      <p:sp>
        <p:nvSpPr>
          <p:cNvPr id="19" name="TextBox 18">
            <a:extLst>
              <a:ext uri="{FF2B5EF4-FFF2-40B4-BE49-F238E27FC236}">
                <a16:creationId xmlns="" xmlns:a16="http://schemas.microsoft.com/office/drawing/2014/main" id="{EE14465F-AF3A-41AC-8C9E-AB90A53CC7D5}"/>
              </a:ext>
            </a:extLst>
          </p:cNvPr>
          <p:cNvSpPr txBox="1"/>
          <p:nvPr/>
        </p:nvSpPr>
        <p:spPr>
          <a:xfrm>
            <a:off x="673769" y="897634"/>
            <a:ext cx="8289758" cy="1077218"/>
          </a:xfrm>
          <a:prstGeom prst="rect">
            <a:avLst/>
          </a:prstGeom>
          <a:noFill/>
        </p:spPr>
        <p:txBody>
          <a:bodyPr wrap="square">
            <a:spAutoFit/>
          </a:bodyPr>
          <a:lstStyle/>
          <a:p>
            <a:r>
              <a:rPr lang="en-US" sz="1600" b="1" dirty="0"/>
              <a:t>e-Cards</a:t>
            </a:r>
            <a:r>
              <a:rPr lang="en-US" sz="1600" dirty="0"/>
              <a:t> – Digital health cards make it easy to see your policy details and benefits anytime.</a:t>
            </a:r>
          </a:p>
          <a:p>
            <a:endParaRPr lang="en-US" sz="1600" dirty="0"/>
          </a:p>
          <a:p>
            <a:r>
              <a:rPr lang="en-US" sz="1600" b="1" dirty="0"/>
              <a:t>Telemedicine Tie-ups</a:t>
            </a:r>
            <a:r>
              <a:rPr lang="en-US" sz="1600" dirty="0"/>
              <a:t> – They let you talk to doctors online, which is very helpful for people living in faraway places.</a:t>
            </a:r>
          </a:p>
        </p:txBody>
      </p:sp>
      <p:sp>
        <p:nvSpPr>
          <p:cNvPr id="30" name="Rounded Rectangle 1">
            <a:extLst>
              <a:ext uri="{FF2B5EF4-FFF2-40B4-BE49-F238E27FC236}">
                <a16:creationId xmlns="" xmlns:a16="http://schemas.microsoft.com/office/drawing/2014/main" id="{7C1C14C3-BF6F-44D7-A0FC-824676966D4F}"/>
              </a:ext>
            </a:extLst>
          </p:cNvPr>
          <p:cNvSpPr/>
          <p:nvPr/>
        </p:nvSpPr>
        <p:spPr>
          <a:xfrm>
            <a:off x="3059835" y="2310063"/>
            <a:ext cx="1476375" cy="2921543"/>
          </a:xfrm>
          <a:custGeom>
            <a:avLst/>
            <a:gdLst/>
            <a:ahLst/>
            <a:cxnLst/>
            <a:rect l="0" t="0" r="0" b="0"/>
            <a:pathLst>
              <a:path w="1476375" h="2743200">
                <a:moveTo>
                  <a:pt x="1476375" y="1600200"/>
                </a:moveTo>
                <a:cubicBezTo>
                  <a:pt x="1415748" y="1600200"/>
                  <a:pt x="1367123" y="1576111"/>
                  <a:pt x="1324251" y="1533248"/>
                </a:cubicBezTo>
                <a:cubicBezTo>
                  <a:pt x="1281388" y="1490376"/>
                  <a:pt x="1257300" y="1432226"/>
                  <a:pt x="1257300" y="1371600"/>
                </a:cubicBezTo>
                <a:cubicBezTo>
                  <a:pt x="1257300" y="1310973"/>
                  <a:pt x="1281388" y="1252823"/>
                  <a:pt x="1324251" y="1209951"/>
                </a:cubicBezTo>
                <a:cubicBezTo>
                  <a:pt x="1367123" y="1167088"/>
                  <a:pt x="1415748" y="1143000"/>
                  <a:pt x="1476375" y="1143000"/>
                </a:cubicBezTo>
                <a:lnTo>
                  <a:pt x="1476375" y="1600200"/>
                </a:lnTo>
                <a:moveTo>
                  <a:pt x="516035" y="2341464"/>
                </a:moveTo>
                <a:cubicBezTo>
                  <a:pt x="773258" y="2598696"/>
                  <a:pt x="1112605" y="2743200"/>
                  <a:pt x="1476375" y="2743200"/>
                </a:cubicBezTo>
                <a:lnTo>
                  <a:pt x="1476375" y="2386012"/>
                </a:lnTo>
                <a:cubicBezTo>
                  <a:pt x="1207255" y="2386012"/>
                  <a:pt x="958681" y="2279418"/>
                  <a:pt x="768381" y="2089118"/>
                </a:cubicBezTo>
                <a:cubicBezTo>
                  <a:pt x="578081" y="1898818"/>
                  <a:pt x="471173" y="1640719"/>
                  <a:pt x="471173" y="1371600"/>
                </a:cubicBezTo>
                <a:cubicBezTo>
                  <a:pt x="471173" y="1102480"/>
                  <a:pt x="578081" y="844381"/>
                  <a:pt x="768381" y="654081"/>
                </a:cubicBezTo>
                <a:cubicBezTo>
                  <a:pt x="958681" y="463781"/>
                  <a:pt x="1207255" y="357187"/>
                  <a:pt x="1476375" y="357187"/>
                </a:cubicBezTo>
                <a:lnTo>
                  <a:pt x="1476375" y="0"/>
                </a:lnTo>
                <a:cubicBezTo>
                  <a:pt x="1112605" y="0"/>
                  <a:pt x="773258" y="144503"/>
                  <a:pt x="516035" y="401735"/>
                </a:cubicBezTo>
                <a:cubicBezTo>
                  <a:pt x="273529" y="644232"/>
                  <a:pt x="131216" y="968187"/>
                  <a:pt x="115719" y="1309287"/>
                </a:cubicBezTo>
                <a:lnTo>
                  <a:pt x="0" y="1371600"/>
                </a:lnTo>
                <a:lnTo>
                  <a:pt x="115719" y="1433912"/>
                </a:lnTo>
                <a:cubicBezTo>
                  <a:pt x="131216" y="1775012"/>
                  <a:pt x="273529" y="2098967"/>
                  <a:pt x="516035" y="2341464"/>
                </a:cubicBezTo>
              </a:path>
            </a:pathLst>
          </a:custGeom>
          <a:solidFill>
            <a:srgbClr val="DE8431"/>
          </a:solidFill>
          <a:ln>
            <a:noFill/>
          </a:ln>
        </p:spPr>
        <p:txBody>
          <a:bodyPr rtlCol="0" anchor="ctr"/>
          <a:lstStyle/>
          <a:p>
            <a:pPr algn="ctr"/>
            <a:endParaRPr/>
          </a:p>
        </p:txBody>
      </p:sp>
      <p:sp>
        <p:nvSpPr>
          <p:cNvPr id="31" name="Rounded Rectangle 2">
            <a:extLst>
              <a:ext uri="{FF2B5EF4-FFF2-40B4-BE49-F238E27FC236}">
                <a16:creationId xmlns="" xmlns:a16="http://schemas.microsoft.com/office/drawing/2014/main" id="{E1F41466-0CFE-4645-9689-DA0AA320214E}"/>
              </a:ext>
            </a:extLst>
          </p:cNvPr>
          <p:cNvSpPr/>
          <p:nvPr/>
        </p:nvSpPr>
        <p:spPr>
          <a:xfrm>
            <a:off x="3059835" y="2310063"/>
            <a:ext cx="1476375" cy="2921543"/>
          </a:xfrm>
          <a:custGeom>
            <a:avLst/>
            <a:gdLst/>
            <a:ahLst/>
            <a:cxnLst/>
            <a:rect l="0" t="0" r="0" b="0"/>
            <a:pathLst>
              <a:path w="1476375" h="2743200">
                <a:moveTo>
                  <a:pt x="1476375" y="1600200"/>
                </a:moveTo>
                <a:cubicBezTo>
                  <a:pt x="1415746" y="1600200"/>
                  <a:pt x="1367126" y="1576115"/>
                  <a:pt x="1324255" y="1533244"/>
                </a:cubicBezTo>
                <a:cubicBezTo>
                  <a:pt x="1281384" y="1490373"/>
                  <a:pt x="1257300" y="1432228"/>
                  <a:pt x="1257300" y="1371600"/>
                </a:cubicBezTo>
                <a:cubicBezTo>
                  <a:pt x="1257300" y="1310971"/>
                  <a:pt x="1281384" y="1252826"/>
                  <a:pt x="1324255" y="1209955"/>
                </a:cubicBezTo>
                <a:cubicBezTo>
                  <a:pt x="1367126" y="1167084"/>
                  <a:pt x="1415746" y="1143000"/>
                  <a:pt x="1476375" y="1143000"/>
                </a:cubicBezTo>
                <a:lnTo>
                  <a:pt x="1476375" y="1600200"/>
                </a:lnTo>
                <a:close/>
                <a:moveTo>
                  <a:pt x="516032" y="2341467"/>
                </a:moveTo>
                <a:cubicBezTo>
                  <a:pt x="773257" y="2598692"/>
                  <a:pt x="1112603" y="2743200"/>
                  <a:pt x="1476375" y="2743200"/>
                </a:cubicBezTo>
                <a:lnTo>
                  <a:pt x="1476375" y="2386012"/>
                </a:lnTo>
                <a:cubicBezTo>
                  <a:pt x="1207252" y="2386012"/>
                  <a:pt x="958678" y="2279417"/>
                  <a:pt x="768380" y="2089119"/>
                </a:cubicBezTo>
                <a:cubicBezTo>
                  <a:pt x="578082" y="1898821"/>
                  <a:pt x="471174" y="1640722"/>
                  <a:pt x="471174" y="1371600"/>
                </a:cubicBezTo>
                <a:cubicBezTo>
                  <a:pt x="471174" y="1102477"/>
                  <a:pt x="578082" y="844378"/>
                  <a:pt x="768380" y="654080"/>
                </a:cubicBezTo>
                <a:cubicBezTo>
                  <a:pt x="958678" y="463782"/>
                  <a:pt x="1207252" y="357187"/>
                  <a:pt x="1476375" y="357187"/>
                </a:cubicBezTo>
                <a:lnTo>
                  <a:pt x="1476375" y="0"/>
                </a:lnTo>
                <a:cubicBezTo>
                  <a:pt x="1112603" y="0"/>
                  <a:pt x="773257" y="144507"/>
                  <a:pt x="516032" y="401732"/>
                </a:cubicBezTo>
                <a:cubicBezTo>
                  <a:pt x="273531" y="644232"/>
                  <a:pt x="131213" y="968189"/>
                  <a:pt x="115714" y="1309292"/>
                </a:cubicBezTo>
                <a:lnTo>
                  <a:pt x="0" y="1371600"/>
                </a:lnTo>
                <a:lnTo>
                  <a:pt x="115714" y="1433907"/>
                </a:lnTo>
                <a:cubicBezTo>
                  <a:pt x="131212" y="1775010"/>
                  <a:pt x="273531" y="2098967"/>
                  <a:pt x="516032" y="2341467"/>
                </a:cubicBezTo>
                <a:close/>
              </a:path>
            </a:pathLst>
          </a:custGeom>
          <a:noFill/>
          <a:ln w="14287">
            <a:solidFill>
              <a:srgbClr val="FFFFFF"/>
            </a:solidFill>
          </a:ln>
        </p:spPr>
        <p:txBody>
          <a:bodyPr rtlCol="0" anchor="ctr"/>
          <a:lstStyle/>
          <a:p>
            <a:pPr algn="ctr"/>
            <a:endParaRPr/>
          </a:p>
        </p:txBody>
      </p:sp>
      <p:sp>
        <p:nvSpPr>
          <p:cNvPr id="32" name="Rounded Rectangle 3">
            <a:extLst>
              <a:ext uri="{FF2B5EF4-FFF2-40B4-BE49-F238E27FC236}">
                <a16:creationId xmlns="" xmlns:a16="http://schemas.microsoft.com/office/drawing/2014/main" id="{D2E34D84-30A3-408E-8F4E-E451B0BDA09F}"/>
              </a:ext>
            </a:extLst>
          </p:cNvPr>
          <p:cNvSpPr/>
          <p:nvPr/>
        </p:nvSpPr>
        <p:spPr>
          <a:xfrm>
            <a:off x="4536210" y="2310063"/>
            <a:ext cx="1495425" cy="2921543"/>
          </a:xfrm>
          <a:custGeom>
            <a:avLst/>
            <a:gdLst/>
            <a:ahLst/>
            <a:cxnLst/>
            <a:rect l="0" t="0" r="0" b="0"/>
            <a:pathLst>
              <a:path w="1495425" h="2743200">
                <a:moveTo>
                  <a:pt x="0" y="1600200"/>
                </a:moveTo>
                <a:cubicBezTo>
                  <a:pt x="60626" y="1600200"/>
                  <a:pt x="118776" y="1576111"/>
                  <a:pt x="161648" y="1533248"/>
                </a:cubicBezTo>
                <a:cubicBezTo>
                  <a:pt x="204511" y="1490376"/>
                  <a:pt x="228600" y="1432226"/>
                  <a:pt x="228600" y="1371600"/>
                </a:cubicBezTo>
                <a:cubicBezTo>
                  <a:pt x="228600" y="1310973"/>
                  <a:pt x="204511" y="1252823"/>
                  <a:pt x="161648" y="1209951"/>
                </a:cubicBezTo>
                <a:cubicBezTo>
                  <a:pt x="118776" y="1167088"/>
                  <a:pt x="60626" y="1143000"/>
                  <a:pt x="0" y="1143000"/>
                </a:cubicBezTo>
                <a:lnTo>
                  <a:pt x="0" y="1600200"/>
                </a:lnTo>
                <a:moveTo>
                  <a:pt x="969864" y="2341464"/>
                </a:moveTo>
                <a:cubicBezTo>
                  <a:pt x="712641" y="2598696"/>
                  <a:pt x="363769" y="2743200"/>
                  <a:pt x="0" y="2743200"/>
                </a:cubicBezTo>
                <a:lnTo>
                  <a:pt x="0" y="2386326"/>
                </a:lnTo>
                <a:cubicBezTo>
                  <a:pt x="269119" y="2386326"/>
                  <a:pt x="527218" y="2279418"/>
                  <a:pt x="717518" y="2089118"/>
                </a:cubicBezTo>
                <a:cubicBezTo>
                  <a:pt x="907818" y="1898818"/>
                  <a:pt x="1014726" y="1640719"/>
                  <a:pt x="1014726" y="1371600"/>
                </a:cubicBezTo>
                <a:cubicBezTo>
                  <a:pt x="1014726" y="1102480"/>
                  <a:pt x="907818" y="844381"/>
                  <a:pt x="717518" y="654081"/>
                </a:cubicBezTo>
                <a:cubicBezTo>
                  <a:pt x="527218" y="463781"/>
                  <a:pt x="269119" y="356873"/>
                  <a:pt x="0" y="356873"/>
                </a:cubicBezTo>
                <a:lnTo>
                  <a:pt x="0" y="0"/>
                </a:lnTo>
                <a:cubicBezTo>
                  <a:pt x="363769" y="0"/>
                  <a:pt x="712641" y="144503"/>
                  <a:pt x="969864" y="401735"/>
                </a:cubicBezTo>
                <a:cubicBezTo>
                  <a:pt x="1212294" y="644156"/>
                  <a:pt x="1354597" y="967987"/>
                  <a:pt x="1370171" y="1308973"/>
                </a:cubicBezTo>
                <a:lnTo>
                  <a:pt x="1495425" y="1371600"/>
                </a:lnTo>
                <a:lnTo>
                  <a:pt x="1370171" y="1434226"/>
                </a:lnTo>
                <a:cubicBezTo>
                  <a:pt x="1354597" y="1775212"/>
                  <a:pt x="1212294" y="2099043"/>
                  <a:pt x="969864" y="2341464"/>
                </a:cubicBezTo>
              </a:path>
            </a:pathLst>
          </a:custGeom>
          <a:solidFill>
            <a:srgbClr val="E0CB15"/>
          </a:solidFill>
          <a:ln>
            <a:noFill/>
          </a:ln>
        </p:spPr>
        <p:txBody>
          <a:bodyPr rtlCol="0" anchor="ctr"/>
          <a:lstStyle/>
          <a:p>
            <a:pPr algn="ctr"/>
            <a:endParaRPr/>
          </a:p>
        </p:txBody>
      </p:sp>
      <p:sp>
        <p:nvSpPr>
          <p:cNvPr id="33" name="Rounded Rectangle 4">
            <a:extLst>
              <a:ext uri="{FF2B5EF4-FFF2-40B4-BE49-F238E27FC236}">
                <a16:creationId xmlns="" xmlns:a16="http://schemas.microsoft.com/office/drawing/2014/main" id="{0AFDB325-6F71-480F-B6EC-2D4A6F3154F1}"/>
              </a:ext>
            </a:extLst>
          </p:cNvPr>
          <p:cNvSpPr/>
          <p:nvPr/>
        </p:nvSpPr>
        <p:spPr>
          <a:xfrm>
            <a:off x="4536210" y="2310063"/>
            <a:ext cx="1495425" cy="2921543"/>
          </a:xfrm>
          <a:custGeom>
            <a:avLst/>
            <a:gdLst/>
            <a:ahLst/>
            <a:cxnLst/>
            <a:rect l="0" t="0" r="0" b="0"/>
            <a:pathLst>
              <a:path w="1495425" h="2743200">
                <a:moveTo>
                  <a:pt x="0" y="1600200"/>
                </a:moveTo>
                <a:cubicBezTo>
                  <a:pt x="60628" y="1600200"/>
                  <a:pt x="118773" y="1576115"/>
                  <a:pt x="161644" y="1533244"/>
                </a:cubicBezTo>
                <a:cubicBezTo>
                  <a:pt x="204515" y="1490373"/>
                  <a:pt x="228600" y="1432228"/>
                  <a:pt x="228600" y="1371600"/>
                </a:cubicBezTo>
                <a:cubicBezTo>
                  <a:pt x="228600" y="1310971"/>
                  <a:pt x="204515" y="1252826"/>
                  <a:pt x="161644" y="1209955"/>
                </a:cubicBezTo>
                <a:cubicBezTo>
                  <a:pt x="118773" y="1167084"/>
                  <a:pt x="60628" y="1143000"/>
                  <a:pt x="0" y="1143000"/>
                </a:cubicBezTo>
                <a:lnTo>
                  <a:pt x="0" y="1600200"/>
                </a:lnTo>
                <a:close/>
                <a:moveTo>
                  <a:pt x="969867" y="2341467"/>
                </a:moveTo>
                <a:cubicBezTo>
                  <a:pt x="712642" y="2598692"/>
                  <a:pt x="363771" y="2743200"/>
                  <a:pt x="0" y="2743200"/>
                </a:cubicBezTo>
                <a:lnTo>
                  <a:pt x="0" y="2386325"/>
                </a:lnTo>
                <a:cubicBezTo>
                  <a:pt x="269122" y="2386325"/>
                  <a:pt x="527221" y="2279417"/>
                  <a:pt x="717519" y="2089119"/>
                </a:cubicBezTo>
                <a:cubicBezTo>
                  <a:pt x="907817" y="1898821"/>
                  <a:pt x="1014725" y="1640722"/>
                  <a:pt x="1014725" y="1371600"/>
                </a:cubicBezTo>
                <a:cubicBezTo>
                  <a:pt x="1014725" y="1102477"/>
                  <a:pt x="907817" y="844378"/>
                  <a:pt x="717519" y="654080"/>
                </a:cubicBezTo>
                <a:cubicBezTo>
                  <a:pt x="527221" y="463782"/>
                  <a:pt x="269122" y="356874"/>
                  <a:pt x="0" y="356874"/>
                </a:cubicBezTo>
                <a:lnTo>
                  <a:pt x="0" y="0"/>
                </a:lnTo>
                <a:cubicBezTo>
                  <a:pt x="363771" y="0"/>
                  <a:pt x="712642" y="144507"/>
                  <a:pt x="969867" y="401732"/>
                </a:cubicBezTo>
                <a:cubicBezTo>
                  <a:pt x="1212292" y="644157"/>
                  <a:pt x="1354597" y="967987"/>
                  <a:pt x="1370171" y="1308973"/>
                </a:cubicBezTo>
                <a:lnTo>
                  <a:pt x="1495425" y="1371600"/>
                </a:lnTo>
                <a:lnTo>
                  <a:pt x="1370171" y="1434226"/>
                </a:lnTo>
                <a:cubicBezTo>
                  <a:pt x="1354597" y="1775213"/>
                  <a:pt x="1212292" y="2099042"/>
                  <a:pt x="969867" y="2341467"/>
                </a:cubicBezTo>
                <a:close/>
              </a:path>
            </a:pathLst>
          </a:custGeom>
          <a:noFill/>
          <a:ln w="14287">
            <a:solidFill>
              <a:srgbClr val="FFFFFF"/>
            </a:solidFill>
          </a:ln>
        </p:spPr>
        <p:txBody>
          <a:bodyPr rtlCol="0" anchor="ctr"/>
          <a:lstStyle/>
          <a:p>
            <a:pPr algn="ctr"/>
            <a:endParaRPr/>
          </a:p>
        </p:txBody>
      </p:sp>
      <p:sp>
        <p:nvSpPr>
          <p:cNvPr id="34" name="TextBox 33">
            <a:extLst>
              <a:ext uri="{FF2B5EF4-FFF2-40B4-BE49-F238E27FC236}">
                <a16:creationId xmlns="" xmlns:a16="http://schemas.microsoft.com/office/drawing/2014/main" id="{61894D53-9662-4A23-BC44-DC8BF30A1707}"/>
              </a:ext>
            </a:extLst>
          </p:cNvPr>
          <p:cNvSpPr txBox="1"/>
          <p:nvPr/>
        </p:nvSpPr>
        <p:spPr>
          <a:xfrm>
            <a:off x="1624703" y="3078956"/>
            <a:ext cx="1187500" cy="560070"/>
          </a:xfrm>
          <a:prstGeom prst="rect">
            <a:avLst/>
          </a:prstGeom>
          <a:noFill/>
          <a:ln>
            <a:noFill/>
          </a:ln>
        </p:spPr>
        <p:txBody>
          <a:bodyPr wrap="none" lIns="0" tIns="0" rIns="0" bIns="0" anchor="t">
            <a:spAutoFit/>
          </a:bodyPr>
          <a:lstStyle/>
          <a:p>
            <a:pPr algn="r"/>
            <a:r>
              <a:rPr sz="1500" b="1">
                <a:solidFill>
                  <a:srgbClr val="DE8431"/>
                </a:solidFill>
                <a:latin typeface="Roboto"/>
              </a:rPr>
              <a:t>Telemedicine
Consultations</a:t>
            </a:r>
          </a:p>
        </p:txBody>
      </p:sp>
      <p:sp>
        <p:nvSpPr>
          <p:cNvPr id="35" name="TextBox 34">
            <a:extLst>
              <a:ext uri="{FF2B5EF4-FFF2-40B4-BE49-F238E27FC236}">
                <a16:creationId xmlns="" xmlns:a16="http://schemas.microsoft.com/office/drawing/2014/main" id="{8AACE533-A12E-4F75-A2A2-9325034971DD}"/>
              </a:ext>
            </a:extLst>
          </p:cNvPr>
          <p:cNvSpPr txBox="1"/>
          <p:nvPr/>
        </p:nvSpPr>
        <p:spPr>
          <a:xfrm>
            <a:off x="6279285" y="3078956"/>
            <a:ext cx="1489767" cy="560070"/>
          </a:xfrm>
          <a:prstGeom prst="rect">
            <a:avLst/>
          </a:prstGeom>
          <a:noFill/>
          <a:ln>
            <a:noFill/>
          </a:ln>
        </p:spPr>
        <p:txBody>
          <a:bodyPr wrap="none" lIns="0" tIns="0" rIns="0" bIns="0" anchor="t">
            <a:spAutoFit/>
          </a:bodyPr>
          <a:lstStyle/>
          <a:p>
            <a:pPr algn="l"/>
            <a:r>
              <a:rPr sz="1500" b="1">
                <a:solidFill>
                  <a:srgbClr val="E0CB15"/>
                </a:solidFill>
                <a:latin typeface="Roboto"/>
              </a:rPr>
              <a:t>Digital Insurance
Cards</a:t>
            </a:r>
          </a:p>
        </p:txBody>
      </p:sp>
      <p:sp>
        <p:nvSpPr>
          <p:cNvPr id="36" name="TextBox 35">
            <a:extLst>
              <a:ext uri="{FF2B5EF4-FFF2-40B4-BE49-F238E27FC236}">
                <a16:creationId xmlns="" xmlns:a16="http://schemas.microsoft.com/office/drawing/2014/main" id="{B23CF65B-0F66-4C62-A287-4C84C229170D}"/>
              </a:ext>
            </a:extLst>
          </p:cNvPr>
          <p:cNvSpPr txBox="1"/>
          <p:nvPr/>
        </p:nvSpPr>
        <p:spPr>
          <a:xfrm>
            <a:off x="1230011" y="3674268"/>
            <a:ext cx="1582164" cy="1292662"/>
          </a:xfrm>
          <a:prstGeom prst="rect">
            <a:avLst/>
          </a:prstGeom>
          <a:noFill/>
          <a:ln>
            <a:noFill/>
          </a:ln>
        </p:spPr>
        <p:txBody>
          <a:bodyPr wrap="none" lIns="0" tIns="0" rIns="0" bIns="0" anchor="t">
            <a:spAutoFit/>
          </a:bodyPr>
          <a:lstStyle/>
          <a:p>
            <a:pPr algn="r"/>
            <a:r>
              <a:rPr sz="1200" b="0" dirty="0">
                <a:solidFill>
                  <a:srgbClr val="484848"/>
                </a:solidFill>
                <a:latin typeface="Roboto"/>
              </a:rPr>
              <a:t>Telemedicine tie-ups
enable policyholders to
consult with doctors
remotely, improving
access to healthcare
services, especially in
remote areas</a:t>
            </a:r>
            <a:r>
              <a:rPr sz="1100" b="0" dirty="0">
                <a:solidFill>
                  <a:srgbClr val="484848"/>
                </a:solidFill>
                <a:latin typeface="Roboto"/>
              </a:rPr>
              <a:t>.</a:t>
            </a:r>
          </a:p>
        </p:txBody>
      </p:sp>
      <p:sp>
        <p:nvSpPr>
          <p:cNvPr id="37" name="TextBox 36">
            <a:extLst>
              <a:ext uri="{FF2B5EF4-FFF2-40B4-BE49-F238E27FC236}">
                <a16:creationId xmlns="" xmlns:a16="http://schemas.microsoft.com/office/drawing/2014/main" id="{09C8A58E-C113-4D4C-943A-64EEF1864645}"/>
              </a:ext>
            </a:extLst>
          </p:cNvPr>
          <p:cNvSpPr txBox="1"/>
          <p:nvPr/>
        </p:nvSpPr>
        <p:spPr>
          <a:xfrm>
            <a:off x="6279285" y="3674268"/>
            <a:ext cx="1599797" cy="923330"/>
          </a:xfrm>
          <a:prstGeom prst="rect">
            <a:avLst/>
          </a:prstGeom>
          <a:noFill/>
          <a:ln>
            <a:noFill/>
          </a:ln>
        </p:spPr>
        <p:txBody>
          <a:bodyPr wrap="none" lIns="0" tIns="0" rIns="0" bIns="0" anchor="t">
            <a:spAutoFit/>
          </a:bodyPr>
          <a:lstStyle/>
          <a:p>
            <a:pPr algn="l"/>
            <a:r>
              <a:rPr sz="1200" b="0" dirty="0">
                <a:solidFill>
                  <a:srgbClr val="484848"/>
                </a:solidFill>
                <a:latin typeface="Roboto"/>
              </a:rPr>
              <a:t>Digital health insurance
cards provide
convenient access to
policy information and
benefits.</a:t>
            </a:r>
          </a:p>
        </p:txBody>
      </p:sp>
      <p:sp>
        <p:nvSpPr>
          <p:cNvPr id="38" name="Rounded Rectangle 10">
            <a:extLst>
              <a:ext uri="{FF2B5EF4-FFF2-40B4-BE49-F238E27FC236}">
                <a16:creationId xmlns="" xmlns:a16="http://schemas.microsoft.com/office/drawing/2014/main" id="{3E961FA3-5244-477E-B744-37BBF867E844}"/>
              </a:ext>
            </a:extLst>
          </p:cNvPr>
          <p:cNvSpPr/>
          <p:nvPr/>
        </p:nvSpPr>
        <p:spPr>
          <a:xfrm>
            <a:off x="3802785" y="3662075"/>
            <a:ext cx="334536" cy="355774"/>
          </a:xfrm>
          <a:custGeom>
            <a:avLst/>
            <a:gdLst/>
            <a:ahLst/>
            <a:cxnLst/>
            <a:rect l="0" t="0" r="0" b="0"/>
            <a:pathLst>
              <a:path w="334536" h="334056">
                <a:moveTo>
                  <a:pt x="89840" y="235223"/>
                </a:moveTo>
                <a:lnTo>
                  <a:pt x="12421" y="262192"/>
                </a:lnTo>
                <a:lnTo>
                  <a:pt x="36886" y="178462"/>
                </a:lnTo>
                <a:lnTo>
                  <a:pt x="36886" y="37347"/>
                </a:lnTo>
                <a:cubicBezTo>
                  <a:pt x="36886" y="30859"/>
                  <a:pt x="39464" y="24636"/>
                  <a:pt x="44052" y="20047"/>
                </a:cubicBezTo>
                <a:cubicBezTo>
                  <a:pt x="48641" y="15459"/>
                  <a:pt x="54864" y="12881"/>
                  <a:pt x="61352" y="12881"/>
                </a:cubicBezTo>
                <a:lnTo>
                  <a:pt x="253350" y="12881"/>
                </a:lnTo>
                <a:cubicBezTo>
                  <a:pt x="259838" y="12881"/>
                  <a:pt x="266061" y="15459"/>
                  <a:pt x="270649" y="20047"/>
                </a:cubicBezTo>
                <a:cubicBezTo>
                  <a:pt x="275238" y="24635"/>
                  <a:pt x="277816" y="30858"/>
                  <a:pt x="277816" y="37347"/>
                </a:cubicBezTo>
                <a:lnTo>
                  <a:pt x="277816" y="164964"/>
                </a:lnTo>
                <a:moveTo>
                  <a:pt x="104247" y="164594"/>
                </a:moveTo>
                <a:cubicBezTo>
                  <a:pt x="104247" y="151228"/>
                  <a:pt x="109557" y="138408"/>
                  <a:pt x="119008" y="128957"/>
                </a:cubicBezTo>
                <a:cubicBezTo>
                  <a:pt x="128460" y="119505"/>
                  <a:pt x="141280" y="114195"/>
                  <a:pt x="154646" y="114195"/>
                </a:cubicBezTo>
                <a:cubicBezTo>
                  <a:pt x="168013" y="114195"/>
                  <a:pt x="180832" y="119505"/>
                  <a:pt x="190285" y="128957"/>
                </a:cubicBezTo>
                <a:cubicBezTo>
                  <a:pt x="199736" y="138408"/>
                  <a:pt x="205047" y="151228"/>
                  <a:pt x="205047" y="164594"/>
                </a:cubicBezTo>
                <a:close/>
                <a:moveTo>
                  <a:pt x="154647" y="114195"/>
                </a:moveTo>
                <a:cubicBezTo>
                  <a:pt x="137983" y="114195"/>
                  <a:pt x="124474" y="100687"/>
                  <a:pt x="124474" y="84023"/>
                </a:cubicBezTo>
                <a:cubicBezTo>
                  <a:pt x="124474" y="67359"/>
                  <a:pt x="137983" y="53851"/>
                  <a:pt x="154647" y="53851"/>
                </a:cubicBezTo>
                <a:cubicBezTo>
                  <a:pt x="171311" y="53851"/>
                  <a:pt x="184820" y="67359"/>
                  <a:pt x="184820" y="84023"/>
                </a:cubicBezTo>
                <a:cubicBezTo>
                  <a:pt x="184820" y="100687"/>
                  <a:pt x="171311" y="114195"/>
                  <a:pt x="154647" y="114195"/>
                </a:cubicBezTo>
                <a:close/>
                <a:moveTo>
                  <a:pt x="260292" y="200420"/>
                </a:moveTo>
                <a:lnTo>
                  <a:pt x="135140" y="200420"/>
                </a:lnTo>
                <a:cubicBezTo>
                  <a:pt x="126940" y="200420"/>
                  <a:pt x="120292" y="207068"/>
                  <a:pt x="120292" y="215269"/>
                </a:cubicBezTo>
                <a:lnTo>
                  <a:pt x="120292" y="319207"/>
                </a:lnTo>
                <a:cubicBezTo>
                  <a:pt x="120292" y="327408"/>
                  <a:pt x="126940" y="334056"/>
                  <a:pt x="135140" y="334056"/>
                </a:cubicBezTo>
                <a:lnTo>
                  <a:pt x="260292" y="334056"/>
                </a:lnTo>
                <a:cubicBezTo>
                  <a:pt x="268493" y="334056"/>
                  <a:pt x="275141" y="327408"/>
                  <a:pt x="275141" y="319207"/>
                </a:cubicBezTo>
                <a:lnTo>
                  <a:pt x="275141" y="215269"/>
                </a:lnTo>
                <a:cubicBezTo>
                  <a:pt x="275141" y="207068"/>
                  <a:pt x="268493" y="200420"/>
                  <a:pt x="260292" y="200420"/>
                </a:cubicBezTo>
                <a:close/>
                <a:moveTo>
                  <a:pt x="0" y="0"/>
                </a:moveTo>
                <a:moveTo>
                  <a:pt x="275142" y="289503"/>
                </a:moveTo>
                <a:lnTo>
                  <a:pt x="324507" y="308014"/>
                </a:lnTo>
                <a:cubicBezTo>
                  <a:pt x="325630" y="308434"/>
                  <a:pt x="326839" y="308577"/>
                  <a:pt x="328028" y="308428"/>
                </a:cubicBezTo>
                <a:cubicBezTo>
                  <a:pt x="329218" y="308279"/>
                  <a:pt x="330354" y="307847"/>
                  <a:pt x="331339" y="307164"/>
                </a:cubicBezTo>
                <a:cubicBezTo>
                  <a:pt x="332325" y="306481"/>
                  <a:pt x="333131" y="305569"/>
                  <a:pt x="333687" y="304506"/>
                </a:cubicBezTo>
                <a:cubicBezTo>
                  <a:pt x="334244" y="303445"/>
                  <a:pt x="334534" y="302263"/>
                  <a:pt x="334536" y="301064"/>
                </a:cubicBezTo>
                <a:lnTo>
                  <a:pt x="334536" y="233396"/>
                </a:lnTo>
                <a:cubicBezTo>
                  <a:pt x="334534" y="232197"/>
                  <a:pt x="334241" y="231018"/>
                  <a:pt x="333684" y="229957"/>
                </a:cubicBezTo>
                <a:cubicBezTo>
                  <a:pt x="333128" y="228897"/>
                  <a:pt x="332321" y="227987"/>
                  <a:pt x="331337" y="227305"/>
                </a:cubicBezTo>
                <a:cubicBezTo>
                  <a:pt x="330351" y="226625"/>
                  <a:pt x="329214" y="226192"/>
                  <a:pt x="328025" y="226046"/>
                </a:cubicBezTo>
                <a:cubicBezTo>
                  <a:pt x="326836" y="225901"/>
                  <a:pt x="325629" y="226045"/>
                  <a:pt x="324507" y="226466"/>
                </a:cubicBezTo>
                <a:lnTo>
                  <a:pt x="275142" y="244977"/>
                </a:lnTo>
                <a:close/>
                <a:moveTo>
                  <a:pt x="180726" y="228654"/>
                </a:moveTo>
                <a:lnTo>
                  <a:pt x="212950" y="228654"/>
                </a:lnTo>
                <a:lnTo>
                  <a:pt x="212950" y="251127"/>
                </a:lnTo>
                <a:lnTo>
                  <a:pt x="236300" y="251127"/>
                </a:lnTo>
                <a:lnTo>
                  <a:pt x="236300" y="283349"/>
                </a:lnTo>
                <a:lnTo>
                  <a:pt x="212950" y="283349"/>
                </a:lnTo>
                <a:lnTo>
                  <a:pt x="212950" y="305822"/>
                </a:lnTo>
                <a:lnTo>
                  <a:pt x="180726" y="305822"/>
                </a:lnTo>
                <a:lnTo>
                  <a:pt x="180726" y="283349"/>
                </a:lnTo>
                <a:lnTo>
                  <a:pt x="159132" y="283349"/>
                </a:lnTo>
                <a:lnTo>
                  <a:pt x="159132" y="251127"/>
                </a:lnTo>
                <a:lnTo>
                  <a:pt x="180726" y="251127"/>
                </a:lnTo>
                <a:close/>
              </a:path>
            </a:pathLst>
          </a:custGeom>
          <a:noFill/>
          <a:ln w="14287">
            <a:solidFill>
              <a:srgbClr val="484848"/>
            </a:solidFill>
          </a:ln>
        </p:spPr>
        <p:txBody>
          <a:bodyPr rtlCol="0" anchor="ctr"/>
          <a:lstStyle/>
          <a:p>
            <a:pPr algn="ctr"/>
            <a:endParaRPr/>
          </a:p>
        </p:txBody>
      </p:sp>
      <p:sp>
        <p:nvSpPr>
          <p:cNvPr id="39" name="Rounded Rectangle 11">
            <a:extLst>
              <a:ext uri="{FF2B5EF4-FFF2-40B4-BE49-F238E27FC236}">
                <a16:creationId xmlns="" xmlns:a16="http://schemas.microsoft.com/office/drawing/2014/main" id="{B707F6C5-4117-45F0-A9C0-618DA6D204EF}"/>
              </a:ext>
            </a:extLst>
          </p:cNvPr>
          <p:cNvSpPr/>
          <p:nvPr/>
        </p:nvSpPr>
        <p:spPr>
          <a:xfrm>
            <a:off x="4952928" y="3726081"/>
            <a:ext cx="328612" cy="243462"/>
          </a:xfrm>
          <a:custGeom>
            <a:avLst/>
            <a:gdLst/>
            <a:ahLst/>
            <a:cxnLst/>
            <a:rect l="0" t="0" r="0" b="0"/>
            <a:pathLst>
              <a:path w="328612" h="228600">
                <a:moveTo>
                  <a:pt x="28575" y="0"/>
                </a:moveTo>
                <a:lnTo>
                  <a:pt x="300037" y="0"/>
                </a:lnTo>
                <a:cubicBezTo>
                  <a:pt x="300037" y="0"/>
                  <a:pt x="328612" y="0"/>
                  <a:pt x="328612" y="28575"/>
                </a:cubicBezTo>
                <a:lnTo>
                  <a:pt x="328612" y="200025"/>
                </a:lnTo>
                <a:cubicBezTo>
                  <a:pt x="328612" y="200025"/>
                  <a:pt x="328612" y="228600"/>
                  <a:pt x="300037" y="228600"/>
                </a:cubicBezTo>
                <a:lnTo>
                  <a:pt x="28575" y="228600"/>
                </a:lnTo>
                <a:cubicBezTo>
                  <a:pt x="28575" y="228600"/>
                  <a:pt x="0" y="228600"/>
                  <a:pt x="0" y="200025"/>
                </a:cubicBezTo>
                <a:lnTo>
                  <a:pt x="0" y="28575"/>
                </a:lnTo>
                <a:cubicBezTo>
                  <a:pt x="0" y="28575"/>
                  <a:pt x="0" y="0"/>
                  <a:pt x="28575" y="0"/>
                </a:cubicBezTo>
                <a:moveTo>
                  <a:pt x="0" y="42862"/>
                </a:moveTo>
                <a:lnTo>
                  <a:pt x="328612" y="42862"/>
                </a:lnTo>
                <a:moveTo>
                  <a:pt x="185737" y="114300"/>
                </a:moveTo>
                <a:lnTo>
                  <a:pt x="300037" y="114300"/>
                </a:lnTo>
                <a:moveTo>
                  <a:pt x="185737" y="157162"/>
                </a:moveTo>
                <a:lnTo>
                  <a:pt x="228600" y="157162"/>
                </a:lnTo>
                <a:moveTo>
                  <a:pt x="142875" y="117871"/>
                </a:moveTo>
                <a:cubicBezTo>
                  <a:pt x="142875" y="115899"/>
                  <a:pt x="141275" y="114300"/>
                  <a:pt x="139303" y="114300"/>
                </a:cubicBezTo>
                <a:lnTo>
                  <a:pt x="114300" y="114300"/>
                </a:lnTo>
                <a:lnTo>
                  <a:pt x="114300" y="89296"/>
                </a:lnTo>
                <a:cubicBezTo>
                  <a:pt x="114300" y="87324"/>
                  <a:pt x="112700" y="85725"/>
                  <a:pt x="110728" y="85725"/>
                </a:cubicBezTo>
                <a:lnTo>
                  <a:pt x="75009" y="85725"/>
                </a:lnTo>
                <a:cubicBezTo>
                  <a:pt x="73036" y="85725"/>
                  <a:pt x="71437" y="87324"/>
                  <a:pt x="71437" y="89296"/>
                </a:cubicBezTo>
                <a:lnTo>
                  <a:pt x="71437" y="114300"/>
                </a:lnTo>
                <a:lnTo>
                  <a:pt x="46434" y="114300"/>
                </a:lnTo>
                <a:cubicBezTo>
                  <a:pt x="44461" y="114300"/>
                  <a:pt x="42862" y="115899"/>
                  <a:pt x="42862" y="117871"/>
                </a:cubicBezTo>
                <a:lnTo>
                  <a:pt x="42862" y="153590"/>
                </a:lnTo>
                <a:cubicBezTo>
                  <a:pt x="42862" y="155563"/>
                  <a:pt x="44461" y="157162"/>
                  <a:pt x="46434" y="157162"/>
                </a:cubicBezTo>
                <a:lnTo>
                  <a:pt x="71437" y="157162"/>
                </a:lnTo>
                <a:lnTo>
                  <a:pt x="71437" y="182165"/>
                </a:lnTo>
                <a:cubicBezTo>
                  <a:pt x="71437" y="184138"/>
                  <a:pt x="73036" y="185737"/>
                  <a:pt x="75009" y="185737"/>
                </a:cubicBezTo>
                <a:lnTo>
                  <a:pt x="110728" y="185737"/>
                </a:lnTo>
                <a:cubicBezTo>
                  <a:pt x="112700" y="185737"/>
                  <a:pt x="114300" y="184138"/>
                  <a:pt x="114300" y="182165"/>
                </a:cubicBezTo>
                <a:lnTo>
                  <a:pt x="114300" y="157162"/>
                </a:lnTo>
                <a:lnTo>
                  <a:pt x="139303" y="157162"/>
                </a:lnTo>
                <a:cubicBezTo>
                  <a:pt x="141275" y="157162"/>
                  <a:pt x="142875" y="155563"/>
                  <a:pt x="142875" y="153590"/>
                </a:cubicBezTo>
                <a:close/>
              </a:path>
            </a:pathLst>
          </a:custGeom>
          <a:noFill/>
          <a:ln w="14287">
            <a:solidFill>
              <a:srgbClr val="484848"/>
            </a:solidFill>
          </a:ln>
        </p:spPr>
        <p:txBody>
          <a:bodyPr rtlCol="0" anchor="ctr"/>
          <a:lstStyle/>
          <a:p>
            <a:pPr algn="ctr"/>
            <a:endParaRPr/>
          </a:p>
        </p:txBody>
      </p:sp>
    </p:spTree>
  </p:cSld>
  <p:clrMapOvr>
    <a:masterClrMapping/>
  </p:clrMapOvr>
  <p:transition spd="slow" advTm="40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 xmlns:a16="http://schemas.microsoft.com/office/drawing/2014/main" id="{AF5CF8BF-0650-496C-BC82-50956A304AE7}"/>
              </a:ext>
            </a:extLst>
          </p:cNvPr>
          <p:cNvSpPr txBox="1"/>
          <p:nvPr/>
        </p:nvSpPr>
        <p:spPr>
          <a:xfrm>
            <a:off x="998620" y="223316"/>
            <a:ext cx="7339263" cy="1877437"/>
          </a:xfrm>
          <a:prstGeom prst="rect">
            <a:avLst/>
          </a:prstGeom>
          <a:noFill/>
        </p:spPr>
        <p:txBody>
          <a:bodyPr wrap="square">
            <a:spAutoFit/>
          </a:bodyPr>
          <a:lstStyle/>
          <a:p>
            <a:r>
              <a:rPr lang="en-US" sz="2000" b="1" dirty="0"/>
              <a:t>                        Preventing Health Insurance Fraud</a:t>
            </a:r>
          </a:p>
          <a:p>
            <a:endParaRPr lang="en-US" sz="1600" b="1" dirty="0"/>
          </a:p>
          <a:p>
            <a:pPr>
              <a:buFont typeface="Arial" panose="020B0604020202020204" pitchFamily="34" charset="0"/>
              <a:buChar char="•"/>
            </a:pPr>
            <a:r>
              <a:rPr lang="en-US" sz="1600" dirty="0"/>
              <a:t>Fraud increases premiums and reduces benefits for everyone.</a:t>
            </a:r>
          </a:p>
          <a:p>
            <a:pPr>
              <a:buFont typeface="Arial" panose="020B0604020202020204" pitchFamily="34" charset="0"/>
              <a:buChar char="•"/>
            </a:pPr>
            <a:r>
              <a:rPr lang="en-US" sz="1600" dirty="0"/>
              <a:t>Be aware of common fraud types (false claims, identity misuse, inflated bills).</a:t>
            </a:r>
          </a:p>
          <a:p>
            <a:pPr>
              <a:buFont typeface="Arial" panose="020B0604020202020204" pitchFamily="34" charset="0"/>
              <a:buChar char="•"/>
            </a:pPr>
            <a:r>
              <a:rPr lang="en-US" sz="1600" dirty="0"/>
              <a:t>Verify medical bills and claim documents.</a:t>
            </a:r>
          </a:p>
          <a:p>
            <a:pPr>
              <a:buFont typeface="Arial" panose="020B0604020202020204" pitchFamily="34" charset="0"/>
              <a:buChar char="•"/>
            </a:pPr>
            <a:r>
              <a:rPr lang="en-US" sz="1600" dirty="0"/>
              <a:t>Share policy details only with trusted parties.</a:t>
            </a:r>
          </a:p>
          <a:p>
            <a:pPr>
              <a:buFont typeface="Arial" panose="020B0604020202020204" pitchFamily="34" charset="0"/>
              <a:buChar char="•"/>
            </a:pPr>
            <a:r>
              <a:rPr lang="en-US" sz="1600" dirty="0"/>
              <a:t>Report suspicious activity to the insurance company or authorities.</a:t>
            </a:r>
          </a:p>
        </p:txBody>
      </p:sp>
      <p:sp>
        <p:nvSpPr>
          <p:cNvPr id="14" name="TextBox 13">
            <a:extLst>
              <a:ext uri="{FF2B5EF4-FFF2-40B4-BE49-F238E27FC236}">
                <a16:creationId xmlns="" xmlns:a16="http://schemas.microsoft.com/office/drawing/2014/main" id="{6115AB3E-500B-4234-8BD3-5852BD5A7354}"/>
              </a:ext>
            </a:extLst>
          </p:cNvPr>
          <p:cNvSpPr txBox="1"/>
          <p:nvPr/>
        </p:nvSpPr>
        <p:spPr>
          <a:xfrm>
            <a:off x="1082842" y="2538986"/>
            <a:ext cx="7555832" cy="3600986"/>
          </a:xfrm>
          <a:prstGeom prst="rect">
            <a:avLst/>
          </a:prstGeom>
          <a:noFill/>
        </p:spPr>
        <p:txBody>
          <a:bodyPr wrap="square">
            <a:spAutoFit/>
          </a:bodyPr>
          <a:lstStyle/>
          <a:p>
            <a:r>
              <a:rPr lang="en-US" b="1" dirty="0"/>
              <a:t>                            </a:t>
            </a:r>
            <a:r>
              <a:rPr lang="en-US" sz="2000" b="1" dirty="0"/>
              <a:t>Future Trends in Health Insurance</a:t>
            </a:r>
          </a:p>
          <a:p>
            <a:endParaRPr lang="en-US" sz="1600" b="1" dirty="0"/>
          </a:p>
          <a:p>
            <a:r>
              <a:rPr lang="en-US" sz="1600" b="1" dirty="0"/>
              <a:t>1 AI (Artificial Intelligence)</a:t>
            </a:r>
          </a:p>
          <a:p>
            <a:endParaRPr lang="en-US" sz="1600" dirty="0"/>
          </a:p>
          <a:p>
            <a:pPr>
              <a:buFont typeface="Arial" panose="020B0604020202020204" pitchFamily="34" charset="0"/>
              <a:buChar char="•"/>
            </a:pPr>
            <a:r>
              <a:rPr lang="en-US" sz="1600" dirty="0"/>
              <a:t>Automates claims processing.</a:t>
            </a:r>
          </a:p>
          <a:p>
            <a:pPr>
              <a:buFont typeface="Arial" panose="020B0604020202020204" pitchFamily="34" charset="0"/>
              <a:buChar char="•"/>
            </a:pPr>
            <a:r>
              <a:rPr lang="en-US" sz="1600" dirty="0"/>
              <a:t>Helps in fraud detection.</a:t>
            </a:r>
          </a:p>
          <a:p>
            <a:pPr>
              <a:buFont typeface="Arial" panose="020B0604020202020204" pitchFamily="34" charset="0"/>
              <a:buChar char="•"/>
            </a:pPr>
            <a:r>
              <a:rPr lang="en-US" sz="1600" dirty="0"/>
              <a:t>Enables personalized health insurance plans.</a:t>
            </a:r>
          </a:p>
          <a:p>
            <a:endParaRPr lang="en-US" sz="1600" b="1" dirty="0"/>
          </a:p>
          <a:p>
            <a:r>
              <a:rPr lang="en-US" sz="1600" b="1" dirty="0"/>
              <a:t>2 Wearable Devices</a:t>
            </a:r>
          </a:p>
          <a:p>
            <a:endParaRPr lang="en-US" sz="1600" dirty="0"/>
          </a:p>
          <a:p>
            <a:pPr>
              <a:buFont typeface="Arial" panose="020B0604020202020204" pitchFamily="34" charset="0"/>
              <a:buChar char="•"/>
            </a:pPr>
            <a:r>
              <a:rPr lang="en-US" sz="1600" dirty="0"/>
              <a:t>Track real-time health data (steps, heart rate, sleep, etc.).</a:t>
            </a:r>
          </a:p>
          <a:p>
            <a:pPr>
              <a:buFont typeface="Arial" panose="020B0604020202020204" pitchFamily="34" charset="0"/>
              <a:buChar char="•"/>
            </a:pPr>
            <a:r>
              <a:rPr lang="en-US" sz="1600" dirty="0"/>
              <a:t>Promote wellness and preventive care.</a:t>
            </a:r>
          </a:p>
          <a:p>
            <a:pPr>
              <a:buFont typeface="Arial" panose="020B0604020202020204" pitchFamily="34" charset="0"/>
              <a:buChar char="•"/>
            </a:pPr>
            <a:r>
              <a:rPr lang="en-US" sz="1600" dirty="0"/>
              <a:t>Help design customized health plans.</a:t>
            </a:r>
          </a:p>
          <a:p>
            <a:pPr>
              <a:buFont typeface="Arial" panose="020B0604020202020204" pitchFamily="34" charset="0"/>
              <a:buChar char="•"/>
            </a:pPr>
            <a:r>
              <a:rPr lang="en-US" sz="1600" dirty="0"/>
              <a:t>Encourage healthy lifestyle through rewards programs.</a:t>
            </a:r>
          </a:p>
        </p:txBody>
      </p:sp>
      <p:sp>
        <p:nvSpPr>
          <p:cNvPr id="4" name="Rounded Rectangle 1">
            <a:extLst>
              <a:ext uri="{FF2B5EF4-FFF2-40B4-BE49-F238E27FC236}">
                <a16:creationId xmlns="" xmlns:a16="http://schemas.microsoft.com/office/drawing/2014/main" id="{E0FE2ED4-A8D4-4977-91E1-61F00F9C36DB}"/>
              </a:ext>
            </a:extLst>
          </p:cNvPr>
          <p:cNvSpPr/>
          <p:nvPr/>
        </p:nvSpPr>
        <p:spPr>
          <a:xfrm>
            <a:off x="6636678" y="2526132"/>
            <a:ext cx="1494797" cy="2022140"/>
          </a:xfrm>
          <a:custGeom>
            <a:avLst/>
            <a:gdLst/>
            <a:ahLst/>
            <a:cxnLst/>
            <a:rect l="0" t="0" r="0" b="0"/>
            <a:pathLst>
              <a:path w="1494797" h="2022140">
                <a:moveTo>
                  <a:pt x="1494797" y="1637933"/>
                </a:moveTo>
                <a:cubicBezTo>
                  <a:pt x="1494797" y="1680650"/>
                  <a:pt x="1469341" y="1719248"/>
                  <a:pt x="1430085" y="1736073"/>
                </a:cubicBezTo>
                <a:lnTo>
                  <a:pt x="789457" y="2010627"/>
                </a:lnTo>
                <a:cubicBezTo>
                  <a:pt x="762604" y="2022140"/>
                  <a:pt x="732201" y="2022140"/>
                  <a:pt x="705339" y="2010627"/>
                </a:cubicBezTo>
                <a:lnTo>
                  <a:pt x="64712" y="1736073"/>
                </a:lnTo>
                <a:cubicBezTo>
                  <a:pt x="25456" y="1719248"/>
                  <a:pt x="0" y="1680650"/>
                  <a:pt x="0" y="1637933"/>
                </a:cubicBezTo>
                <a:lnTo>
                  <a:pt x="0" y="106771"/>
                </a:lnTo>
                <a:cubicBezTo>
                  <a:pt x="0" y="47806"/>
                  <a:pt x="47806" y="0"/>
                  <a:pt x="106771" y="0"/>
                </a:cubicBezTo>
                <a:lnTo>
                  <a:pt x="1388026" y="0"/>
                </a:lnTo>
                <a:cubicBezTo>
                  <a:pt x="1446990" y="0"/>
                  <a:pt x="1494797" y="47806"/>
                  <a:pt x="1494797" y="106771"/>
                </a:cubicBezTo>
                <a:lnTo>
                  <a:pt x="1494797" y="1637933"/>
                </a:lnTo>
              </a:path>
            </a:pathLst>
          </a:custGeom>
          <a:solidFill>
            <a:srgbClr val="E0CB15"/>
          </a:solidFill>
          <a:ln>
            <a:noFill/>
          </a:ln>
        </p:spPr>
        <p:txBody>
          <a:bodyPr rtlCol="0" anchor="ctr"/>
          <a:lstStyle/>
          <a:p>
            <a:pPr algn="ctr"/>
            <a:endParaRPr/>
          </a:p>
        </p:txBody>
      </p:sp>
      <p:sp>
        <p:nvSpPr>
          <p:cNvPr id="5" name="Rounded Rectangle 2">
            <a:extLst>
              <a:ext uri="{FF2B5EF4-FFF2-40B4-BE49-F238E27FC236}">
                <a16:creationId xmlns="" xmlns:a16="http://schemas.microsoft.com/office/drawing/2014/main" id="{0F3D421D-0CB4-479A-AD5E-9F27137F93EF}"/>
              </a:ext>
            </a:extLst>
          </p:cNvPr>
          <p:cNvSpPr/>
          <p:nvPr/>
        </p:nvSpPr>
        <p:spPr>
          <a:xfrm>
            <a:off x="6636678" y="2526132"/>
            <a:ext cx="1494797" cy="2022139"/>
          </a:xfrm>
          <a:custGeom>
            <a:avLst/>
            <a:gdLst/>
            <a:ahLst/>
            <a:cxnLst/>
            <a:rect l="0" t="0" r="0" b="0"/>
            <a:pathLst>
              <a:path w="1494797" h="2022139">
                <a:moveTo>
                  <a:pt x="1494797" y="106771"/>
                </a:moveTo>
                <a:cubicBezTo>
                  <a:pt x="1494797" y="47803"/>
                  <a:pt x="1446994" y="0"/>
                  <a:pt x="1388026" y="0"/>
                </a:cubicBezTo>
                <a:lnTo>
                  <a:pt x="106771" y="0"/>
                </a:lnTo>
                <a:cubicBezTo>
                  <a:pt x="47803" y="0"/>
                  <a:pt x="0" y="47803"/>
                  <a:pt x="0" y="106771"/>
                </a:cubicBezTo>
                <a:moveTo>
                  <a:pt x="1494797" y="1601566"/>
                </a:moveTo>
                <a:lnTo>
                  <a:pt x="1494797" y="106771"/>
                </a:lnTo>
                <a:moveTo>
                  <a:pt x="0" y="1601566"/>
                </a:moveTo>
                <a:lnTo>
                  <a:pt x="0" y="106771"/>
                </a:lnTo>
                <a:moveTo>
                  <a:pt x="1494797" y="1601568"/>
                </a:moveTo>
                <a:lnTo>
                  <a:pt x="1494797" y="1637935"/>
                </a:lnTo>
                <a:cubicBezTo>
                  <a:pt x="1494797" y="1680647"/>
                  <a:pt x="1469343" y="1719248"/>
                  <a:pt x="1430085" y="1736073"/>
                </a:cubicBezTo>
                <a:lnTo>
                  <a:pt x="789457" y="2010628"/>
                </a:lnTo>
                <a:cubicBezTo>
                  <a:pt x="762600" y="2022139"/>
                  <a:pt x="732198" y="2022139"/>
                  <a:pt x="705339" y="2010628"/>
                </a:cubicBezTo>
                <a:lnTo>
                  <a:pt x="64712" y="1736073"/>
                </a:lnTo>
                <a:cubicBezTo>
                  <a:pt x="25454" y="1719248"/>
                  <a:pt x="0" y="1680647"/>
                  <a:pt x="0" y="1637935"/>
                </a:cubicBezTo>
                <a:lnTo>
                  <a:pt x="0" y="1601568"/>
                </a:lnTo>
              </a:path>
            </a:pathLst>
          </a:custGeom>
          <a:noFill/>
          <a:ln w="13346">
            <a:solidFill>
              <a:srgbClr val="FFFFFF"/>
            </a:solidFill>
          </a:ln>
        </p:spPr>
        <p:txBody>
          <a:bodyPr rtlCol="0" anchor="ctr"/>
          <a:lstStyle/>
          <a:p>
            <a:pPr algn="ctr"/>
            <a:endParaRPr/>
          </a:p>
        </p:txBody>
      </p:sp>
      <p:sp>
        <p:nvSpPr>
          <p:cNvPr id="6" name="Rounded Rectangle 3">
            <a:extLst>
              <a:ext uri="{FF2B5EF4-FFF2-40B4-BE49-F238E27FC236}">
                <a16:creationId xmlns="" xmlns:a16="http://schemas.microsoft.com/office/drawing/2014/main" id="{003E6EA9-F176-459B-84BB-5AED0B55D5B8}"/>
              </a:ext>
            </a:extLst>
          </p:cNvPr>
          <p:cNvSpPr/>
          <p:nvPr/>
        </p:nvSpPr>
        <p:spPr>
          <a:xfrm>
            <a:off x="7490848" y="4418448"/>
            <a:ext cx="1494797" cy="2236172"/>
          </a:xfrm>
          <a:custGeom>
            <a:avLst/>
            <a:gdLst/>
            <a:ahLst/>
            <a:cxnLst/>
            <a:rect l="0" t="0" r="0" b="0"/>
            <a:pathLst>
              <a:path w="1494797" h="2236172">
                <a:moveTo>
                  <a:pt x="0" y="384198"/>
                </a:moveTo>
                <a:cubicBezTo>
                  <a:pt x="0" y="341490"/>
                  <a:pt x="25456" y="302883"/>
                  <a:pt x="64712" y="286057"/>
                </a:cubicBezTo>
                <a:lnTo>
                  <a:pt x="705339" y="11504"/>
                </a:lnTo>
                <a:cubicBezTo>
                  <a:pt x="732192" y="0"/>
                  <a:pt x="762604" y="0"/>
                  <a:pt x="789457" y="11504"/>
                </a:cubicBezTo>
                <a:lnTo>
                  <a:pt x="1430085" y="286057"/>
                </a:lnTo>
                <a:cubicBezTo>
                  <a:pt x="1469341" y="302883"/>
                  <a:pt x="1494797" y="341490"/>
                  <a:pt x="1494797" y="384198"/>
                </a:cubicBezTo>
                <a:lnTo>
                  <a:pt x="1494797" y="2129401"/>
                </a:lnTo>
                <a:cubicBezTo>
                  <a:pt x="1494797" y="2188365"/>
                  <a:pt x="1446990" y="2236172"/>
                  <a:pt x="1388026" y="2236172"/>
                </a:cubicBezTo>
                <a:lnTo>
                  <a:pt x="106771" y="2236172"/>
                </a:lnTo>
                <a:cubicBezTo>
                  <a:pt x="47806" y="2236172"/>
                  <a:pt x="0" y="2188365"/>
                  <a:pt x="0" y="2129401"/>
                </a:cubicBezTo>
                <a:lnTo>
                  <a:pt x="0" y="384198"/>
                </a:lnTo>
              </a:path>
            </a:pathLst>
          </a:custGeom>
          <a:solidFill>
            <a:srgbClr val="DE8431"/>
          </a:solidFill>
          <a:ln>
            <a:noFill/>
          </a:ln>
        </p:spPr>
        <p:txBody>
          <a:bodyPr rtlCol="0" anchor="ctr"/>
          <a:lstStyle/>
          <a:p>
            <a:pPr algn="ctr"/>
            <a:endParaRPr/>
          </a:p>
        </p:txBody>
      </p:sp>
      <p:sp>
        <p:nvSpPr>
          <p:cNvPr id="7" name="Rounded Rectangle 4">
            <a:extLst>
              <a:ext uri="{FF2B5EF4-FFF2-40B4-BE49-F238E27FC236}">
                <a16:creationId xmlns="" xmlns:a16="http://schemas.microsoft.com/office/drawing/2014/main" id="{870556A2-78EC-4645-B643-465CA4A6171C}"/>
              </a:ext>
            </a:extLst>
          </p:cNvPr>
          <p:cNvSpPr/>
          <p:nvPr/>
        </p:nvSpPr>
        <p:spPr>
          <a:xfrm>
            <a:off x="7490848" y="4418445"/>
            <a:ext cx="1494797" cy="2236175"/>
          </a:xfrm>
          <a:custGeom>
            <a:avLst/>
            <a:gdLst/>
            <a:ahLst/>
            <a:cxnLst/>
            <a:rect l="0" t="0" r="0" b="0"/>
            <a:pathLst>
              <a:path w="1494797" h="2236175">
                <a:moveTo>
                  <a:pt x="0" y="2129404"/>
                </a:moveTo>
                <a:cubicBezTo>
                  <a:pt x="0" y="2188372"/>
                  <a:pt x="47803" y="2236175"/>
                  <a:pt x="106771" y="2236175"/>
                </a:cubicBezTo>
                <a:lnTo>
                  <a:pt x="1388026" y="2236175"/>
                </a:lnTo>
                <a:cubicBezTo>
                  <a:pt x="1446994" y="2236175"/>
                  <a:pt x="1494797" y="2188372"/>
                  <a:pt x="1494797" y="2129404"/>
                </a:cubicBezTo>
                <a:moveTo>
                  <a:pt x="1494797" y="2129402"/>
                </a:moveTo>
                <a:lnTo>
                  <a:pt x="1494797" y="421064"/>
                </a:lnTo>
                <a:moveTo>
                  <a:pt x="0" y="2129402"/>
                </a:moveTo>
                <a:lnTo>
                  <a:pt x="0" y="421064"/>
                </a:lnTo>
                <a:moveTo>
                  <a:pt x="0" y="420570"/>
                </a:moveTo>
                <a:lnTo>
                  <a:pt x="0" y="384203"/>
                </a:lnTo>
                <a:cubicBezTo>
                  <a:pt x="0" y="341491"/>
                  <a:pt x="25454" y="302889"/>
                  <a:pt x="64712" y="286065"/>
                </a:cubicBezTo>
                <a:lnTo>
                  <a:pt x="705339" y="11510"/>
                </a:lnTo>
                <a:cubicBezTo>
                  <a:pt x="732197" y="0"/>
                  <a:pt x="762600" y="0"/>
                  <a:pt x="789457" y="11510"/>
                </a:cubicBezTo>
                <a:lnTo>
                  <a:pt x="1430085" y="286065"/>
                </a:lnTo>
                <a:cubicBezTo>
                  <a:pt x="1469343" y="302889"/>
                  <a:pt x="1494797" y="341491"/>
                  <a:pt x="1494797" y="384203"/>
                </a:cubicBezTo>
                <a:lnTo>
                  <a:pt x="1494797" y="420570"/>
                </a:lnTo>
              </a:path>
            </a:pathLst>
          </a:custGeom>
          <a:noFill/>
          <a:ln w="13346">
            <a:solidFill>
              <a:srgbClr val="FFFFFF"/>
            </a:solidFill>
          </a:ln>
        </p:spPr>
        <p:txBody>
          <a:bodyPr rtlCol="0" anchor="ctr"/>
          <a:lstStyle/>
          <a:p>
            <a:pPr algn="ctr"/>
            <a:endParaRPr/>
          </a:p>
        </p:txBody>
      </p:sp>
      <p:sp>
        <p:nvSpPr>
          <p:cNvPr id="9" name="TextBox 8">
            <a:extLst>
              <a:ext uri="{FF2B5EF4-FFF2-40B4-BE49-F238E27FC236}">
                <a16:creationId xmlns="" xmlns:a16="http://schemas.microsoft.com/office/drawing/2014/main" id="{DBABF736-F556-4A3B-AAF6-CDC568931B9F}"/>
              </a:ext>
            </a:extLst>
          </p:cNvPr>
          <p:cNvSpPr txBox="1"/>
          <p:nvPr/>
        </p:nvSpPr>
        <p:spPr>
          <a:xfrm>
            <a:off x="6777171" y="2650699"/>
            <a:ext cx="1213829" cy="261589"/>
          </a:xfrm>
          <a:prstGeom prst="rect">
            <a:avLst/>
          </a:prstGeom>
          <a:noFill/>
          <a:ln>
            <a:noFill/>
          </a:ln>
        </p:spPr>
        <p:txBody>
          <a:bodyPr wrap="none" lIns="0" tIns="0" rIns="0" bIns="0" anchor="t">
            <a:spAutoFit/>
          </a:bodyPr>
          <a:lstStyle/>
          <a:p>
            <a:pPr algn="ctr"/>
            <a:r>
              <a:rPr sz="1300" b="1">
                <a:solidFill>
                  <a:srgbClr val="FFFFFF"/>
                </a:solidFill>
                <a:latin typeface="Roboto"/>
              </a:rPr>
              <a:t>AI Applications</a:t>
            </a:r>
          </a:p>
        </p:txBody>
      </p:sp>
      <p:sp>
        <p:nvSpPr>
          <p:cNvPr id="10" name="TextBox 9">
            <a:extLst>
              <a:ext uri="{FF2B5EF4-FFF2-40B4-BE49-F238E27FC236}">
                <a16:creationId xmlns="" xmlns:a16="http://schemas.microsoft.com/office/drawing/2014/main" id="{EAA39EA1-F8C9-4CC9-A333-2F0124F1FCE8}"/>
              </a:ext>
            </a:extLst>
          </p:cNvPr>
          <p:cNvSpPr txBox="1"/>
          <p:nvPr/>
        </p:nvSpPr>
        <p:spPr>
          <a:xfrm>
            <a:off x="6812583" y="2966564"/>
            <a:ext cx="1142924" cy="747398"/>
          </a:xfrm>
          <a:prstGeom prst="rect">
            <a:avLst/>
          </a:prstGeom>
          <a:noFill/>
          <a:ln>
            <a:noFill/>
          </a:ln>
        </p:spPr>
        <p:txBody>
          <a:bodyPr wrap="none" lIns="0" tIns="0" rIns="0" bIns="0" anchor="t">
            <a:spAutoFit/>
          </a:bodyPr>
          <a:lstStyle/>
          <a:p>
            <a:pPr algn="ctr"/>
            <a:r>
              <a:rPr sz="1000" b="0" dirty="0">
                <a:solidFill>
                  <a:srgbClr val="FFFFFF"/>
                </a:solidFill>
                <a:latin typeface="Roboto"/>
              </a:rPr>
              <a:t>AI automates
claims, detects
fraud, and
personalizes plans.</a:t>
            </a:r>
          </a:p>
        </p:txBody>
      </p:sp>
      <p:sp>
        <p:nvSpPr>
          <p:cNvPr id="11" name="TextBox 10">
            <a:extLst>
              <a:ext uri="{FF2B5EF4-FFF2-40B4-BE49-F238E27FC236}">
                <a16:creationId xmlns="" xmlns:a16="http://schemas.microsoft.com/office/drawing/2014/main" id="{9B84076B-4090-488F-BFC0-536D211F915F}"/>
              </a:ext>
            </a:extLst>
          </p:cNvPr>
          <p:cNvSpPr txBox="1"/>
          <p:nvPr/>
        </p:nvSpPr>
        <p:spPr>
          <a:xfrm>
            <a:off x="7843460" y="5391161"/>
            <a:ext cx="789520" cy="523179"/>
          </a:xfrm>
          <a:prstGeom prst="rect">
            <a:avLst/>
          </a:prstGeom>
          <a:noFill/>
          <a:ln>
            <a:noFill/>
          </a:ln>
        </p:spPr>
        <p:txBody>
          <a:bodyPr wrap="none" lIns="0" tIns="0" rIns="0" bIns="0" anchor="t">
            <a:spAutoFit/>
          </a:bodyPr>
          <a:lstStyle/>
          <a:p>
            <a:pPr algn="ctr"/>
            <a:r>
              <a:rPr sz="1300" b="1">
                <a:solidFill>
                  <a:srgbClr val="FFFFFF"/>
                </a:solidFill>
                <a:latin typeface="Roboto"/>
              </a:rPr>
              <a:t>Wearable
Devices</a:t>
            </a:r>
          </a:p>
        </p:txBody>
      </p:sp>
      <p:sp>
        <p:nvSpPr>
          <p:cNvPr id="13" name="TextBox 12">
            <a:extLst>
              <a:ext uri="{FF2B5EF4-FFF2-40B4-BE49-F238E27FC236}">
                <a16:creationId xmlns="" xmlns:a16="http://schemas.microsoft.com/office/drawing/2014/main" id="{460BF488-30EC-47C6-8C21-0B1944B1305F}"/>
              </a:ext>
            </a:extLst>
          </p:cNvPr>
          <p:cNvSpPr txBox="1"/>
          <p:nvPr/>
        </p:nvSpPr>
        <p:spPr>
          <a:xfrm>
            <a:off x="7615236" y="5920569"/>
            <a:ext cx="1246082" cy="747398"/>
          </a:xfrm>
          <a:prstGeom prst="rect">
            <a:avLst/>
          </a:prstGeom>
          <a:noFill/>
          <a:ln>
            <a:noFill/>
          </a:ln>
        </p:spPr>
        <p:txBody>
          <a:bodyPr wrap="none" lIns="0" tIns="0" rIns="0" bIns="0" anchor="t">
            <a:spAutoFit/>
          </a:bodyPr>
          <a:lstStyle/>
          <a:p>
            <a:pPr algn="ctr"/>
            <a:r>
              <a:rPr sz="1000" b="0" dirty="0">
                <a:solidFill>
                  <a:srgbClr val="FFFFFF"/>
                </a:solidFill>
                <a:latin typeface="Roboto"/>
              </a:rPr>
              <a:t>Wearables track
health data, enabling
personalized plans
and programs.</a:t>
            </a:r>
          </a:p>
        </p:txBody>
      </p:sp>
      <p:sp>
        <p:nvSpPr>
          <p:cNvPr id="15" name="Rounded Rectangle 10">
            <a:extLst>
              <a:ext uri="{FF2B5EF4-FFF2-40B4-BE49-F238E27FC236}">
                <a16:creationId xmlns="" xmlns:a16="http://schemas.microsoft.com/office/drawing/2014/main" id="{46BEFD70-1A97-4626-AE83-68935E82617B}"/>
              </a:ext>
            </a:extLst>
          </p:cNvPr>
          <p:cNvSpPr/>
          <p:nvPr/>
        </p:nvSpPr>
        <p:spPr>
          <a:xfrm>
            <a:off x="7117148" y="3700616"/>
            <a:ext cx="512326" cy="512308"/>
          </a:xfrm>
          <a:custGeom>
            <a:avLst/>
            <a:gdLst/>
            <a:ahLst/>
            <a:cxnLst/>
            <a:rect l="0" t="0" r="0" b="0"/>
            <a:pathLst>
              <a:path w="512326" h="512308">
                <a:moveTo>
                  <a:pt x="21548" y="144239"/>
                </a:moveTo>
                <a:lnTo>
                  <a:pt x="21548" y="43792"/>
                </a:lnTo>
                <a:cubicBezTo>
                  <a:pt x="21548" y="31507"/>
                  <a:pt x="31507" y="21548"/>
                  <a:pt x="43792" y="21548"/>
                </a:cubicBezTo>
                <a:lnTo>
                  <a:pt x="144243" y="21548"/>
                </a:lnTo>
                <a:moveTo>
                  <a:pt x="21548" y="389619"/>
                </a:moveTo>
                <a:lnTo>
                  <a:pt x="21548" y="490064"/>
                </a:lnTo>
                <a:cubicBezTo>
                  <a:pt x="21548" y="502349"/>
                  <a:pt x="31507" y="512308"/>
                  <a:pt x="43792" y="512308"/>
                </a:cubicBezTo>
                <a:lnTo>
                  <a:pt x="144243" y="512308"/>
                </a:lnTo>
                <a:moveTo>
                  <a:pt x="512326" y="144239"/>
                </a:moveTo>
                <a:lnTo>
                  <a:pt x="512326" y="43792"/>
                </a:lnTo>
                <a:cubicBezTo>
                  <a:pt x="512326" y="31507"/>
                  <a:pt x="502367" y="21548"/>
                  <a:pt x="490082" y="21548"/>
                </a:cubicBezTo>
                <a:lnTo>
                  <a:pt x="389630" y="21548"/>
                </a:lnTo>
                <a:moveTo>
                  <a:pt x="512326" y="389619"/>
                </a:moveTo>
                <a:lnTo>
                  <a:pt x="512326" y="490064"/>
                </a:lnTo>
                <a:cubicBezTo>
                  <a:pt x="512326" y="502349"/>
                  <a:pt x="502367" y="512308"/>
                  <a:pt x="490082" y="512308"/>
                </a:cubicBezTo>
                <a:lnTo>
                  <a:pt x="389630" y="512308"/>
                </a:lnTo>
                <a:moveTo>
                  <a:pt x="189630" y="180376"/>
                </a:moveTo>
                <a:lnTo>
                  <a:pt x="344248" y="180376"/>
                </a:lnTo>
                <a:cubicBezTo>
                  <a:pt x="344248" y="180376"/>
                  <a:pt x="399858" y="180376"/>
                  <a:pt x="399858" y="235986"/>
                </a:cubicBezTo>
                <a:lnTo>
                  <a:pt x="399858" y="331569"/>
                </a:lnTo>
                <a:cubicBezTo>
                  <a:pt x="399858" y="331569"/>
                  <a:pt x="399858" y="387179"/>
                  <a:pt x="344248" y="387179"/>
                </a:cubicBezTo>
                <a:lnTo>
                  <a:pt x="189630" y="387179"/>
                </a:lnTo>
                <a:cubicBezTo>
                  <a:pt x="189630" y="387179"/>
                  <a:pt x="134020" y="387179"/>
                  <a:pt x="134020" y="331569"/>
                </a:cubicBezTo>
                <a:lnTo>
                  <a:pt x="134020" y="235986"/>
                </a:lnTo>
                <a:cubicBezTo>
                  <a:pt x="134020" y="235986"/>
                  <a:pt x="134020" y="180376"/>
                  <a:pt x="189630" y="180376"/>
                </a:cubicBezTo>
                <a:moveTo>
                  <a:pt x="0" y="0"/>
                </a:moveTo>
                <a:moveTo>
                  <a:pt x="266928" y="98813"/>
                </a:moveTo>
                <a:lnTo>
                  <a:pt x="266928" y="180385"/>
                </a:lnTo>
                <a:moveTo>
                  <a:pt x="0" y="0"/>
                </a:moveTo>
                <a:moveTo>
                  <a:pt x="219268" y="258382"/>
                </a:moveTo>
                <a:lnTo>
                  <a:pt x="219268" y="309242"/>
                </a:lnTo>
                <a:moveTo>
                  <a:pt x="0" y="0"/>
                </a:moveTo>
                <a:moveTo>
                  <a:pt x="314630" y="258382"/>
                </a:moveTo>
                <a:lnTo>
                  <a:pt x="314630" y="309242"/>
                </a:lnTo>
              </a:path>
            </a:pathLst>
          </a:custGeom>
          <a:noFill/>
          <a:ln w="13346">
            <a:solidFill>
              <a:srgbClr val="FFFFFF"/>
            </a:solidFill>
          </a:ln>
        </p:spPr>
        <p:txBody>
          <a:bodyPr rtlCol="0" anchor="ctr"/>
          <a:lstStyle/>
          <a:p>
            <a:pPr algn="ctr"/>
            <a:endParaRPr/>
          </a:p>
        </p:txBody>
      </p:sp>
      <p:sp>
        <p:nvSpPr>
          <p:cNvPr id="16" name="Rounded Rectangle 11">
            <a:extLst>
              <a:ext uri="{FF2B5EF4-FFF2-40B4-BE49-F238E27FC236}">
                <a16:creationId xmlns="" xmlns:a16="http://schemas.microsoft.com/office/drawing/2014/main" id="{823B93A6-0F6F-461F-9709-8B70DE5DE99A}"/>
              </a:ext>
            </a:extLst>
          </p:cNvPr>
          <p:cNvSpPr/>
          <p:nvPr/>
        </p:nvSpPr>
        <p:spPr>
          <a:xfrm>
            <a:off x="7978381" y="4742116"/>
            <a:ext cx="520657" cy="512889"/>
          </a:xfrm>
          <a:custGeom>
            <a:avLst/>
            <a:gdLst/>
            <a:ahLst/>
            <a:cxnLst/>
            <a:rect l="0" t="0" r="0" b="0"/>
            <a:pathLst>
              <a:path w="520657" h="512889">
                <a:moveTo>
                  <a:pt x="50504" y="149066"/>
                </a:moveTo>
                <a:lnTo>
                  <a:pt x="243204" y="149066"/>
                </a:lnTo>
                <a:moveTo>
                  <a:pt x="50504" y="245404"/>
                </a:moveTo>
                <a:lnTo>
                  <a:pt x="102355" y="245404"/>
                </a:lnTo>
                <a:cubicBezTo>
                  <a:pt x="106003" y="245396"/>
                  <a:pt x="109338" y="243342"/>
                  <a:pt x="110986" y="240088"/>
                </a:cubicBezTo>
                <a:lnTo>
                  <a:pt x="126401" y="209325"/>
                </a:lnTo>
                <a:cubicBezTo>
                  <a:pt x="128179" y="205824"/>
                  <a:pt x="131904" y="203753"/>
                  <a:pt x="135816" y="204090"/>
                </a:cubicBezTo>
                <a:cubicBezTo>
                  <a:pt x="139728" y="204427"/>
                  <a:pt x="143044" y="207106"/>
                  <a:pt x="144196" y="210859"/>
                </a:cubicBezTo>
                <a:lnTo>
                  <a:pt x="160635" y="265669"/>
                </a:lnTo>
                <a:cubicBezTo>
                  <a:pt x="161682" y="269148"/>
                  <a:pt x="164598" y="271741"/>
                  <a:pt x="168175" y="272376"/>
                </a:cubicBezTo>
                <a:cubicBezTo>
                  <a:pt x="171752" y="273010"/>
                  <a:pt x="175382" y="271578"/>
                  <a:pt x="177562" y="268672"/>
                </a:cubicBezTo>
                <a:lnTo>
                  <a:pt x="192110" y="249275"/>
                </a:lnTo>
                <a:cubicBezTo>
                  <a:pt x="193930" y="246842"/>
                  <a:pt x="196790" y="245408"/>
                  <a:pt x="199828" y="245404"/>
                </a:cubicBezTo>
                <a:lnTo>
                  <a:pt x="243182" y="245404"/>
                </a:lnTo>
                <a:moveTo>
                  <a:pt x="243204" y="312848"/>
                </a:moveTo>
                <a:cubicBezTo>
                  <a:pt x="243204" y="318168"/>
                  <a:pt x="238892" y="322480"/>
                  <a:pt x="233573" y="322480"/>
                </a:cubicBezTo>
                <a:lnTo>
                  <a:pt x="60069" y="322480"/>
                </a:lnTo>
                <a:cubicBezTo>
                  <a:pt x="54750" y="322480"/>
                  <a:pt x="50438" y="318168"/>
                  <a:pt x="50438" y="312848"/>
                </a:cubicBezTo>
                <a:lnTo>
                  <a:pt x="50438" y="149066"/>
                </a:lnTo>
                <a:cubicBezTo>
                  <a:pt x="51237" y="96424"/>
                  <a:pt x="94140" y="54168"/>
                  <a:pt x="146788" y="54168"/>
                </a:cubicBezTo>
                <a:cubicBezTo>
                  <a:pt x="199436" y="54168"/>
                  <a:pt x="242338" y="96424"/>
                  <a:pt x="243138" y="149066"/>
                </a:cubicBezTo>
                <a:close/>
                <a:moveTo>
                  <a:pt x="115279" y="322480"/>
                </a:moveTo>
                <a:lnTo>
                  <a:pt x="115279" y="453408"/>
                </a:lnTo>
                <a:lnTo>
                  <a:pt x="63095" y="390613"/>
                </a:lnTo>
                <a:cubicBezTo>
                  <a:pt x="51312" y="376446"/>
                  <a:pt x="30276" y="374510"/>
                  <a:pt x="16107" y="386290"/>
                </a:cubicBezTo>
                <a:cubicBezTo>
                  <a:pt x="1938" y="398071"/>
                  <a:pt x="0" y="419106"/>
                  <a:pt x="11778" y="433277"/>
                </a:cubicBezTo>
                <a:lnTo>
                  <a:pt x="77954" y="512889"/>
                </a:lnTo>
                <a:moveTo>
                  <a:pt x="337719" y="512866"/>
                </a:moveTo>
                <a:lnTo>
                  <a:pt x="337719" y="468378"/>
                </a:lnTo>
                <a:cubicBezTo>
                  <a:pt x="337719" y="419238"/>
                  <a:pt x="297883" y="379402"/>
                  <a:pt x="248743" y="379402"/>
                </a:cubicBezTo>
                <a:lnTo>
                  <a:pt x="182011" y="379402"/>
                </a:lnTo>
                <a:lnTo>
                  <a:pt x="182011" y="322480"/>
                </a:lnTo>
                <a:moveTo>
                  <a:pt x="401915" y="201294"/>
                </a:moveTo>
                <a:lnTo>
                  <a:pt x="304954" y="100151"/>
                </a:lnTo>
                <a:cubicBezTo>
                  <a:pt x="287488" y="82693"/>
                  <a:pt x="283159" y="56015"/>
                  <a:pt x="294210" y="33931"/>
                </a:cubicBezTo>
                <a:lnTo>
                  <a:pt x="294210" y="33931"/>
                </a:lnTo>
                <a:cubicBezTo>
                  <a:pt x="302451" y="17433"/>
                  <a:pt x="318124" y="5906"/>
                  <a:pt x="336327" y="2953"/>
                </a:cubicBezTo>
                <a:cubicBezTo>
                  <a:pt x="354531" y="0"/>
                  <a:pt x="373044" y="5981"/>
                  <a:pt x="386078" y="19027"/>
                </a:cubicBezTo>
                <a:lnTo>
                  <a:pt x="401915" y="34843"/>
                </a:lnTo>
                <a:lnTo>
                  <a:pt x="417753" y="19027"/>
                </a:lnTo>
                <a:cubicBezTo>
                  <a:pt x="430787" y="5981"/>
                  <a:pt x="449300" y="0"/>
                  <a:pt x="467504" y="2953"/>
                </a:cubicBezTo>
                <a:cubicBezTo>
                  <a:pt x="485707" y="5906"/>
                  <a:pt x="501379" y="17433"/>
                  <a:pt x="509621" y="33931"/>
                </a:cubicBezTo>
                <a:lnTo>
                  <a:pt x="509621" y="33931"/>
                </a:lnTo>
                <a:cubicBezTo>
                  <a:pt x="520657" y="56017"/>
                  <a:pt x="516330" y="82687"/>
                  <a:pt x="498877" y="100151"/>
                </a:cubicBezTo>
                <a:close/>
              </a:path>
            </a:pathLst>
          </a:custGeom>
          <a:noFill/>
          <a:ln w="13346">
            <a:solidFill>
              <a:srgbClr val="FFFFFF"/>
            </a:solidFill>
          </a:ln>
        </p:spPr>
        <p:txBody>
          <a:bodyPr rtlCol="0" anchor="ctr"/>
          <a:lstStyle/>
          <a:p>
            <a:pPr algn="ctr"/>
            <a:endParaRPr/>
          </a:p>
        </p:txBody>
      </p:sp>
    </p:spTree>
    <p:extLst>
      <p:ext uri="{BB962C8B-B14F-4D97-AF65-F5344CB8AC3E}">
        <p14:creationId xmlns:p14="http://schemas.microsoft.com/office/powerpoint/2010/main" val="3030169119"/>
      </p:ext>
    </p:extLst>
  </p:cSld>
  <p:clrMapOvr>
    <a:masterClrMapping/>
  </p:clrMapOvr>
  <p:transition spd="slow" advTm="40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9"/>
          </a:xfrm>
        </p:spPr>
        <p:txBody>
          <a:bodyPr>
            <a:normAutofit/>
          </a:bodyPr>
          <a:lstStyle/>
          <a:p>
            <a:r>
              <a:rPr sz="2000" b="1" dirty="0">
                <a:latin typeface="+mn-lt"/>
              </a:rPr>
              <a:t>Conclusion</a:t>
            </a:r>
          </a:p>
        </p:txBody>
      </p:sp>
      <p:sp>
        <p:nvSpPr>
          <p:cNvPr id="3" name="Content Placeholder 2"/>
          <p:cNvSpPr>
            <a:spLocks noGrp="1"/>
          </p:cNvSpPr>
          <p:nvPr>
            <p:ph idx="1"/>
          </p:nvPr>
        </p:nvSpPr>
        <p:spPr>
          <a:xfrm>
            <a:off x="457200" y="914400"/>
            <a:ext cx="8229600" cy="5211763"/>
          </a:xfrm>
        </p:spPr>
        <p:txBody>
          <a:bodyPr>
            <a:normAutofit/>
          </a:bodyPr>
          <a:lstStyle/>
          <a:p>
            <a:pPr>
              <a:buFont typeface="Arial" panose="020B0604020202020204" pitchFamily="34" charset="0"/>
              <a:buChar char="•"/>
            </a:pPr>
            <a:r>
              <a:rPr lang="en-US" sz="1600" dirty="0"/>
              <a:t>Health Insurance protects against unexpected medical costs.</a:t>
            </a:r>
          </a:p>
          <a:p>
            <a:pPr>
              <a:buFont typeface="Arial" panose="020B0604020202020204" pitchFamily="34" charset="0"/>
              <a:buChar char="•"/>
            </a:pPr>
            <a:r>
              <a:rPr lang="en-US" sz="1600" dirty="0"/>
              <a:t>Choose the right type of plan for your needs.</a:t>
            </a:r>
          </a:p>
          <a:p>
            <a:pPr>
              <a:buFont typeface="Arial" panose="020B0604020202020204" pitchFamily="34" charset="0"/>
              <a:buChar char="•"/>
            </a:pPr>
            <a:r>
              <a:rPr lang="en-US" sz="1600" dirty="0"/>
              <a:t>Cashless and reimbursement facilities provide flexibility.</a:t>
            </a:r>
          </a:p>
          <a:p>
            <a:pPr>
              <a:buFont typeface="Arial" panose="020B0604020202020204" pitchFamily="34" charset="0"/>
              <a:buChar char="•"/>
            </a:pPr>
            <a:r>
              <a:rPr lang="en-US" sz="1600" dirty="0"/>
              <a:t>TPA simplifies the process and supports policyholders.</a:t>
            </a:r>
          </a:p>
          <a:p>
            <a:pPr>
              <a:buFont typeface="Arial" panose="020B0604020202020204" pitchFamily="34" charset="0"/>
              <a:buChar char="•"/>
            </a:pPr>
            <a:r>
              <a:rPr lang="en-US" sz="1600" dirty="0"/>
              <a:t>Prevents financial stress during medical emergencies.</a:t>
            </a:r>
          </a:p>
          <a:p>
            <a:pPr>
              <a:buFont typeface="Arial" panose="020B0604020202020204" pitchFamily="34" charset="0"/>
              <a:buChar char="•"/>
            </a:pPr>
            <a:r>
              <a:rPr lang="en-US" sz="1600" dirty="0"/>
              <a:t>Encourages timely treatment and better health outcomes.</a:t>
            </a:r>
          </a:p>
          <a:p>
            <a:pPr>
              <a:buFont typeface="Arial" panose="020B0604020202020204" pitchFamily="34" charset="0"/>
              <a:buChar char="•"/>
            </a:pPr>
            <a:r>
              <a:rPr lang="en-US" sz="1600" dirty="0"/>
              <a:t>Provides peace of mind and security for families.</a:t>
            </a:r>
          </a:p>
          <a:p>
            <a:pPr>
              <a:buFont typeface="Arial" panose="020B0604020202020204" pitchFamily="34" charset="0"/>
              <a:buChar char="•"/>
            </a:pPr>
            <a:r>
              <a:rPr lang="en-US" sz="1600" dirty="0"/>
              <a:t>Covers not only hospitalization but also preventive care.</a:t>
            </a:r>
          </a:p>
          <a:p>
            <a:pPr>
              <a:buFont typeface="Arial" panose="020B0604020202020204" pitchFamily="34" charset="0"/>
              <a:buChar char="•"/>
            </a:pPr>
            <a:r>
              <a:rPr lang="en-US" sz="1600" dirty="0"/>
              <a:t>Helps in managing rising healthcare costs.</a:t>
            </a:r>
          </a:p>
          <a:p>
            <a:pPr>
              <a:buFont typeface="Arial" panose="020B0604020202020204" pitchFamily="34" charset="0"/>
              <a:buChar char="•"/>
            </a:pPr>
            <a:r>
              <a:rPr lang="en-US" sz="1600" dirty="0"/>
              <a:t>Supports wellness through health check-ups and add-on covers.</a:t>
            </a:r>
          </a:p>
          <a:p>
            <a:pPr>
              <a:buFont typeface="Arial" panose="020B0604020202020204" pitchFamily="34" charset="0"/>
              <a:buChar char="•"/>
            </a:pPr>
            <a:r>
              <a:rPr lang="en-US" sz="1600" dirty="0"/>
              <a:t>Group and family floater plans ensure wider protection.</a:t>
            </a:r>
          </a:p>
          <a:p>
            <a:pPr>
              <a:buFont typeface="Arial" panose="020B0604020202020204" pitchFamily="34" charset="0"/>
              <a:buChar char="•"/>
            </a:pPr>
            <a:r>
              <a:rPr lang="en-US" sz="1600" dirty="0"/>
              <a:t>Critical illness cover provides a safety net against major diseases.</a:t>
            </a:r>
          </a:p>
          <a:p>
            <a:pPr>
              <a:buFont typeface="Arial" panose="020B0604020202020204" pitchFamily="34" charset="0"/>
              <a:buChar char="•"/>
            </a:pPr>
            <a:r>
              <a:rPr lang="en-US" sz="1600" dirty="0"/>
              <a:t>Digital services and e-cards improve convenience.</a:t>
            </a:r>
          </a:p>
          <a:p>
            <a:pPr>
              <a:buFont typeface="Arial" panose="020B0604020202020204" pitchFamily="34" charset="0"/>
              <a:buChar char="•"/>
            </a:pPr>
            <a:r>
              <a:rPr lang="en-US" sz="1600" dirty="0"/>
              <a:t>Future trends like AI &amp; wearables will make insurance smarter.</a:t>
            </a:r>
          </a:p>
          <a:p>
            <a:r>
              <a:rPr lang="en-US" sz="1600" dirty="0"/>
              <a:t>👉 </a:t>
            </a:r>
            <a:r>
              <a:rPr lang="en-US" sz="1600" b="1" dirty="0"/>
              <a:t>Invest in Health Insurance today for a healthier and secure tomorrow!</a:t>
            </a:r>
            <a:endParaRPr lang="en-US" sz="1600" dirty="0"/>
          </a:p>
          <a:p>
            <a:endParaRPr dirty="0"/>
          </a:p>
        </p:txBody>
      </p:sp>
    </p:spTree>
  </p:cSld>
  <p:clrMapOvr>
    <a:masterClrMapping/>
  </p:clrMapOvr>
  <p:transition spd="slow" advTm="40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533A4D-4153-4708-BAC2-80F88D5C77E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 xmlns:a16="http://schemas.microsoft.com/office/drawing/2014/main" id="{E7E34617-BB82-47CB-B272-1C5552684E70}"/>
              </a:ext>
            </a:extLst>
          </p:cNvPr>
          <p:cNvPicPr>
            <a:picLocks noGrp="1" noChangeAspect="1"/>
          </p:cNvPicPr>
          <p:nvPr>
            <p:ph idx="1"/>
          </p:nvPr>
        </p:nvPicPr>
        <p:blipFill>
          <a:blip r:embed="rId2"/>
          <a:stretch>
            <a:fillRect/>
          </a:stretch>
        </p:blipFill>
        <p:spPr>
          <a:xfrm>
            <a:off x="0" y="0"/>
            <a:ext cx="9143999" cy="6858000"/>
          </a:xfrm>
        </p:spPr>
      </p:pic>
    </p:spTree>
    <p:extLst>
      <p:ext uri="{BB962C8B-B14F-4D97-AF65-F5344CB8AC3E}">
        <p14:creationId xmlns:p14="http://schemas.microsoft.com/office/powerpoint/2010/main" val="1100198450"/>
      </p:ext>
    </p:extLst>
  </p:cSld>
  <p:clrMapOvr>
    <a:masterClrMapping/>
  </p:clrMapOvr>
  <p:transition spd="slow" advTm="40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1104</Words>
  <Application>Microsoft Office PowerPoint</Application>
  <PresentationFormat>On-screen Show (4:3)</PresentationFormat>
  <Paragraphs>189</Paragraphs>
  <Slides>15</Slides>
  <Notes>1</Notes>
  <HiddenSlides>1</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Health Insurance: Your Shield Against Medical Emergencies</vt:lpstr>
      <vt:lpstr>PowerPoint Presentation</vt:lpstr>
      <vt:lpstr>PowerPoint Presentation</vt:lpstr>
      <vt:lpstr>PowerPoint Presentation</vt:lpstr>
      <vt:lpstr>PowerPoint Presentation</vt:lpstr>
      <vt:lpstr>PowerPoint Presentation</vt:lpstr>
      <vt:lpstr>PowerPoint Presentation</vt:lpstr>
      <vt:lpstr>Government Health Insurance Schemes </vt:lpstr>
      <vt:lpstr> Role of Health Insurance in Financial Planning </vt:lpstr>
      <vt:lpstr>PowerPoint Presentation</vt:lpstr>
      <vt:lpstr>Common Challenges in Health Insurance </vt:lpstr>
      <vt:lpstr>PowerPoint Presentation</vt:lpstr>
      <vt:lpstr>PowerPoint Presentation</vt:lpstr>
      <vt:lpstr>Conclusion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Insurance: Your Shield Against Medical Emergencies</dc:title>
  <dc:subject/>
  <dc:creator>Admin</dc:creator>
  <cp:keywords/>
  <dc:description>generated using python-pptx</dc:description>
  <cp:lastModifiedBy>Vaibhav Durgad</cp:lastModifiedBy>
  <cp:revision>57</cp:revision>
  <dcterms:created xsi:type="dcterms:W3CDTF">2013-01-27T09:14:16Z</dcterms:created>
  <dcterms:modified xsi:type="dcterms:W3CDTF">2025-08-25T04:57:17Z</dcterms:modified>
  <cp:category/>
</cp:coreProperties>
</file>